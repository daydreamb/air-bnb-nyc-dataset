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6858000" cx="12192000"/>
  <p:notesSz cx="6858000" cy="9144000"/>
  <p:embeddedFontLst>
    <p:embeddedFont>
      <p:font typeface="Catamaran"/>
      <p:regular r:id="rId53"/>
      <p:bold r:id="rId54"/>
    </p:embeddedFont>
    <p:embeddedFont>
      <p:font typeface="Roboto"/>
      <p:regular r:id="rId55"/>
      <p:bold r:id="rId56"/>
      <p:italic r:id="rId57"/>
      <p:boldItalic r:id="rId58"/>
    </p:embeddedFont>
    <p:embeddedFont>
      <p:font typeface="Montserrat"/>
      <p:regular r:id="rId59"/>
      <p:bold r:id="rId60"/>
      <p:italic r:id="rId61"/>
      <p:boldItalic r:id="rId62"/>
    </p:embeddedFont>
    <p:embeddedFont>
      <p:font typeface="Advent Pro"/>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7" roundtripDataSignature="AMtx7miVeBIQXCwaRCIlEtOlpjxc90Y3E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Antong Le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boldItalic.fntdata"/><Relationship Id="rId61" Type="http://schemas.openxmlformats.org/officeDocument/2006/relationships/font" Target="fonts/Montserrat-italic.fntdata"/><Relationship Id="rId20" Type="http://schemas.openxmlformats.org/officeDocument/2006/relationships/slide" Target="slides/slide15.xml"/><Relationship Id="rId64" Type="http://schemas.openxmlformats.org/officeDocument/2006/relationships/font" Target="fonts/AdventPro-bold.fntdata"/><Relationship Id="rId63" Type="http://schemas.openxmlformats.org/officeDocument/2006/relationships/font" Target="fonts/AdventPro-regular.fntdata"/><Relationship Id="rId22" Type="http://schemas.openxmlformats.org/officeDocument/2006/relationships/slide" Target="slides/slide17.xml"/><Relationship Id="rId66" Type="http://schemas.openxmlformats.org/officeDocument/2006/relationships/font" Target="fonts/AdventPro-boldItalic.fntdata"/><Relationship Id="rId21" Type="http://schemas.openxmlformats.org/officeDocument/2006/relationships/slide" Target="slides/slide16.xml"/><Relationship Id="rId65" Type="http://schemas.openxmlformats.org/officeDocument/2006/relationships/font" Target="fonts/AdventPro-italic.fntdata"/><Relationship Id="rId24" Type="http://schemas.openxmlformats.org/officeDocument/2006/relationships/slide" Target="slides/slide19.xml"/><Relationship Id="rId23" Type="http://schemas.openxmlformats.org/officeDocument/2006/relationships/slide" Target="slides/slide18.xml"/><Relationship Id="rId67" Type="http://customschemas.google.com/relationships/presentationmetadata" Target="metadata"/><Relationship Id="rId60" Type="http://schemas.openxmlformats.org/officeDocument/2006/relationships/font" Target="fonts/Montserrat-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Catamaran-regular.fntdata"/><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Roboto-regular.fntdata"/><Relationship Id="rId10" Type="http://schemas.openxmlformats.org/officeDocument/2006/relationships/slide" Target="slides/slide5.xml"/><Relationship Id="rId54" Type="http://schemas.openxmlformats.org/officeDocument/2006/relationships/font" Target="fonts/Catamaran-bold.fntdata"/><Relationship Id="rId13" Type="http://schemas.openxmlformats.org/officeDocument/2006/relationships/slide" Target="slides/slide8.xml"/><Relationship Id="rId57" Type="http://schemas.openxmlformats.org/officeDocument/2006/relationships/font" Target="fonts/Roboto-italic.fntdata"/><Relationship Id="rId12" Type="http://schemas.openxmlformats.org/officeDocument/2006/relationships/slide" Target="slides/slide7.xml"/><Relationship Id="rId56" Type="http://schemas.openxmlformats.org/officeDocument/2006/relationships/font" Target="fonts/Roboto-bold.fntdata"/><Relationship Id="rId15" Type="http://schemas.openxmlformats.org/officeDocument/2006/relationships/slide" Target="slides/slide10.xml"/><Relationship Id="rId59" Type="http://schemas.openxmlformats.org/officeDocument/2006/relationships/font" Target="fonts/Montserrat-regular.fntdata"/><Relationship Id="rId14" Type="http://schemas.openxmlformats.org/officeDocument/2006/relationships/slide" Target="slides/slide9.xml"/><Relationship Id="rId58" Type="http://schemas.openxmlformats.org/officeDocument/2006/relationships/font" Target="fonts/Robo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04-30T14:32:18.861">
    <p:pos x="6000" y="0"/>
    <p:text>这一页可以去除</p:text>
    <p:extLst>
      <p:ext uri="{C676402C-5697-4E1C-873F-D02D1690AC5C}">
        <p15:threadingInfo timeZoneBias="0"/>
      </p:ext>
      <p:ext uri="http://customooxmlschemas.google.com/">
        <go:slidesCustomData xmlns:go="http://customooxmlschemas.google.com/" commentPostId="AAABMmZbFVM"/>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 name="Google Shape;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g2c83310895d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 name="Google Shape;33;g2c83310895d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 name="Google Shape;5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c81de69ad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g2c81de69ad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c83310895d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g2c83310895d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c857750e6b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2c857750e6b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c857750e6b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g2c857750e6b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c83310895d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g2c83310895d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9" name="Google Shape;329;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2888a004a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2888a004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2" name="Google Shape;37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c86ab906a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g2c86ab906a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c86ab906a8_7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5" name="Google Shape;395;g2c86ab906a8_7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d0c9c23082_2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2" name="Google Shape;402;g2d0c9c23082_2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D0D0D"/>
              </a:buClr>
              <a:buSzPts val="1200"/>
              <a:buFont typeface="Roboto"/>
              <a:buChar char="●"/>
            </a:pPr>
            <a:r>
              <a:rPr lang="en-US" sz="1200">
                <a:solidFill>
                  <a:srgbClr val="0D0D0D"/>
                </a:solidFill>
                <a:highlight>
                  <a:srgbClr val="FFFFFF"/>
                </a:highlight>
                <a:latin typeface="Roboto"/>
                <a:ea typeface="Roboto"/>
                <a:cs typeface="Roboto"/>
                <a:sym typeface="Roboto"/>
              </a:rPr>
              <a:t>Reviews and Reviews per Month: There is a strong positive correlation (0.59) between </a:t>
            </a:r>
            <a:r>
              <a:rPr lang="en-US" sz="1050">
                <a:solidFill>
                  <a:srgbClr val="0D0D0D"/>
                </a:solidFill>
                <a:highlight>
                  <a:srgbClr val="FFFFFF"/>
                </a:highlight>
                <a:latin typeface="Courier New"/>
                <a:ea typeface="Courier New"/>
                <a:cs typeface="Courier New"/>
                <a:sym typeface="Courier New"/>
              </a:rPr>
              <a:t>number_of_reviews</a:t>
            </a:r>
            <a:r>
              <a:rPr lang="en-US" sz="1200">
                <a:solidFill>
                  <a:srgbClr val="0D0D0D"/>
                </a:solidFill>
                <a:highlight>
                  <a:srgbClr val="FFFFFF"/>
                </a:highlight>
                <a:latin typeface="Roboto"/>
                <a:ea typeface="Roboto"/>
                <a:cs typeface="Roboto"/>
                <a:sym typeface="Roboto"/>
              </a:rPr>
              <a:t> and </a:t>
            </a:r>
            <a:r>
              <a:rPr lang="en-US" sz="1050">
                <a:solidFill>
                  <a:srgbClr val="0D0D0D"/>
                </a:solidFill>
                <a:highlight>
                  <a:srgbClr val="FFFFFF"/>
                </a:highlight>
                <a:latin typeface="Courier New"/>
                <a:ea typeface="Courier New"/>
                <a:cs typeface="Courier New"/>
                <a:sym typeface="Courier New"/>
              </a:rPr>
              <a:t>reviews_per_month</a:t>
            </a:r>
            <a:r>
              <a:rPr lang="en-US" sz="1200">
                <a:solidFill>
                  <a:srgbClr val="0D0D0D"/>
                </a:solidFill>
                <a:highlight>
                  <a:srgbClr val="FFFFFF"/>
                </a:highlight>
                <a:latin typeface="Roboto"/>
                <a:ea typeface="Roboto"/>
                <a:cs typeface="Roboto"/>
                <a:sym typeface="Roboto"/>
              </a:rPr>
              <a:t>, which is intuitive as more frequent reviews per month would naturally increase the total number of reviews.</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D0D0D"/>
              </a:buClr>
              <a:buSzPts val="1200"/>
              <a:buFont typeface="Roboto"/>
              <a:buChar char="●"/>
            </a:pPr>
            <a:r>
              <a:rPr lang="en-US" sz="1200">
                <a:solidFill>
                  <a:srgbClr val="0D0D0D"/>
                </a:solidFill>
                <a:highlight>
                  <a:srgbClr val="FFFFFF"/>
                </a:highlight>
                <a:latin typeface="Roboto"/>
                <a:ea typeface="Roboto"/>
                <a:cs typeface="Roboto"/>
                <a:sym typeface="Roboto"/>
              </a:rPr>
              <a:t>Minimum Nights and Price: </a:t>
            </a:r>
            <a:r>
              <a:rPr lang="en-US" sz="1050">
                <a:solidFill>
                  <a:srgbClr val="0D0D0D"/>
                </a:solidFill>
                <a:highlight>
                  <a:srgbClr val="FFFFFF"/>
                </a:highlight>
                <a:latin typeface="Courier New"/>
                <a:ea typeface="Courier New"/>
                <a:cs typeface="Courier New"/>
                <a:sym typeface="Courier New"/>
              </a:rPr>
              <a:t>minimum_nights</a:t>
            </a:r>
            <a:r>
              <a:rPr lang="en-US" sz="1200">
                <a:solidFill>
                  <a:srgbClr val="0D0D0D"/>
                </a:solidFill>
                <a:highlight>
                  <a:srgbClr val="FFFFFF"/>
                </a:highlight>
                <a:latin typeface="Roboto"/>
                <a:ea typeface="Roboto"/>
                <a:cs typeface="Roboto"/>
                <a:sym typeface="Roboto"/>
              </a:rPr>
              <a:t> and </a:t>
            </a:r>
            <a:r>
              <a:rPr lang="en-US" sz="1050">
                <a:solidFill>
                  <a:srgbClr val="0D0D0D"/>
                </a:solidFill>
                <a:highlight>
                  <a:srgbClr val="FFFFFF"/>
                </a:highlight>
                <a:latin typeface="Courier New"/>
                <a:ea typeface="Courier New"/>
                <a:cs typeface="Courier New"/>
                <a:sym typeface="Courier New"/>
              </a:rPr>
              <a:t>price</a:t>
            </a:r>
            <a:r>
              <a:rPr lang="en-US" sz="1200">
                <a:solidFill>
                  <a:srgbClr val="0D0D0D"/>
                </a:solidFill>
                <a:highlight>
                  <a:srgbClr val="FFFFFF"/>
                </a:highlight>
                <a:latin typeface="Roboto"/>
                <a:ea typeface="Roboto"/>
                <a:cs typeface="Roboto"/>
                <a:sym typeface="Roboto"/>
              </a:rPr>
              <a:t> show a small negative correlation (-0.27), indicating that listings requiring longer stays might be priced slightly lower, perhaps to attract longer-term bookings.</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D0D0D"/>
              </a:buClr>
              <a:buSzPts val="1200"/>
              <a:buFont typeface="Roboto"/>
              <a:buChar char="●"/>
            </a:pPr>
            <a:r>
              <a:rPr lang="en-US" sz="1200">
                <a:solidFill>
                  <a:srgbClr val="0D0D0D"/>
                </a:solidFill>
                <a:highlight>
                  <a:srgbClr val="FFFFFF"/>
                </a:highlight>
                <a:latin typeface="Roboto"/>
                <a:ea typeface="Roboto"/>
                <a:cs typeface="Roboto"/>
                <a:sym typeface="Roboto"/>
              </a:rPr>
              <a:t>Availability and Calculated Host Listings Count: </a:t>
            </a:r>
            <a:r>
              <a:rPr lang="en-US" sz="1050">
                <a:solidFill>
                  <a:srgbClr val="0D0D0D"/>
                </a:solidFill>
                <a:highlight>
                  <a:srgbClr val="FFFFFF"/>
                </a:highlight>
                <a:latin typeface="Courier New"/>
                <a:ea typeface="Courier New"/>
                <a:cs typeface="Courier New"/>
                <a:sym typeface="Courier New"/>
              </a:rPr>
              <a:t>availability_365</a:t>
            </a:r>
            <a:r>
              <a:rPr lang="en-US" sz="1200">
                <a:solidFill>
                  <a:srgbClr val="0D0D0D"/>
                </a:solidFill>
                <a:highlight>
                  <a:srgbClr val="FFFFFF"/>
                </a:highlight>
                <a:latin typeface="Roboto"/>
                <a:ea typeface="Roboto"/>
                <a:cs typeface="Roboto"/>
                <a:sym typeface="Roboto"/>
              </a:rPr>
              <a:t> shows a positive correlation with </a:t>
            </a:r>
            <a:r>
              <a:rPr lang="en-US" sz="1050">
                <a:solidFill>
                  <a:srgbClr val="0D0D0D"/>
                </a:solidFill>
                <a:highlight>
                  <a:srgbClr val="FFFFFF"/>
                </a:highlight>
                <a:latin typeface="Courier New"/>
                <a:ea typeface="Courier New"/>
                <a:cs typeface="Courier New"/>
                <a:sym typeface="Courier New"/>
              </a:rPr>
              <a:t>calculated_host_listings_count</a:t>
            </a:r>
            <a:r>
              <a:rPr lang="en-US" sz="1200">
                <a:solidFill>
                  <a:srgbClr val="0D0D0D"/>
                </a:solidFill>
                <a:highlight>
                  <a:srgbClr val="FFFFFF"/>
                </a:highlight>
                <a:latin typeface="Roboto"/>
                <a:ea typeface="Roboto"/>
                <a:cs typeface="Roboto"/>
                <a:sym typeface="Roboto"/>
              </a:rPr>
              <a:t> (0.23), indicating that hosts with more listings tend to offer greater availability throughout the year.</a:t>
            </a:r>
            <a:endParaRPr sz="1200">
              <a:solidFill>
                <a:srgbClr val="0D0D0D"/>
              </a:solidFill>
              <a:highlight>
                <a:srgbClr val="FFFFFF"/>
              </a:highlight>
              <a:latin typeface="Roboto"/>
              <a:ea typeface="Roboto"/>
              <a:cs typeface="Roboto"/>
              <a:sym typeface="Roboto"/>
            </a:endParaRPr>
          </a:p>
          <a:p>
            <a:pPr indent="0" lvl="0" marL="0" rtl="0" algn="l">
              <a:lnSpc>
                <a:spcPct val="160000"/>
              </a:lnSpc>
              <a:spcBef>
                <a:spcPts val="1400"/>
              </a:spcBef>
              <a:spcAft>
                <a:spcPts val="0"/>
              </a:spcAft>
              <a:buSzPts val="1100"/>
              <a:buNone/>
            </a:pPr>
            <a:r>
              <a:rPr b="1" lang="en-US" sz="1650">
                <a:solidFill>
                  <a:srgbClr val="0D0D0D"/>
                </a:solidFill>
                <a:highlight>
                  <a:srgbClr val="FFFFFF"/>
                </a:highlight>
                <a:latin typeface="Roboto"/>
                <a:ea typeface="Roboto"/>
                <a:cs typeface="Roboto"/>
                <a:sym typeface="Roboto"/>
              </a:rPr>
              <a:t>Usefulness:</a:t>
            </a:r>
            <a:endParaRPr b="1" sz="1650">
              <a:solidFill>
                <a:srgbClr val="0D0D0D"/>
              </a:solidFill>
              <a:highlight>
                <a:srgbClr val="FFFFFF"/>
              </a:highlight>
              <a:latin typeface="Roboto"/>
              <a:ea typeface="Roboto"/>
              <a:cs typeface="Roboto"/>
              <a:sym typeface="Roboto"/>
            </a:endParaRPr>
          </a:p>
          <a:p>
            <a:pPr indent="0" lvl="0" marL="0" rtl="0" algn="l">
              <a:lnSpc>
                <a:spcPct val="115000"/>
              </a:lnSpc>
              <a:spcBef>
                <a:spcPts val="400"/>
              </a:spcBef>
              <a:spcAft>
                <a:spcPts val="0"/>
              </a:spcAft>
              <a:buSzPts val="1100"/>
              <a:buNone/>
            </a:pPr>
            <a:r>
              <a:rPr lang="en-US" sz="1200">
                <a:solidFill>
                  <a:srgbClr val="0D0D0D"/>
                </a:solidFill>
                <a:highlight>
                  <a:srgbClr val="FFFFFF"/>
                </a:highlight>
                <a:latin typeface="Roboto"/>
                <a:ea typeface="Roboto"/>
                <a:cs typeface="Roboto"/>
                <a:sym typeface="Roboto"/>
              </a:rPr>
              <a:t>This heatmap is particularly useful for:</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500"/>
              </a:spcBef>
              <a:spcAft>
                <a:spcPts val="0"/>
              </a:spcAft>
              <a:buClr>
                <a:srgbClr val="0D0D0D"/>
              </a:buClr>
              <a:buSzPts val="1200"/>
              <a:buFont typeface="Roboto"/>
              <a:buChar char="●"/>
            </a:pPr>
            <a:r>
              <a:rPr lang="en-US" sz="1200">
                <a:solidFill>
                  <a:srgbClr val="0D0D0D"/>
                </a:solidFill>
                <a:highlight>
                  <a:srgbClr val="FFFFFF"/>
                </a:highlight>
                <a:latin typeface="Roboto"/>
                <a:ea typeface="Roboto"/>
                <a:cs typeface="Roboto"/>
                <a:sym typeface="Roboto"/>
              </a:rPr>
              <a:t>Feature Selection: Identifying highly correlated variables that might need to be removed or adjusted to prevent multicollinearity in linear models.</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D0D0D"/>
              </a:buClr>
              <a:buSzPts val="1200"/>
              <a:buFont typeface="Roboto"/>
              <a:buChar char="●"/>
            </a:pPr>
            <a:r>
              <a:rPr lang="en-US" sz="1200">
                <a:solidFill>
                  <a:srgbClr val="0D0D0D"/>
                </a:solidFill>
                <a:highlight>
                  <a:srgbClr val="FFFFFF"/>
                </a:highlight>
                <a:latin typeface="Roboto"/>
                <a:ea typeface="Roboto"/>
                <a:cs typeface="Roboto"/>
                <a:sym typeface="Roboto"/>
              </a:rPr>
              <a:t>Insight Generation: Understanding relationships between variables which can help in hypothesizing about causal relationships, though correlation does not imply causation.</a:t>
            </a:r>
            <a:endParaRPr sz="1200">
              <a:solidFill>
                <a:srgbClr val="0D0D0D"/>
              </a:solidFill>
              <a:highlight>
                <a:srgbClr val="FFFFFF"/>
              </a:highlight>
              <a:latin typeface="Roboto"/>
              <a:ea typeface="Roboto"/>
              <a:cs typeface="Roboto"/>
              <a:sym typeface="Roboto"/>
            </a:endParaRPr>
          </a:p>
          <a:p>
            <a:pPr indent="0" lvl="0" marL="0" rtl="0" algn="l">
              <a:lnSpc>
                <a:spcPct val="160000"/>
              </a:lnSpc>
              <a:spcBef>
                <a:spcPts val="1400"/>
              </a:spcBef>
              <a:spcAft>
                <a:spcPts val="0"/>
              </a:spcAft>
              <a:buSzPts val="1100"/>
              <a:buNone/>
            </a:pPr>
            <a:r>
              <a:rPr b="1" lang="en-US" sz="1650">
                <a:solidFill>
                  <a:srgbClr val="0D0D0D"/>
                </a:solidFill>
                <a:highlight>
                  <a:srgbClr val="FFFFFF"/>
                </a:highlight>
                <a:latin typeface="Roboto"/>
                <a:ea typeface="Roboto"/>
                <a:cs typeface="Roboto"/>
                <a:sym typeface="Roboto"/>
              </a:rPr>
              <a:t>Interpretation for Modeling:</a:t>
            </a:r>
            <a:endParaRPr b="1" sz="1650">
              <a:solidFill>
                <a:srgbClr val="0D0D0D"/>
              </a:solidFill>
              <a:highlight>
                <a:srgbClr val="FFFFFF"/>
              </a:highlight>
              <a:latin typeface="Roboto"/>
              <a:ea typeface="Roboto"/>
              <a:cs typeface="Roboto"/>
              <a:sym typeface="Roboto"/>
            </a:endParaRPr>
          </a:p>
          <a:p>
            <a:pPr indent="-304800" lvl="0" marL="457200" rtl="0" algn="l">
              <a:lnSpc>
                <a:spcPct val="115000"/>
              </a:lnSpc>
              <a:spcBef>
                <a:spcPts val="400"/>
              </a:spcBef>
              <a:spcAft>
                <a:spcPts val="0"/>
              </a:spcAft>
              <a:buClr>
                <a:srgbClr val="0D0D0D"/>
              </a:buClr>
              <a:buSzPts val="1200"/>
              <a:buFont typeface="Roboto"/>
              <a:buChar char="●"/>
            </a:pPr>
            <a:r>
              <a:rPr lang="en-US" sz="1200">
                <a:solidFill>
                  <a:srgbClr val="0D0D0D"/>
                </a:solidFill>
                <a:highlight>
                  <a:srgbClr val="FFFFFF"/>
                </a:highlight>
                <a:latin typeface="Roboto"/>
                <a:ea typeface="Roboto"/>
                <a:cs typeface="Roboto"/>
                <a:sym typeface="Roboto"/>
              </a:rPr>
              <a:t>If you are using models that assume little to no multicollinearity, such as linear regression, you might consider dropping or combining features that are highly correlated.</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D0D0D"/>
              </a:buClr>
              <a:buSzPts val="1200"/>
              <a:buFont typeface="Roboto"/>
              <a:buChar char="●"/>
            </a:pPr>
            <a:r>
              <a:rPr lang="en-US" sz="1200">
                <a:solidFill>
                  <a:srgbClr val="0D0D0D"/>
                </a:solidFill>
                <a:highlight>
                  <a:srgbClr val="FFFFFF"/>
                </a:highlight>
                <a:latin typeface="Roboto"/>
                <a:ea typeface="Roboto"/>
                <a:cs typeface="Roboto"/>
                <a:sym typeface="Roboto"/>
              </a:rPr>
              <a:t>For other models like tree-based models, multicollinearity is less of an issue, but understanding which features are related can still help in interpreting model behavior and results.</a:t>
            </a:r>
            <a:endParaRPr sz="1200">
              <a:solidFill>
                <a:srgbClr val="0D0D0D"/>
              </a:solidFill>
              <a:highlight>
                <a:srgbClr val="FFFFFF"/>
              </a:highlight>
              <a:latin typeface="Roboto"/>
              <a:ea typeface="Roboto"/>
              <a:cs typeface="Roboto"/>
              <a:sym typeface="Roboto"/>
            </a:endParaRPr>
          </a:p>
          <a:p>
            <a:pPr indent="0" lvl="0" marL="457200" rtl="0" algn="l">
              <a:lnSpc>
                <a:spcPct val="115000"/>
              </a:lnSpc>
              <a:spcBef>
                <a:spcPts val="1200"/>
              </a:spcBef>
              <a:spcAft>
                <a:spcPts val="120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d0c9c23082_4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7" name="Google Shape;407;g2d0c9c23082_4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d0c9c23082_2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4" name="Google Shape;434;g2d0c9c23082_2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d0c9c23082_4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g2d0c9c23082_4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d0c9c23082_5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g2d0c9c23082_5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2d0c9c23082_2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8" name="Google Shape;458;g2d0c9c23082_2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2d0c9c23082_2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4" name="Google Shape;464;g2d0c9c23082_2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coefficient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2d0c9c23082_2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g2d0c9c23082_2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neither over fitting or under fitting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d0c9c23082_2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8" name="Google Shape;478;g2d0c9c23082_2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2d0c9c23082_2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4" name="Google Shape;484;g2d0c9c23082_2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d0c9c23082_2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g2d0c9c23082_2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2d0c9c23082_2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g2d0c9c23082_2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2d0c9c23082_2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6" name="Google Shape;506;g2d0c9c23082_2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d0f9a8d4b3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4" name="Google Shape;514;g2d0f9a8d4b3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3" name="Google Shape;523;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d0c9c23082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0" name="Google Shape;550;g2d0c9c23082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2d0c9c23082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7" name="Google Shape;557;g2d0c9c23082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2d0c9c23082_2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5" name="Google Shape;575;g2d0c9c23082_2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0" name="Google Shape;58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6" name="Google Shape;59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2d0c9c23082_4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Clr>
                <a:schemeClr val="dk1"/>
              </a:buClr>
              <a:buSzPts val="1100"/>
              <a:buFont typeface="Arial"/>
              <a:buNone/>
            </a:pPr>
            <a:r>
              <a:rPr b="1" lang="en-US" sz="800">
                <a:solidFill>
                  <a:srgbClr val="0D0D0D"/>
                </a:solidFill>
                <a:highlight>
                  <a:srgbClr val="FFFFFF"/>
                </a:highlight>
                <a:latin typeface="Roboto"/>
                <a:ea typeface="Roboto"/>
                <a:cs typeface="Roboto"/>
                <a:sym typeface="Roboto"/>
              </a:rPr>
              <a:t>Improvement Strategies</a:t>
            </a:r>
            <a:endParaRPr b="1" sz="800">
              <a:solidFill>
                <a:srgbClr val="0D0D0D"/>
              </a:solidFill>
              <a:highlight>
                <a:srgbClr val="FFFFFF"/>
              </a:highlight>
              <a:latin typeface="Roboto"/>
              <a:ea typeface="Roboto"/>
              <a:cs typeface="Roboto"/>
              <a:sym typeface="Roboto"/>
            </a:endParaRPr>
          </a:p>
          <a:p>
            <a:pPr indent="-292100" lvl="0" marL="457200" rtl="0" algn="l">
              <a:lnSpc>
                <a:spcPct val="115000"/>
              </a:lnSpc>
              <a:spcBef>
                <a:spcPts val="200"/>
              </a:spcBef>
              <a:spcAft>
                <a:spcPts val="0"/>
              </a:spcAft>
              <a:buClr>
                <a:srgbClr val="0D0D0D"/>
              </a:buClr>
              <a:buSzPts val="1000"/>
              <a:buFont typeface="Roboto"/>
              <a:buChar char="●"/>
            </a:pPr>
            <a:r>
              <a:rPr lang="en-US" sz="1000">
                <a:solidFill>
                  <a:srgbClr val="0D0D0D"/>
                </a:solidFill>
                <a:highlight>
                  <a:srgbClr val="FFFFFF"/>
                </a:highlight>
                <a:latin typeface="Roboto"/>
                <a:ea typeface="Roboto"/>
                <a:cs typeface="Roboto"/>
                <a:sym typeface="Roboto"/>
              </a:rPr>
              <a:t>Feature Engineering: Potential for creating more meaningful features from the existing data, or obtaining additional data that could help improve model accuracy.</a:t>
            </a:r>
            <a:endParaRPr sz="1000">
              <a:solidFill>
                <a:srgbClr val="0D0D0D"/>
              </a:solidFill>
              <a:highlight>
                <a:srgbClr val="FFFFFF"/>
              </a:highlight>
              <a:latin typeface="Roboto"/>
              <a:ea typeface="Roboto"/>
              <a:cs typeface="Roboto"/>
              <a:sym typeface="Roboto"/>
            </a:endParaRPr>
          </a:p>
          <a:p>
            <a:pPr indent="-292100" lvl="0" marL="457200" rtl="0" algn="l">
              <a:lnSpc>
                <a:spcPct val="115000"/>
              </a:lnSpc>
              <a:spcBef>
                <a:spcPts val="0"/>
              </a:spcBef>
              <a:spcAft>
                <a:spcPts val="0"/>
              </a:spcAft>
              <a:buClr>
                <a:srgbClr val="0D0D0D"/>
              </a:buClr>
              <a:buSzPts val="1000"/>
              <a:buFont typeface="Roboto"/>
              <a:buChar char="●"/>
            </a:pPr>
            <a:r>
              <a:rPr lang="en-US" sz="1000">
                <a:solidFill>
                  <a:srgbClr val="0D0D0D"/>
                </a:solidFill>
                <a:highlight>
                  <a:srgbClr val="FFFFFF"/>
                </a:highlight>
                <a:latin typeface="Roboto"/>
                <a:ea typeface="Roboto"/>
                <a:cs typeface="Roboto"/>
                <a:sym typeface="Roboto"/>
              </a:rPr>
              <a:t>Advanced Modeling Techniques: Consider whether more sophisticated models or ensemble methods might capture the complexity of the data better.</a:t>
            </a:r>
            <a:endParaRPr sz="1000">
              <a:solidFill>
                <a:srgbClr val="0D0D0D"/>
              </a:solidFill>
              <a:highlight>
                <a:srgbClr val="FFFFFF"/>
              </a:highlight>
              <a:latin typeface="Roboto"/>
              <a:ea typeface="Roboto"/>
              <a:cs typeface="Roboto"/>
              <a:sym typeface="Roboto"/>
            </a:endParaRPr>
          </a:p>
          <a:p>
            <a:pPr indent="-292100" lvl="0" marL="457200" rtl="0" algn="l">
              <a:lnSpc>
                <a:spcPct val="115000"/>
              </a:lnSpc>
              <a:spcBef>
                <a:spcPts val="0"/>
              </a:spcBef>
              <a:spcAft>
                <a:spcPts val="0"/>
              </a:spcAft>
              <a:buClr>
                <a:srgbClr val="0D0D0D"/>
              </a:buClr>
              <a:buSzPts val="1000"/>
              <a:buFont typeface="Roboto"/>
              <a:buChar char="●"/>
            </a:pPr>
            <a:r>
              <a:rPr lang="en-US" sz="1000">
                <a:solidFill>
                  <a:srgbClr val="0D0D0D"/>
                </a:solidFill>
                <a:highlight>
                  <a:srgbClr val="FFFFFF"/>
                </a:highlight>
                <a:latin typeface="Roboto"/>
                <a:ea typeface="Roboto"/>
                <a:cs typeface="Roboto"/>
                <a:sym typeface="Roboto"/>
              </a:rPr>
              <a:t>Increased Data Collection: Suggest ways to collect more comprehensive or higher-quality data that could enhance the model’s learning capability.</a:t>
            </a:r>
            <a:endParaRPr sz="1000">
              <a:solidFill>
                <a:srgbClr val="0D0D0D"/>
              </a:solidFill>
              <a:highlight>
                <a:srgbClr val="FFFFFF"/>
              </a:highlight>
              <a:latin typeface="Roboto"/>
              <a:ea typeface="Roboto"/>
              <a:cs typeface="Roboto"/>
              <a:sym typeface="Roboto"/>
            </a:endParaRPr>
          </a:p>
          <a:p>
            <a:pPr indent="-292100" lvl="0" marL="457200" rtl="0" algn="l">
              <a:lnSpc>
                <a:spcPct val="115000"/>
              </a:lnSpc>
              <a:spcBef>
                <a:spcPts val="0"/>
              </a:spcBef>
              <a:spcAft>
                <a:spcPts val="0"/>
              </a:spcAft>
              <a:buClr>
                <a:srgbClr val="0D0D0D"/>
              </a:buClr>
              <a:buSzPts val="1000"/>
              <a:buFont typeface="Roboto"/>
              <a:buChar char="●"/>
            </a:pPr>
            <a:r>
              <a:rPr lang="en-US" sz="1000">
                <a:solidFill>
                  <a:srgbClr val="0D0D0D"/>
                </a:solidFill>
                <a:highlight>
                  <a:srgbClr val="FFFFFF"/>
                </a:highlight>
                <a:latin typeface="Roboto"/>
                <a:ea typeface="Roboto"/>
                <a:cs typeface="Roboto"/>
                <a:sym typeface="Roboto"/>
              </a:rPr>
              <a:t>Experimentation with Non-linear Models: Since traditional models have limitations, experimenting with non-linear models or neural networks might yield better results.</a:t>
            </a:r>
            <a:endParaRPr sz="1000">
              <a:solidFill>
                <a:srgbClr val="0D0D0D"/>
              </a:solidFill>
              <a:highlight>
                <a:srgbClr val="FFFFFF"/>
              </a:highlight>
              <a:latin typeface="Roboto"/>
              <a:ea typeface="Roboto"/>
              <a:cs typeface="Roboto"/>
              <a:sym typeface="Roboto"/>
            </a:endParaRPr>
          </a:p>
          <a:p>
            <a:pPr indent="0" lvl="0" marL="0" rtl="0" algn="l">
              <a:lnSpc>
                <a:spcPct val="100000"/>
              </a:lnSpc>
              <a:spcBef>
                <a:spcPts val="1200"/>
              </a:spcBef>
              <a:spcAft>
                <a:spcPts val="0"/>
              </a:spcAft>
              <a:buClr>
                <a:schemeClr val="dk1"/>
              </a:buClr>
              <a:buSzPts val="1100"/>
              <a:buFont typeface="Arial"/>
              <a:buNone/>
            </a:pPr>
            <a:r>
              <a:t/>
            </a:r>
            <a:endParaRPr sz="400">
              <a:solidFill>
                <a:schemeClr val="dk1"/>
              </a:solidFill>
            </a:endParaRPr>
          </a:p>
          <a:p>
            <a:pPr indent="0" lvl="0" marL="0" rtl="0" algn="l">
              <a:lnSpc>
                <a:spcPct val="100000"/>
              </a:lnSpc>
              <a:spcBef>
                <a:spcPts val="0"/>
              </a:spcBef>
              <a:spcAft>
                <a:spcPts val="0"/>
              </a:spcAft>
              <a:buSzPts val="1100"/>
              <a:buNone/>
            </a:pPr>
            <a:r>
              <a:t/>
            </a:r>
            <a:endParaRPr b="1" sz="800">
              <a:solidFill>
                <a:srgbClr val="0D0D0D"/>
              </a:solidFill>
              <a:highlight>
                <a:srgbClr val="FFFFFF"/>
              </a:highlight>
              <a:latin typeface="Roboto"/>
              <a:ea typeface="Roboto"/>
              <a:cs typeface="Roboto"/>
              <a:sym typeface="Roboto"/>
            </a:endParaRPr>
          </a:p>
        </p:txBody>
      </p:sp>
      <p:sp>
        <p:nvSpPr>
          <p:cNvPr id="615" name="Google Shape;615;g2d0c9c23082_4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9" name="Google Shape;62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2d0c9c23082_2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4" name="Google Shape;644;g2d0c9c23082_2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2c7d3caa74f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9" name="Google Shape;649;g2c7d3caa74f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p:cSld name="Custom">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31.png"/><Relationship Id="rId5" Type="http://schemas.openxmlformats.org/officeDocument/2006/relationships/image" Target="../media/image7.png"/><Relationship Id="rId6" Type="http://schemas.openxmlformats.org/officeDocument/2006/relationships/image" Target="../media/image19.png"/><Relationship Id="rId7"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24.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6.jp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29.png"/><Relationship Id="rId5" Type="http://schemas.openxmlformats.org/officeDocument/2006/relationships/image" Target="../media/image14.png"/><Relationship Id="rId6"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5.png"/><Relationship Id="rId5" Type="http://schemas.openxmlformats.org/officeDocument/2006/relationships/image" Target="../media/image17.jpg"/><Relationship Id="rId6" Type="http://schemas.openxmlformats.org/officeDocument/2006/relationships/image" Target="../media/image4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1.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20.jpg"/><Relationship Id="rId5" Type="http://schemas.openxmlformats.org/officeDocument/2006/relationships/image" Target="../media/image2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6.jpg"/><Relationship Id="rId4" Type="http://schemas.openxmlformats.org/officeDocument/2006/relationships/image" Target="../media/image30.jpg"/></Relationships>
</file>

<file path=ppt/slides/_rels/slide20.xml.rels><?xml version="1.0" encoding="UTF-8" standalone="yes"?><Relationships xmlns="http://schemas.openxmlformats.org/package/2006/relationships"><Relationship Id="rId20" Type="http://schemas.openxmlformats.org/officeDocument/2006/relationships/image" Target="../media/image20.jpg"/><Relationship Id="rId22" Type="http://schemas.openxmlformats.org/officeDocument/2006/relationships/image" Target="../media/image13.png"/><Relationship Id="rId21" Type="http://schemas.openxmlformats.org/officeDocument/2006/relationships/image" Target="../media/image9.png"/><Relationship Id="rId24" Type="http://schemas.openxmlformats.org/officeDocument/2006/relationships/image" Target="../media/image29.png"/><Relationship Id="rId23" Type="http://schemas.openxmlformats.org/officeDocument/2006/relationships/image" Target="../media/image8.png"/><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6.png"/><Relationship Id="rId4" Type="http://schemas.openxmlformats.org/officeDocument/2006/relationships/image" Target="../media/image25.png"/><Relationship Id="rId9" Type="http://schemas.openxmlformats.org/officeDocument/2006/relationships/image" Target="../media/image27.png"/><Relationship Id="rId26" Type="http://schemas.openxmlformats.org/officeDocument/2006/relationships/image" Target="../media/image22.png"/><Relationship Id="rId25" Type="http://schemas.openxmlformats.org/officeDocument/2006/relationships/image" Target="../media/image14.png"/><Relationship Id="rId5" Type="http://schemas.openxmlformats.org/officeDocument/2006/relationships/image" Target="../media/image37.png"/><Relationship Id="rId6" Type="http://schemas.openxmlformats.org/officeDocument/2006/relationships/image" Target="../media/image26.png"/><Relationship Id="rId7" Type="http://schemas.openxmlformats.org/officeDocument/2006/relationships/image" Target="../media/image18.png"/><Relationship Id="rId8" Type="http://schemas.openxmlformats.org/officeDocument/2006/relationships/image" Target="../media/image21.png"/><Relationship Id="rId11" Type="http://schemas.openxmlformats.org/officeDocument/2006/relationships/image" Target="../media/image50.png"/><Relationship Id="rId10" Type="http://schemas.openxmlformats.org/officeDocument/2006/relationships/image" Target="../media/image34.png"/><Relationship Id="rId13" Type="http://schemas.openxmlformats.org/officeDocument/2006/relationships/image" Target="../media/image38.png"/><Relationship Id="rId12" Type="http://schemas.openxmlformats.org/officeDocument/2006/relationships/image" Target="../media/image33.png"/><Relationship Id="rId15" Type="http://schemas.openxmlformats.org/officeDocument/2006/relationships/image" Target="../media/image44.png"/><Relationship Id="rId14" Type="http://schemas.openxmlformats.org/officeDocument/2006/relationships/image" Target="../media/image56.png"/><Relationship Id="rId17" Type="http://schemas.openxmlformats.org/officeDocument/2006/relationships/image" Target="../media/image30.jpg"/><Relationship Id="rId16" Type="http://schemas.openxmlformats.org/officeDocument/2006/relationships/image" Target="../media/image35.png"/><Relationship Id="rId19" Type="http://schemas.openxmlformats.org/officeDocument/2006/relationships/image" Target="../media/image23.jpg"/><Relationship Id="rId18" Type="http://schemas.openxmlformats.org/officeDocument/2006/relationships/image" Target="../media/image4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6.png"/><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4.png"/><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3.png"/><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8.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7.pn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4.png"/><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8.png"/><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9.png"/><Relationship Id="rId4" Type="http://schemas.openxmlformats.org/officeDocument/2006/relationships/image" Target="../media/image51.png"/><Relationship Id="rId5" Type="http://schemas.openxmlformats.org/officeDocument/2006/relationships/image" Target="../media/image4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comments" Target="../comments/comment1.xml"/><Relationship Id="rId4" Type="http://schemas.openxmlformats.org/officeDocument/2006/relationships/image" Target="../media/image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jpg"/><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jpg"/><Relationship Id="rId4" Type="http://schemas.openxmlformats.org/officeDocument/2006/relationships/image" Target="../media/image48.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jpg"/><Relationship Id="rId4" Type="http://schemas.openxmlformats.org/officeDocument/2006/relationships/image" Target="../media/image5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3921"/>
          </a:schemeClr>
        </a:solidFill>
      </p:bgPr>
    </p:bg>
    <p:spTree>
      <p:nvGrpSpPr>
        <p:cNvPr id="10" name="Shape 10"/>
        <p:cNvGrpSpPr/>
        <p:nvPr/>
      </p:nvGrpSpPr>
      <p:grpSpPr>
        <a:xfrm>
          <a:off x="0" y="0"/>
          <a:ext cx="0" cy="0"/>
          <a:chOff x="0" y="0"/>
          <a:chExt cx="0" cy="0"/>
        </a:xfrm>
      </p:grpSpPr>
      <p:sp>
        <p:nvSpPr>
          <p:cNvPr id="11" name="Google Shape;11;p1"/>
          <p:cNvSpPr txBox="1"/>
          <p:nvPr/>
        </p:nvSpPr>
        <p:spPr>
          <a:xfrm>
            <a:off x="0" y="469900"/>
            <a:ext cx="12306300" cy="699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2" name="Google Shape;12;p1"/>
          <p:cNvGrpSpPr/>
          <p:nvPr/>
        </p:nvGrpSpPr>
        <p:grpSpPr>
          <a:xfrm>
            <a:off x="-30432" y="478401"/>
            <a:ext cx="12192000" cy="6840996"/>
            <a:chOff x="-30432" y="478401"/>
            <a:chExt cx="12192000" cy="6840996"/>
          </a:xfrm>
        </p:grpSpPr>
        <p:cxnSp>
          <p:nvCxnSpPr>
            <p:cNvPr id="13" name="Google Shape;13;p1"/>
            <p:cNvCxnSpPr/>
            <p:nvPr/>
          </p:nvCxnSpPr>
          <p:spPr>
            <a:xfrm>
              <a:off x="-30432" y="876681"/>
              <a:ext cx="12192000" cy="1"/>
            </a:xfrm>
            <a:prstGeom prst="straightConnector1">
              <a:avLst/>
            </a:prstGeom>
            <a:noFill/>
            <a:ln cap="flat" cmpd="sng" w="12700">
              <a:solidFill>
                <a:srgbClr val="7F7F7F">
                  <a:alpha val="23921"/>
                </a:srgbClr>
              </a:solidFill>
              <a:prstDash val="solid"/>
              <a:miter lim="8000"/>
              <a:headEnd len="sm" w="sm" type="none"/>
              <a:tailEnd len="sm" w="sm" type="none"/>
            </a:ln>
          </p:spPr>
        </p:cxnSp>
        <p:cxnSp>
          <p:nvCxnSpPr>
            <p:cNvPr id="14" name="Google Shape;14;p1"/>
            <p:cNvCxnSpPr/>
            <p:nvPr/>
          </p:nvCxnSpPr>
          <p:spPr>
            <a:xfrm flipH="1" rot="10800000">
              <a:off x="11865559" y="478401"/>
              <a:ext cx="2592" cy="6840996"/>
            </a:xfrm>
            <a:prstGeom prst="straightConnector1">
              <a:avLst/>
            </a:prstGeom>
            <a:noFill/>
            <a:ln cap="flat" cmpd="sng" w="12700">
              <a:solidFill>
                <a:srgbClr val="7F7F7F">
                  <a:alpha val="23921"/>
                </a:srgbClr>
              </a:solidFill>
              <a:prstDash val="solid"/>
              <a:miter lim="8000"/>
              <a:headEnd len="sm" w="sm" type="none"/>
              <a:tailEnd len="sm" w="sm" type="none"/>
            </a:ln>
          </p:spPr>
        </p:cxnSp>
        <p:cxnSp>
          <p:nvCxnSpPr>
            <p:cNvPr id="15" name="Google Shape;15;p1"/>
            <p:cNvCxnSpPr/>
            <p:nvPr/>
          </p:nvCxnSpPr>
          <p:spPr>
            <a:xfrm>
              <a:off x="-30432" y="6943141"/>
              <a:ext cx="12192000" cy="1"/>
            </a:xfrm>
            <a:prstGeom prst="straightConnector1">
              <a:avLst/>
            </a:prstGeom>
            <a:noFill/>
            <a:ln cap="flat" cmpd="sng" w="12700">
              <a:solidFill>
                <a:srgbClr val="7F7F7F">
                  <a:alpha val="23921"/>
                </a:srgbClr>
              </a:solidFill>
              <a:prstDash val="solid"/>
              <a:miter lim="8000"/>
              <a:headEnd len="sm" w="sm" type="none"/>
              <a:tailEnd len="sm" w="sm" type="none"/>
            </a:ln>
          </p:spPr>
        </p:cxnSp>
        <p:cxnSp>
          <p:nvCxnSpPr>
            <p:cNvPr id="16" name="Google Shape;16;p1"/>
            <p:cNvCxnSpPr/>
            <p:nvPr/>
          </p:nvCxnSpPr>
          <p:spPr>
            <a:xfrm flipH="1" rot="10800000">
              <a:off x="545312" y="478401"/>
              <a:ext cx="2592" cy="6840995"/>
            </a:xfrm>
            <a:prstGeom prst="straightConnector1">
              <a:avLst/>
            </a:prstGeom>
            <a:noFill/>
            <a:ln cap="flat" cmpd="sng" w="12700">
              <a:solidFill>
                <a:srgbClr val="7F7F7F">
                  <a:alpha val="23921"/>
                </a:srgbClr>
              </a:solidFill>
              <a:prstDash val="solid"/>
              <a:miter lim="8000"/>
              <a:headEnd len="sm" w="sm" type="none"/>
              <a:tailEnd len="sm" w="sm" type="none"/>
            </a:ln>
          </p:spPr>
        </p:cxnSp>
      </p:grpSp>
      <p:pic>
        <p:nvPicPr>
          <p:cNvPr id="17" name="Google Shape;17;p1"/>
          <p:cNvPicPr preferRelativeResize="0"/>
          <p:nvPr/>
        </p:nvPicPr>
        <p:blipFill rotWithShape="1">
          <a:blip r:embed="rId3">
            <a:alphaModFix amt="15000"/>
          </a:blip>
          <a:srcRect b="-1" l="0" r="0" t="20071"/>
          <a:stretch/>
        </p:blipFill>
        <p:spPr>
          <a:xfrm>
            <a:off x="-381000" y="255588"/>
            <a:ext cx="12954000" cy="7286625"/>
          </a:xfrm>
          <a:prstGeom prst="rect">
            <a:avLst/>
          </a:prstGeom>
          <a:noFill/>
          <a:ln>
            <a:noFill/>
          </a:ln>
        </p:spPr>
      </p:pic>
      <p:sp>
        <p:nvSpPr>
          <p:cNvPr id="18" name="Google Shape;18;p1"/>
          <p:cNvSpPr txBox="1"/>
          <p:nvPr/>
        </p:nvSpPr>
        <p:spPr>
          <a:xfrm>
            <a:off x="8351228" y="461727"/>
            <a:ext cx="3842041" cy="6874345"/>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 name="Google Shape;19;p1"/>
          <p:cNvSpPr/>
          <p:nvPr/>
        </p:nvSpPr>
        <p:spPr>
          <a:xfrm>
            <a:off x="542793" y="890389"/>
            <a:ext cx="608776" cy="608577"/>
          </a:xfrm>
          <a:custGeom>
            <a:rect b="b" l="l" r="r" t="t"/>
            <a:pathLst>
              <a:path extrusionOk="0" h="20595" w="20596">
                <a:moveTo>
                  <a:pt x="0" y="0"/>
                </a:moveTo>
                <a:lnTo>
                  <a:pt x="0" y="11107"/>
                </a:lnTo>
                <a:lnTo>
                  <a:pt x="94" y="11107"/>
                </a:lnTo>
                <a:cubicBezTo>
                  <a:pt x="279" y="13466"/>
                  <a:pt x="1231" y="15777"/>
                  <a:pt x="3034" y="17581"/>
                </a:cubicBezTo>
                <a:cubicBezTo>
                  <a:pt x="7052" y="21600"/>
                  <a:pt x="13565" y="21600"/>
                  <a:pt x="17582" y="17581"/>
                </a:cubicBezTo>
                <a:cubicBezTo>
                  <a:pt x="21600" y="13562"/>
                  <a:pt x="21600" y="7041"/>
                  <a:pt x="17582" y="3022"/>
                </a:cubicBezTo>
                <a:cubicBezTo>
                  <a:pt x="15747" y="1186"/>
                  <a:pt x="13391" y="239"/>
                  <a:pt x="10990" y="81"/>
                </a:cubicBezTo>
                <a:lnTo>
                  <a:pt x="10990" y="0"/>
                </a:lnTo>
                <a:lnTo>
                  <a:pt x="0" y="0"/>
                </a:lnTo>
                <a:close/>
                <a:moveTo>
                  <a:pt x="4404" y="10496"/>
                </a:moveTo>
                <a:lnTo>
                  <a:pt x="16213" y="10496"/>
                </a:lnTo>
                <a:cubicBezTo>
                  <a:pt x="16214" y="12009"/>
                  <a:pt x="15634" y="13519"/>
                  <a:pt x="14481" y="14673"/>
                </a:cubicBezTo>
                <a:cubicBezTo>
                  <a:pt x="12176" y="16979"/>
                  <a:pt x="8441" y="16979"/>
                  <a:pt x="6136" y="14673"/>
                </a:cubicBezTo>
                <a:cubicBezTo>
                  <a:pt x="4982" y="13519"/>
                  <a:pt x="4403" y="12009"/>
                  <a:pt x="4404" y="10496"/>
                </a:cubicBezTo>
                <a:close/>
              </a:path>
            </a:pathLst>
          </a:cu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0" name="Google Shape;20;p1"/>
          <p:cNvGrpSpPr/>
          <p:nvPr/>
        </p:nvGrpSpPr>
        <p:grpSpPr>
          <a:xfrm>
            <a:off x="11394878" y="5980311"/>
            <a:ext cx="305793" cy="901105"/>
            <a:chOff x="11394878" y="5980311"/>
            <a:chExt cx="305793" cy="901105"/>
          </a:xfrm>
        </p:grpSpPr>
        <p:sp>
          <p:nvSpPr>
            <p:cNvPr id="21" name="Google Shape;21;p1"/>
            <p:cNvSpPr/>
            <p:nvPr/>
          </p:nvSpPr>
          <p:spPr>
            <a:xfrm>
              <a:off x="11394878" y="5980311"/>
              <a:ext cx="305793" cy="451843"/>
            </a:xfrm>
            <a:custGeom>
              <a:rect b="b" l="l" r="r" t="t"/>
              <a:pathLst>
                <a:path extrusionOk="0" h="21600" w="21600">
                  <a:moveTo>
                    <a:pt x="10807" y="0"/>
                  </a:moveTo>
                  <a:cubicBezTo>
                    <a:pt x="9547" y="0"/>
                    <a:pt x="8290" y="154"/>
                    <a:pt x="7107" y="446"/>
                  </a:cubicBezTo>
                  <a:cubicBezTo>
                    <a:pt x="4107" y="1185"/>
                    <a:pt x="1751" y="2780"/>
                    <a:pt x="659" y="4809"/>
                  </a:cubicBezTo>
                  <a:cubicBezTo>
                    <a:pt x="272" y="5522"/>
                    <a:pt x="134" y="6678"/>
                    <a:pt x="70" y="8025"/>
                  </a:cubicBezTo>
                  <a:lnTo>
                    <a:pt x="42" y="8025"/>
                  </a:lnTo>
                  <a:lnTo>
                    <a:pt x="42" y="9258"/>
                  </a:lnTo>
                  <a:cubicBezTo>
                    <a:pt x="34" y="9786"/>
                    <a:pt x="0" y="10207"/>
                    <a:pt x="0" y="10805"/>
                  </a:cubicBezTo>
                  <a:cubicBezTo>
                    <a:pt x="0" y="11402"/>
                    <a:pt x="34" y="11823"/>
                    <a:pt x="42" y="12351"/>
                  </a:cubicBezTo>
                  <a:lnTo>
                    <a:pt x="42" y="21600"/>
                  </a:lnTo>
                  <a:lnTo>
                    <a:pt x="10807" y="21600"/>
                  </a:lnTo>
                  <a:lnTo>
                    <a:pt x="21572" y="21600"/>
                  </a:lnTo>
                  <a:lnTo>
                    <a:pt x="21572" y="12009"/>
                  </a:lnTo>
                  <a:cubicBezTo>
                    <a:pt x="21576" y="11586"/>
                    <a:pt x="21600" y="11270"/>
                    <a:pt x="21600" y="10805"/>
                  </a:cubicBezTo>
                  <a:cubicBezTo>
                    <a:pt x="21600" y="10339"/>
                    <a:pt x="21576" y="10023"/>
                    <a:pt x="21572" y="9600"/>
                  </a:cubicBezTo>
                  <a:lnTo>
                    <a:pt x="21572" y="8025"/>
                  </a:lnTo>
                  <a:lnTo>
                    <a:pt x="21530" y="8025"/>
                  </a:lnTo>
                  <a:cubicBezTo>
                    <a:pt x="21466" y="6678"/>
                    <a:pt x="21342" y="5522"/>
                    <a:pt x="20955" y="4809"/>
                  </a:cubicBezTo>
                  <a:cubicBezTo>
                    <a:pt x="19863" y="2779"/>
                    <a:pt x="17493" y="1185"/>
                    <a:pt x="14493" y="446"/>
                  </a:cubicBezTo>
                  <a:cubicBezTo>
                    <a:pt x="13310" y="154"/>
                    <a:pt x="12067" y="0"/>
                    <a:pt x="10807" y="0"/>
                  </a:cubicBezTo>
                  <a:close/>
                </a:path>
              </a:pathLst>
            </a:custGeom>
            <a:solidFill>
              <a:schemeClr val="accent2"/>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 name="Google Shape;22;p1"/>
            <p:cNvSpPr/>
            <p:nvPr/>
          </p:nvSpPr>
          <p:spPr>
            <a:xfrm rot="10800000">
              <a:off x="11394878" y="6429573"/>
              <a:ext cx="305793" cy="451843"/>
            </a:xfrm>
            <a:custGeom>
              <a:rect b="b" l="l" r="r" t="t"/>
              <a:pathLst>
                <a:path extrusionOk="0" h="21600" w="21600">
                  <a:moveTo>
                    <a:pt x="10807" y="0"/>
                  </a:moveTo>
                  <a:cubicBezTo>
                    <a:pt x="9547" y="0"/>
                    <a:pt x="8290" y="154"/>
                    <a:pt x="7107" y="446"/>
                  </a:cubicBezTo>
                  <a:cubicBezTo>
                    <a:pt x="4107" y="1185"/>
                    <a:pt x="1751" y="2780"/>
                    <a:pt x="659" y="4809"/>
                  </a:cubicBezTo>
                  <a:cubicBezTo>
                    <a:pt x="272" y="5522"/>
                    <a:pt x="134" y="6678"/>
                    <a:pt x="70" y="8025"/>
                  </a:cubicBezTo>
                  <a:lnTo>
                    <a:pt x="42" y="8025"/>
                  </a:lnTo>
                  <a:lnTo>
                    <a:pt x="42" y="9258"/>
                  </a:lnTo>
                  <a:cubicBezTo>
                    <a:pt x="34" y="9786"/>
                    <a:pt x="0" y="10207"/>
                    <a:pt x="0" y="10805"/>
                  </a:cubicBezTo>
                  <a:cubicBezTo>
                    <a:pt x="0" y="11402"/>
                    <a:pt x="34" y="11823"/>
                    <a:pt x="42" y="12351"/>
                  </a:cubicBezTo>
                  <a:lnTo>
                    <a:pt x="42" y="21600"/>
                  </a:lnTo>
                  <a:lnTo>
                    <a:pt x="10807" y="21600"/>
                  </a:lnTo>
                  <a:lnTo>
                    <a:pt x="21572" y="21600"/>
                  </a:lnTo>
                  <a:lnTo>
                    <a:pt x="21572" y="12009"/>
                  </a:lnTo>
                  <a:cubicBezTo>
                    <a:pt x="21576" y="11586"/>
                    <a:pt x="21600" y="11270"/>
                    <a:pt x="21600" y="10805"/>
                  </a:cubicBezTo>
                  <a:cubicBezTo>
                    <a:pt x="21600" y="10339"/>
                    <a:pt x="21576" y="10023"/>
                    <a:pt x="21572" y="9600"/>
                  </a:cubicBezTo>
                  <a:lnTo>
                    <a:pt x="21572" y="8025"/>
                  </a:lnTo>
                  <a:lnTo>
                    <a:pt x="21530" y="8025"/>
                  </a:lnTo>
                  <a:cubicBezTo>
                    <a:pt x="21466" y="6678"/>
                    <a:pt x="21342" y="5522"/>
                    <a:pt x="20955" y="4809"/>
                  </a:cubicBezTo>
                  <a:cubicBezTo>
                    <a:pt x="19863" y="2779"/>
                    <a:pt x="17493" y="1185"/>
                    <a:pt x="14493" y="446"/>
                  </a:cubicBezTo>
                  <a:cubicBezTo>
                    <a:pt x="13310" y="154"/>
                    <a:pt x="12067" y="0"/>
                    <a:pt x="10807" y="0"/>
                  </a:cubicBezTo>
                  <a:close/>
                </a:path>
              </a:pathLst>
            </a:custGeom>
            <a:solidFill>
              <a:srgbClr val="ECEEF3"/>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 name="Google Shape;23;p1"/>
            <p:cNvSpPr/>
            <p:nvPr/>
          </p:nvSpPr>
          <p:spPr>
            <a:xfrm>
              <a:off x="11494059" y="6186560"/>
              <a:ext cx="107258" cy="55899"/>
            </a:xfrm>
            <a:custGeom>
              <a:rect b="b" l="l" r="r" t="t"/>
              <a:pathLst>
                <a:path extrusionOk="0" h="21600" w="21600">
                  <a:moveTo>
                    <a:pt x="0" y="20945"/>
                  </a:moveTo>
                  <a:lnTo>
                    <a:pt x="10916" y="0"/>
                  </a:lnTo>
                  <a:lnTo>
                    <a:pt x="21600" y="21600"/>
                  </a:lnTo>
                </a:path>
              </a:pathLst>
            </a:custGeom>
            <a:noFill/>
            <a:ln cap="sq" cmpd="sng" w="19050">
              <a:solidFill>
                <a:srgbClr val="E2E7EC"/>
              </a:solidFill>
              <a:prstDash val="solid"/>
              <a:miter lim="8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 name="Google Shape;24;p1"/>
            <p:cNvSpPr/>
            <p:nvPr/>
          </p:nvSpPr>
          <p:spPr>
            <a:xfrm rot="10800000">
              <a:off x="11494230" y="6623999"/>
              <a:ext cx="107258" cy="55899"/>
            </a:xfrm>
            <a:custGeom>
              <a:rect b="b" l="l" r="r" t="t"/>
              <a:pathLst>
                <a:path extrusionOk="0" h="21600" w="21600">
                  <a:moveTo>
                    <a:pt x="0" y="20945"/>
                  </a:moveTo>
                  <a:lnTo>
                    <a:pt x="10916" y="0"/>
                  </a:lnTo>
                  <a:lnTo>
                    <a:pt x="21600" y="21600"/>
                  </a:lnTo>
                </a:path>
              </a:pathLst>
            </a:custGeom>
            <a:noFill/>
            <a:ln cap="sq" cmpd="sng" w="19050">
              <a:solidFill>
                <a:schemeClr val="accent1"/>
              </a:solidFill>
              <a:prstDash val="solid"/>
              <a:miter lim="8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25" name="Google Shape;25;p1"/>
          <p:cNvPicPr preferRelativeResize="0"/>
          <p:nvPr/>
        </p:nvPicPr>
        <p:blipFill rotWithShape="1">
          <a:blip r:embed="rId4">
            <a:alphaModFix/>
          </a:blip>
          <a:srcRect b="2330" l="0" r="0" t="-2330"/>
          <a:stretch/>
        </p:blipFill>
        <p:spPr>
          <a:xfrm>
            <a:off x="4256850" y="1498975"/>
            <a:ext cx="7138026" cy="4027525"/>
          </a:xfrm>
          <a:prstGeom prst="rect">
            <a:avLst/>
          </a:prstGeom>
          <a:noFill/>
          <a:ln>
            <a:noFill/>
          </a:ln>
        </p:spPr>
      </p:pic>
      <p:sp>
        <p:nvSpPr>
          <p:cNvPr id="26" name="Google Shape;26;p1"/>
          <p:cNvSpPr txBox="1"/>
          <p:nvPr/>
        </p:nvSpPr>
        <p:spPr>
          <a:xfrm>
            <a:off x="3136870" y="5674592"/>
            <a:ext cx="3282607" cy="503367"/>
          </a:xfrm>
          <a:prstGeom prst="rect">
            <a:avLst/>
          </a:prstGeom>
          <a:solidFill>
            <a:srgbClr val="FFFFFF"/>
          </a:solidFill>
          <a:ln>
            <a:noFill/>
          </a:ln>
          <a:effectLst>
            <a:outerShdw blurRad="762000" rotWithShape="0" dir="2700000" dist="381000">
              <a:srgbClr val="000000">
                <a:alpha val="14117"/>
              </a:srgbClr>
            </a:outerShdw>
          </a:effectLst>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 name="Google Shape;27;p1"/>
          <p:cNvSpPr/>
          <p:nvPr/>
        </p:nvSpPr>
        <p:spPr>
          <a:xfrm>
            <a:off x="6098672" y="5875378"/>
            <a:ext cx="163513" cy="103188"/>
          </a:xfrm>
          <a:custGeom>
            <a:rect b="b" l="l" r="r" t="t"/>
            <a:pathLst>
              <a:path extrusionOk="0" h="21600" w="21600">
                <a:moveTo>
                  <a:pt x="14706" y="0"/>
                </a:moveTo>
                <a:lnTo>
                  <a:pt x="12163" y="4029"/>
                </a:lnTo>
                <a:lnTo>
                  <a:pt x="14549" y="7809"/>
                </a:lnTo>
                <a:lnTo>
                  <a:pt x="0" y="7809"/>
                </a:lnTo>
                <a:lnTo>
                  <a:pt x="0" y="13500"/>
                </a:lnTo>
                <a:lnTo>
                  <a:pt x="14732" y="13500"/>
                </a:lnTo>
                <a:lnTo>
                  <a:pt x="12163" y="17571"/>
                </a:lnTo>
                <a:lnTo>
                  <a:pt x="14706" y="21600"/>
                </a:lnTo>
                <a:lnTo>
                  <a:pt x="18979" y="14829"/>
                </a:lnTo>
                <a:lnTo>
                  <a:pt x="19057" y="14954"/>
                </a:lnTo>
                <a:lnTo>
                  <a:pt x="21600" y="10925"/>
                </a:lnTo>
                <a:lnTo>
                  <a:pt x="21521" y="10800"/>
                </a:lnTo>
                <a:lnTo>
                  <a:pt x="21600" y="10675"/>
                </a:lnTo>
                <a:lnTo>
                  <a:pt x="19057" y="6646"/>
                </a:lnTo>
                <a:lnTo>
                  <a:pt x="18979" y="6771"/>
                </a:lnTo>
                <a:lnTo>
                  <a:pt x="14706" y="0"/>
                </a:lnTo>
                <a:close/>
              </a:path>
            </a:pathLst>
          </a:cu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 name="Google Shape;28;p1"/>
          <p:cNvSpPr txBox="1"/>
          <p:nvPr/>
        </p:nvSpPr>
        <p:spPr>
          <a:xfrm>
            <a:off x="752475" y="1846925"/>
            <a:ext cx="6907200" cy="285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5800"/>
              <a:buFont typeface="Arial"/>
              <a:buNone/>
            </a:pPr>
            <a:r>
              <a:rPr b="1" i="0" lang="en-US" sz="5800" u="none" cap="none" strike="noStrike">
                <a:solidFill>
                  <a:schemeClr val="accent1"/>
                </a:solidFill>
                <a:latin typeface="Catamaran"/>
                <a:ea typeface="Catamaran"/>
                <a:cs typeface="Catamaran"/>
                <a:sym typeface="Catamaran"/>
              </a:rPr>
              <a:t>Analyzing NYC </a:t>
            </a:r>
            <a:br>
              <a:rPr b="1" i="0" lang="en-US" sz="5800" u="none" cap="none" strike="noStrike">
                <a:solidFill>
                  <a:schemeClr val="accent1"/>
                </a:solidFill>
                <a:latin typeface="Catamaran"/>
                <a:ea typeface="Catamaran"/>
                <a:cs typeface="Catamaran"/>
                <a:sym typeface="Catamaran"/>
              </a:rPr>
            </a:br>
            <a:r>
              <a:rPr b="1" i="0" lang="en-US" sz="5800" u="none" cap="none" strike="noStrike">
                <a:solidFill>
                  <a:schemeClr val="accent1"/>
                </a:solidFill>
                <a:latin typeface="Catamaran"/>
                <a:ea typeface="Catamaran"/>
                <a:cs typeface="Catamaran"/>
                <a:sym typeface="Catamaran"/>
              </a:rPr>
              <a:t>Airbnb Open Data</a:t>
            </a:r>
            <a:endParaRPr b="1" i="0" sz="3100" u="none" cap="none" strike="noStrike">
              <a:solidFill>
                <a:srgbClr val="000000"/>
              </a:solidFill>
              <a:latin typeface="Catamaran"/>
              <a:ea typeface="Catamaran"/>
              <a:cs typeface="Catamaran"/>
              <a:sym typeface="Catamaran"/>
            </a:endParaRPr>
          </a:p>
        </p:txBody>
      </p:sp>
      <p:sp>
        <p:nvSpPr>
          <p:cNvPr id="29" name="Google Shape;29;p1"/>
          <p:cNvSpPr txBox="1"/>
          <p:nvPr/>
        </p:nvSpPr>
        <p:spPr>
          <a:xfrm>
            <a:off x="3300827" y="5738613"/>
            <a:ext cx="2954700" cy="348900"/>
          </a:xfrm>
          <a:prstGeom prst="rect">
            <a:avLst/>
          </a:prstGeom>
          <a:noFill/>
          <a:ln>
            <a:noFill/>
          </a:ln>
        </p:spPr>
        <p:txBody>
          <a:bodyPr anchorCtr="0" anchor="ctr" bIns="50800" lIns="50800" spcFirstLastPara="1" rIns="50800" wrap="square" tIns="50800">
            <a:spAutoFit/>
          </a:bodyPr>
          <a:lstStyle/>
          <a:p>
            <a:pPr indent="0" lvl="0" marL="0" marR="0" rtl="0" algn="just">
              <a:lnSpc>
                <a:spcPct val="100000"/>
              </a:lnSpc>
              <a:spcBef>
                <a:spcPts val="0"/>
              </a:spcBef>
              <a:spcAft>
                <a:spcPts val="0"/>
              </a:spcAft>
              <a:buClr>
                <a:srgbClr val="000000"/>
              </a:buClr>
              <a:buSzPts val="1600"/>
              <a:buFont typeface="Arial"/>
              <a:buNone/>
            </a:pPr>
            <a:r>
              <a:rPr b="1" i="0" lang="en-US" sz="1600" u="none" cap="none" strike="noStrike">
                <a:solidFill>
                  <a:schemeClr val="accent1"/>
                </a:solidFill>
                <a:latin typeface="Catamaran"/>
                <a:ea typeface="Catamaran"/>
                <a:cs typeface="Catamaran"/>
                <a:sym typeface="Catamaran"/>
              </a:rPr>
              <a:t>Data Science 2024 Bootcamp</a:t>
            </a:r>
            <a:endParaRPr b="1" i="0" sz="1800" u="none" cap="none" strike="noStrike">
              <a:solidFill>
                <a:srgbClr val="000000"/>
              </a:solidFill>
              <a:latin typeface="Catamaran"/>
              <a:ea typeface="Catamaran"/>
              <a:cs typeface="Catamaran"/>
              <a:sym typeface="Catamaran"/>
            </a:endParaRPr>
          </a:p>
        </p:txBody>
      </p:sp>
      <p:sp>
        <p:nvSpPr>
          <p:cNvPr id="30" name="Google Shape;30;p1"/>
          <p:cNvSpPr txBox="1"/>
          <p:nvPr/>
        </p:nvSpPr>
        <p:spPr>
          <a:xfrm>
            <a:off x="830400" y="6299625"/>
            <a:ext cx="7215900" cy="25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tamaran"/>
                <a:ea typeface="Catamaran"/>
                <a:cs typeface="Catamaran"/>
                <a:sym typeface="Catamaran"/>
              </a:rPr>
              <a:t>Shihui Feng, Antong Lei</a:t>
            </a:r>
            <a:endParaRPr b="0" i="0" sz="1400" u="none" cap="none" strike="noStrike">
              <a:solidFill>
                <a:srgbClr val="000000"/>
              </a:solidFill>
              <a:latin typeface="Catamaran"/>
              <a:ea typeface="Catamaran"/>
              <a:cs typeface="Catamaran"/>
              <a:sym typeface="Catamar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4313"/>
          </a:schemeClr>
        </a:solidFill>
      </p:bgPr>
    </p:bg>
    <p:spTree>
      <p:nvGrpSpPr>
        <p:cNvPr id="34" name="Shape 34"/>
        <p:cNvGrpSpPr/>
        <p:nvPr/>
      </p:nvGrpSpPr>
      <p:grpSpPr>
        <a:xfrm>
          <a:off x="0" y="0"/>
          <a:ext cx="0" cy="0"/>
          <a:chOff x="0" y="0"/>
          <a:chExt cx="0" cy="0"/>
        </a:xfrm>
      </p:grpSpPr>
      <p:sp>
        <p:nvSpPr>
          <p:cNvPr id="35" name="Google Shape;35;g2c83310895d_0_37"/>
          <p:cNvSpPr txBox="1"/>
          <p:nvPr/>
        </p:nvSpPr>
        <p:spPr>
          <a:xfrm>
            <a:off x="660399" y="1084156"/>
            <a:ext cx="2880000" cy="144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 name="Google Shape;36;g2c83310895d_0_37"/>
          <p:cNvSpPr txBox="1"/>
          <p:nvPr/>
        </p:nvSpPr>
        <p:spPr>
          <a:xfrm>
            <a:off x="660402" y="515350"/>
            <a:ext cx="4253100" cy="554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Catamaran"/>
                <a:ea typeface="Catamaran"/>
                <a:cs typeface="Catamaran"/>
                <a:sym typeface="Catamaran"/>
              </a:rPr>
              <a:t>Table of Contents</a:t>
            </a:r>
            <a:endParaRPr b="1" i="0" sz="3600" u="none" cap="none" strike="noStrike">
              <a:solidFill>
                <a:srgbClr val="000000"/>
              </a:solidFill>
              <a:latin typeface="Catamaran"/>
              <a:ea typeface="Catamaran"/>
              <a:cs typeface="Catamaran"/>
              <a:sym typeface="Catamaran"/>
            </a:endParaRPr>
          </a:p>
        </p:txBody>
      </p:sp>
      <p:sp>
        <p:nvSpPr>
          <p:cNvPr id="37" name="Google Shape;37;g2c83310895d_0_37"/>
          <p:cNvSpPr txBox="1"/>
          <p:nvPr/>
        </p:nvSpPr>
        <p:spPr>
          <a:xfrm>
            <a:off x="2866145" y="844034"/>
            <a:ext cx="685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 name="Google Shape;38;g2c83310895d_0_37"/>
          <p:cNvSpPr txBox="1"/>
          <p:nvPr/>
        </p:nvSpPr>
        <p:spPr>
          <a:xfrm>
            <a:off x="7126900" y="1884718"/>
            <a:ext cx="4392000" cy="7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Catamaran"/>
                <a:ea typeface="Catamaran"/>
                <a:cs typeface="Catamaran"/>
                <a:sym typeface="Catamaran"/>
              </a:rPr>
              <a:t>Goal &amp; </a:t>
            </a:r>
            <a:r>
              <a:rPr b="0" i="0" lang="en-US" sz="1600" u="none" cap="none" strike="noStrike">
                <a:solidFill>
                  <a:schemeClr val="dk1"/>
                </a:solidFill>
                <a:highlight>
                  <a:srgbClr val="F7F7F7"/>
                </a:highlight>
                <a:latin typeface="Catamaran"/>
                <a:ea typeface="Catamaran"/>
                <a:cs typeface="Catamaran"/>
                <a:sym typeface="Catamaran"/>
              </a:rPr>
              <a:t>Hypothesis</a:t>
            </a:r>
            <a:endParaRPr b="0" i="0" sz="1600" u="none" cap="none" strike="noStrike">
              <a:solidFill>
                <a:schemeClr val="dk1"/>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tamaran"/>
              <a:ea typeface="Catamaran"/>
              <a:cs typeface="Catamaran"/>
              <a:sym typeface="Catamaran"/>
            </a:endParaRPr>
          </a:p>
        </p:txBody>
      </p:sp>
      <p:sp>
        <p:nvSpPr>
          <p:cNvPr id="39" name="Google Shape;39;g2c83310895d_0_37"/>
          <p:cNvSpPr txBox="1"/>
          <p:nvPr/>
        </p:nvSpPr>
        <p:spPr>
          <a:xfrm>
            <a:off x="6551475" y="1859318"/>
            <a:ext cx="468000" cy="3600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r>
              <a:rPr b="1" i="0" lang="en-US" sz="2000" u="none" cap="none" strike="noStrike">
                <a:solidFill>
                  <a:schemeClr val="accent1"/>
                </a:solidFill>
                <a:latin typeface="Catamaran"/>
                <a:ea typeface="Catamaran"/>
                <a:cs typeface="Catamaran"/>
                <a:sym typeface="Catamaran"/>
              </a:rPr>
              <a:t>2.</a:t>
            </a:r>
            <a:endParaRPr b="1" i="0" sz="1800" u="none" cap="none" strike="noStrike">
              <a:solidFill>
                <a:srgbClr val="000000"/>
              </a:solidFill>
              <a:latin typeface="Catamaran"/>
              <a:ea typeface="Catamaran"/>
              <a:cs typeface="Catamaran"/>
              <a:sym typeface="Catamaran"/>
            </a:endParaRPr>
          </a:p>
        </p:txBody>
      </p:sp>
      <p:sp>
        <p:nvSpPr>
          <p:cNvPr id="40" name="Google Shape;40;g2c83310895d_0_37"/>
          <p:cNvSpPr txBox="1"/>
          <p:nvPr/>
        </p:nvSpPr>
        <p:spPr>
          <a:xfrm>
            <a:off x="1085942" y="1859318"/>
            <a:ext cx="468000" cy="3600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r>
              <a:rPr b="1" i="0" lang="en-US" sz="2000" u="none" cap="none" strike="noStrike">
                <a:solidFill>
                  <a:schemeClr val="accent1"/>
                </a:solidFill>
                <a:latin typeface="Catamaran"/>
                <a:ea typeface="Catamaran"/>
                <a:cs typeface="Catamaran"/>
                <a:sym typeface="Catamaran"/>
              </a:rPr>
              <a:t>1.</a:t>
            </a:r>
            <a:endParaRPr b="1" i="0" sz="1800" u="none" cap="none" strike="noStrike">
              <a:solidFill>
                <a:srgbClr val="000000"/>
              </a:solidFill>
              <a:latin typeface="Catamaran"/>
              <a:ea typeface="Catamaran"/>
              <a:cs typeface="Catamaran"/>
              <a:sym typeface="Catamaran"/>
            </a:endParaRPr>
          </a:p>
        </p:txBody>
      </p:sp>
      <p:sp>
        <p:nvSpPr>
          <p:cNvPr id="41" name="Google Shape;41;g2c83310895d_0_37"/>
          <p:cNvSpPr txBox="1"/>
          <p:nvPr/>
        </p:nvSpPr>
        <p:spPr>
          <a:xfrm>
            <a:off x="1650139" y="1884718"/>
            <a:ext cx="4392000" cy="7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tamaran"/>
                <a:ea typeface="Catamaran"/>
                <a:cs typeface="Catamaran"/>
                <a:sym typeface="Catamaran"/>
              </a:rPr>
              <a:t>Introduction</a:t>
            </a:r>
            <a:endParaRPr b="0" i="0" sz="1800" u="none" cap="none" strike="noStrike">
              <a:solidFill>
                <a:schemeClr val="dk1"/>
              </a:solidFill>
              <a:latin typeface="Catamaran"/>
              <a:ea typeface="Catamaran"/>
              <a:cs typeface="Catamaran"/>
              <a:sym typeface="Catamaran"/>
            </a:endParaRPr>
          </a:p>
        </p:txBody>
      </p:sp>
      <p:sp>
        <p:nvSpPr>
          <p:cNvPr id="42" name="Google Shape;42;g2c83310895d_0_37"/>
          <p:cNvSpPr txBox="1"/>
          <p:nvPr/>
        </p:nvSpPr>
        <p:spPr>
          <a:xfrm>
            <a:off x="7126900" y="2773413"/>
            <a:ext cx="4392000" cy="7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tamaran"/>
                <a:ea typeface="Catamaran"/>
                <a:cs typeface="Catamaran"/>
                <a:sym typeface="Catamaran"/>
              </a:rPr>
              <a:t>Data Visualization</a:t>
            </a:r>
            <a:endParaRPr b="0" i="0" sz="1800" u="none" cap="none" strike="noStrike">
              <a:solidFill>
                <a:schemeClr val="dk1"/>
              </a:solidFill>
              <a:latin typeface="Catamaran"/>
              <a:ea typeface="Catamaran"/>
              <a:cs typeface="Catamaran"/>
              <a:sym typeface="Catamaran"/>
            </a:endParaRPr>
          </a:p>
        </p:txBody>
      </p:sp>
      <p:sp>
        <p:nvSpPr>
          <p:cNvPr id="43" name="Google Shape;43;g2c83310895d_0_37"/>
          <p:cNvSpPr txBox="1"/>
          <p:nvPr/>
        </p:nvSpPr>
        <p:spPr>
          <a:xfrm>
            <a:off x="1650139" y="2773413"/>
            <a:ext cx="4392000" cy="7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tamaran"/>
                <a:ea typeface="Catamaran"/>
                <a:cs typeface="Catamaran"/>
                <a:sym typeface="Catamaran"/>
              </a:rPr>
              <a:t>Our Process of dataset</a:t>
            </a:r>
            <a:endParaRPr b="0" i="0" sz="1800" u="none" cap="none" strike="noStrike">
              <a:solidFill>
                <a:schemeClr val="dk1"/>
              </a:solidFill>
              <a:latin typeface="Catamaran"/>
              <a:ea typeface="Catamaran"/>
              <a:cs typeface="Catamaran"/>
              <a:sym typeface="Catamaran"/>
            </a:endParaRPr>
          </a:p>
        </p:txBody>
      </p:sp>
      <p:sp>
        <p:nvSpPr>
          <p:cNvPr id="44" name="Google Shape;44;g2c83310895d_0_37"/>
          <p:cNvSpPr txBox="1"/>
          <p:nvPr/>
        </p:nvSpPr>
        <p:spPr>
          <a:xfrm>
            <a:off x="1085942" y="2748013"/>
            <a:ext cx="468000" cy="3600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r>
              <a:rPr b="1" i="0" lang="en-US" sz="2000" u="none" cap="none" strike="noStrike">
                <a:solidFill>
                  <a:schemeClr val="accent1"/>
                </a:solidFill>
                <a:latin typeface="Catamaran"/>
                <a:ea typeface="Catamaran"/>
                <a:cs typeface="Catamaran"/>
                <a:sym typeface="Catamaran"/>
              </a:rPr>
              <a:t>3.</a:t>
            </a:r>
            <a:endParaRPr b="1" i="0" sz="1800" u="none" cap="none" strike="noStrike">
              <a:solidFill>
                <a:srgbClr val="000000"/>
              </a:solidFill>
              <a:latin typeface="Catamaran"/>
              <a:ea typeface="Catamaran"/>
              <a:cs typeface="Catamaran"/>
              <a:sym typeface="Catamaran"/>
            </a:endParaRPr>
          </a:p>
        </p:txBody>
      </p:sp>
      <p:sp>
        <p:nvSpPr>
          <p:cNvPr id="45" name="Google Shape;45;g2c83310895d_0_37"/>
          <p:cNvSpPr txBox="1"/>
          <p:nvPr/>
        </p:nvSpPr>
        <p:spPr>
          <a:xfrm>
            <a:off x="6551475" y="2748013"/>
            <a:ext cx="468000" cy="3600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r>
              <a:rPr b="1" i="0" lang="en-US" sz="2000" u="none" cap="none" strike="noStrike">
                <a:solidFill>
                  <a:schemeClr val="accent1"/>
                </a:solidFill>
                <a:latin typeface="Catamaran"/>
                <a:ea typeface="Catamaran"/>
                <a:cs typeface="Catamaran"/>
                <a:sym typeface="Catamaran"/>
              </a:rPr>
              <a:t>4.</a:t>
            </a:r>
            <a:endParaRPr b="1" i="0" sz="1800" u="none" cap="none" strike="noStrike">
              <a:solidFill>
                <a:srgbClr val="000000"/>
              </a:solidFill>
              <a:latin typeface="Catamaran"/>
              <a:ea typeface="Catamaran"/>
              <a:cs typeface="Catamaran"/>
              <a:sym typeface="Catamaran"/>
            </a:endParaRPr>
          </a:p>
        </p:txBody>
      </p:sp>
      <p:sp>
        <p:nvSpPr>
          <p:cNvPr id="46" name="Google Shape;46;g2c83310895d_0_37"/>
          <p:cNvSpPr txBox="1"/>
          <p:nvPr/>
        </p:nvSpPr>
        <p:spPr>
          <a:xfrm>
            <a:off x="1650139" y="3662108"/>
            <a:ext cx="4392000" cy="7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tamaran"/>
                <a:ea typeface="Catamaran"/>
                <a:cs typeface="Catamaran"/>
                <a:sym typeface="Catamaran"/>
              </a:rPr>
              <a:t>Model Selection</a:t>
            </a:r>
            <a:endParaRPr b="0" i="0" sz="1800" u="none" cap="none" strike="noStrike">
              <a:solidFill>
                <a:schemeClr val="dk1"/>
              </a:solidFill>
              <a:latin typeface="Catamaran"/>
              <a:ea typeface="Catamaran"/>
              <a:cs typeface="Catamaran"/>
              <a:sym typeface="Catamaran"/>
            </a:endParaRPr>
          </a:p>
        </p:txBody>
      </p:sp>
      <p:sp>
        <p:nvSpPr>
          <p:cNvPr id="47" name="Google Shape;47;g2c83310895d_0_37"/>
          <p:cNvSpPr txBox="1"/>
          <p:nvPr/>
        </p:nvSpPr>
        <p:spPr>
          <a:xfrm>
            <a:off x="1085942" y="3636708"/>
            <a:ext cx="468000" cy="3600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r>
              <a:rPr b="1" i="0" lang="en-US" sz="2000" u="none" cap="none" strike="noStrike">
                <a:solidFill>
                  <a:schemeClr val="accent1"/>
                </a:solidFill>
                <a:latin typeface="Catamaran"/>
                <a:ea typeface="Catamaran"/>
                <a:cs typeface="Catamaran"/>
                <a:sym typeface="Catamaran"/>
              </a:rPr>
              <a:t>5.</a:t>
            </a:r>
            <a:endParaRPr b="1" i="0" sz="1800" u="none" cap="none" strike="noStrike">
              <a:solidFill>
                <a:srgbClr val="000000"/>
              </a:solidFill>
              <a:latin typeface="Catamaran"/>
              <a:ea typeface="Catamaran"/>
              <a:cs typeface="Catamaran"/>
              <a:sym typeface="Catamaran"/>
            </a:endParaRPr>
          </a:p>
        </p:txBody>
      </p:sp>
      <p:sp>
        <p:nvSpPr>
          <p:cNvPr id="48" name="Google Shape;48;g2c83310895d_0_37"/>
          <p:cNvSpPr txBox="1"/>
          <p:nvPr/>
        </p:nvSpPr>
        <p:spPr>
          <a:xfrm>
            <a:off x="6551475" y="3636708"/>
            <a:ext cx="468000" cy="36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Catamaran"/>
              <a:ea typeface="Catamaran"/>
              <a:cs typeface="Catamaran"/>
              <a:sym typeface="Catamaran"/>
            </a:endParaRPr>
          </a:p>
        </p:txBody>
      </p:sp>
      <p:sp>
        <p:nvSpPr>
          <p:cNvPr id="49" name="Google Shape;49;g2c83310895d_0_37"/>
          <p:cNvSpPr txBox="1"/>
          <p:nvPr/>
        </p:nvSpPr>
        <p:spPr>
          <a:xfrm rot="-5400000">
            <a:off x="10620978" y="5562216"/>
            <a:ext cx="1185300" cy="1151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0" name="Google Shape;50;g2c83310895d_0_37"/>
          <p:cNvPicPr preferRelativeResize="0"/>
          <p:nvPr/>
        </p:nvPicPr>
        <p:blipFill rotWithShape="1">
          <a:blip r:embed="rId3">
            <a:alphaModFix/>
          </a:blip>
          <a:srcRect b="0" l="0" r="0" t="0"/>
          <a:stretch/>
        </p:blipFill>
        <p:spPr>
          <a:xfrm>
            <a:off x="6842575" y="3402438"/>
            <a:ext cx="4590802" cy="3059787"/>
          </a:xfrm>
          <a:prstGeom prst="rect">
            <a:avLst/>
          </a:prstGeom>
          <a:noFill/>
          <a:ln>
            <a:noFill/>
          </a:ln>
        </p:spPr>
      </p:pic>
      <p:sp>
        <p:nvSpPr>
          <p:cNvPr id="51" name="Google Shape;51;g2c83310895d_0_37"/>
          <p:cNvSpPr txBox="1"/>
          <p:nvPr/>
        </p:nvSpPr>
        <p:spPr>
          <a:xfrm>
            <a:off x="1085942" y="4627908"/>
            <a:ext cx="468000" cy="3600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r>
              <a:rPr b="1" i="0" lang="en-US" sz="2000" u="none" cap="none" strike="noStrike">
                <a:solidFill>
                  <a:schemeClr val="accent1"/>
                </a:solidFill>
                <a:latin typeface="Catamaran"/>
                <a:ea typeface="Catamaran"/>
                <a:cs typeface="Catamaran"/>
                <a:sym typeface="Catamaran"/>
              </a:rPr>
              <a:t>6.</a:t>
            </a:r>
            <a:endParaRPr b="1" i="0" sz="1800" u="none" cap="none" strike="noStrike">
              <a:solidFill>
                <a:srgbClr val="000000"/>
              </a:solidFill>
              <a:latin typeface="Catamaran"/>
              <a:ea typeface="Catamaran"/>
              <a:cs typeface="Catamaran"/>
              <a:sym typeface="Catamaran"/>
            </a:endParaRPr>
          </a:p>
        </p:txBody>
      </p:sp>
      <p:sp>
        <p:nvSpPr>
          <p:cNvPr id="52" name="Google Shape;52;g2c83310895d_0_37"/>
          <p:cNvSpPr txBox="1"/>
          <p:nvPr/>
        </p:nvSpPr>
        <p:spPr>
          <a:xfrm>
            <a:off x="1650150" y="4627899"/>
            <a:ext cx="4392000" cy="7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tamaran"/>
                <a:ea typeface="Catamaran"/>
                <a:cs typeface="Catamaran"/>
                <a:sym typeface="Catamaran"/>
              </a:rPr>
              <a:t>Conclusion &amp; Discussion</a:t>
            </a:r>
            <a:endParaRPr b="0" i="0" sz="1800" u="none" cap="none" strike="noStrike">
              <a:solidFill>
                <a:schemeClr val="dk1"/>
              </a:solidFill>
              <a:latin typeface="Catamaran"/>
              <a:ea typeface="Catamaran"/>
              <a:cs typeface="Catamaran"/>
              <a:sym typeface="Catamar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3921"/>
          </a:schemeClr>
        </a:solidFill>
      </p:bgPr>
    </p:bg>
    <p:spTree>
      <p:nvGrpSpPr>
        <p:cNvPr id="56" name="Shape 56"/>
        <p:cNvGrpSpPr/>
        <p:nvPr/>
      </p:nvGrpSpPr>
      <p:grpSpPr>
        <a:xfrm>
          <a:off x="0" y="0"/>
          <a:ext cx="0" cy="0"/>
          <a:chOff x="0" y="0"/>
          <a:chExt cx="0" cy="0"/>
        </a:xfrm>
      </p:grpSpPr>
      <p:sp>
        <p:nvSpPr>
          <p:cNvPr id="57" name="Google Shape;57;p3"/>
          <p:cNvSpPr txBox="1"/>
          <p:nvPr/>
        </p:nvSpPr>
        <p:spPr>
          <a:xfrm>
            <a:off x="0" y="0"/>
            <a:ext cx="12306300" cy="699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8" name="Google Shape;58;p3"/>
          <p:cNvPicPr preferRelativeResize="0"/>
          <p:nvPr/>
        </p:nvPicPr>
        <p:blipFill rotWithShape="1">
          <a:blip r:embed="rId3">
            <a:alphaModFix amt="15000"/>
          </a:blip>
          <a:srcRect b="-1" l="0" r="0" t="20071"/>
          <a:stretch/>
        </p:blipFill>
        <p:spPr>
          <a:xfrm>
            <a:off x="-381000" y="-214312"/>
            <a:ext cx="12954000" cy="7286625"/>
          </a:xfrm>
          <a:prstGeom prst="rect">
            <a:avLst/>
          </a:prstGeom>
          <a:noFill/>
          <a:ln>
            <a:noFill/>
          </a:ln>
        </p:spPr>
      </p:pic>
      <p:grpSp>
        <p:nvGrpSpPr>
          <p:cNvPr id="59" name="Google Shape;59;p3"/>
          <p:cNvGrpSpPr/>
          <p:nvPr/>
        </p:nvGrpSpPr>
        <p:grpSpPr>
          <a:xfrm>
            <a:off x="7235" y="17004"/>
            <a:ext cx="12192000" cy="6840996"/>
            <a:chOff x="7235" y="17004"/>
            <a:chExt cx="12192000" cy="6840996"/>
          </a:xfrm>
        </p:grpSpPr>
        <p:cxnSp>
          <p:nvCxnSpPr>
            <p:cNvPr id="60" name="Google Shape;60;p3"/>
            <p:cNvCxnSpPr/>
            <p:nvPr/>
          </p:nvCxnSpPr>
          <p:spPr>
            <a:xfrm>
              <a:off x="7235" y="415284"/>
              <a:ext cx="12192000" cy="1"/>
            </a:xfrm>
            <a:prstGeom prst="straightConnector1">
              <a:avLst/>
            </a:prstGeom>
            <a:noFill/>
            <a:ln cap="flat" cmpd="sng" w="12700">
              <a:solidFill>
                <a:srgbClr val="7F7F7F">
                  <a:alpha val="23921"/>
                </a:srgbClr>
              </a:solidFill>
              <a:prstDash val="solid"/>
              <a:miter lim="8000"/>
              <a:headEnd len="sm" w="sm" type="none"/>
              <a:tailEnd len="sm" w="sm" type="none"/>
            </a:ln>
          </p:spPr>
        </p:cxnSp>
        <p:cxnSp>
          <p:nvCxnSpPr>
            <p:cNvPr id="61" name="Google Shape;61;p3"/>
            <p:cNvCxnSpPr/>
            <p:nvPr/>
          </p:nvCxnSpPr>
          <p:spPr>
            <a:xfrm flipH="1" rot="10800000">
              <a:off x="11903226" y="17004"/>
              <a:ext cx="2592" cy="6840996"/>
            </a:xfrm>
            <a:prstGeom prst="straightConnector1">
              <a:avLst/>
            </a:prstGeom>
            <a:noFill/>
            <a:ln cap="flat" cmpd="sng" w="12700">
              <a:solidFill>
                <a:srgbClr val="7F7F7F">
                  <a:alpha val="23921"/>
                </a:srgbClr>
              </a:solidFill>
              <a:prstDash val="solid"/>
              <a:miter lim="8000"/>
              <a:headEnd len="sm" w="sm" type="none"/>
              <a:tailEnd len="sm" w="sm" type="none"/>
            </a:ln>
          </p:spPr>
        </p:cxnSp>
        <p:cxnSp>
          <p:nvCxnSpPr>
            <p:cNvPr id="62" name="Google Shape;62;p3"/>
            <p:cNvCxnSpPr/>
            <p:nvPr/>
          </p:nvCxnSpPr>
          <p:spPr>
            <a:xfrm>
              <a:off x="7235" y="6481744"/>
              <a:ext cx="12192000" cy="1"/>
            </a:xfrm>
            <a:prstGeom prst="straightConnector1">
              <a:avLst/>
            </a:prstGeom>
            <a:noFill/>
            <a:ln cap="flat" cmpd="sng" w="12700">
              <a:solidFill>
                <a:srgbClr val="7F7F7F">
                  <a:alpha val="23921"/>
                </a:srgbClr>
              </a:solidFill>
              <a:prstDash val="solid"/>
              <a:miter lim="8000"/>
              <a:headEnd len="sm" w="sm" type="none"/>
              <a:tailEnd len="sm" w="sm" type="none"/>
            </a:ln>
          </p:spPr>
        </p:cxnSp>
        <p:cxnSp>
          <p:nvCxnSpPr>
            <p:cNvPr id="63" name="Google Shape;63;p3"/>
            <p:cNvCxnSpPr/>
            <p:nvPr/>
          </p:nvCxnSpPr>
          <p:spPr>
            <a:xfrm flipH="1" rot="10800000">
              <a:off x="582979" y="17004"/>
              <a:ext cx="2592" cy="6840995"/>
            </a:xfrm>
            <a:prstGeom prst="straightConnector1">
              <a:avLst/>
            </a:prstGeom>
            <a:noFill/>
            <a:ln cap="flat" cmpd="sng" w="12700">
              <a:solidFill>
                <a:srgbClr val="7F7F7F">
                  <a:alpha val="23921"/>
                </a:srgbClr>
              </a:solidFill>
              <a:prstDash val="solid"/>
              <a:miter lim="8000"/>
              <a:headEnd len="sm" w="sm" type="none"/>
              <a:tailEnd len="sm" w="sm" type="none"/>
            </a:ln>
          </p:spPr>
        </p:cxnSp>
      </p:grpSp>
      <p:sp>
        <p:nvSpPr>
          <p:cNvPr id="64" name="Google Shape;64;p3"/>
          <p:cNvSpPr/>
          <p:nvPr/>
        </p:nvSpPr>
        <p:spPr>
          <a:xfrm>
            <a:off x="542793" y="420489"/>
            <a:ext cx="608776" cy="608577"/>
          </a:xfrm>
          <a:custGeom>
            <a:rect b="b" l="l" r="r" t="t"/>
            <a:pathLst>
              <a:path extrusionOk="0" h="20595" w="20596">
                <a:moveTo>
                  <a:pt x="0" y="0"/>
                </a:moveTo>
                <a:lnTo>
                  <a:pt x="0" y="11107"/>
                </a:lnTo>
                <a:lnTo>
                  <a:pt x="94" y="11107"/>
                </a:lnTo>
                <a:cubicBezTo>
                  <a:pt x="279" y="13466"/>
                  <a:pt x="1231" y="15777"/>
                  <a:pt x="3034" y="17581"/>
                </a:cubicBezTo>
                <a:cubicBezTo>
                  <a:pt x="7052" y="21600"/>
                  <a:pt x="13565" y="21600"/>
                  <a:pt x="17582" y="17581"/>
                </a:cubicBezTo>
                <a:cubicBezTo>
                  <a:pt x="21600" y="13562"/>
                  <a:pt x="21600" y="7041"/>
                  <a:pt x="17582" y="3022"/>
                </a:cubicBezTo>
                <a:cubicBezTo>
                  <a:pt x="15747" y="1186"/>
                  <a:pt x="13391" y="239"/>
                  <a:pt x="10990" y="81"/>
                </a:cubicBezTo>
                <a:lnTo>
                  <a:pt x="10990" y="0"/>
                </a:lnTo>
                <a:lnTo>
                  <a:pt x="0" y="0"/>
                </a:lnTo>
                <a:close/>
                <a:moveTo>
                  <a:pt x="4404" y="10496"/>
                </a:moveTo>
                <a:lnTo>
                  <a:pt x="16213" y="10496"/>
                </a:lnTo>
                <a:cubicBezTo>
                  <a:pt x="16214" y="12009"/>
                  <a:pt x="15634" y="13519"/>
                  <a:pt x="14481" y="14673"/>
                </a:cubicBezTo>
                <a:cubicBezTo>
                  <a:pt x="12176" y="16979"/>
                  <a:pt x="8441" y="16979"/>
                  <a:pt x="6136" y="14673"/>
                </a:cubicBezTo>
                <a:cubicBezTo>
                  <a:pt x="4982" y="13519"/>
                  <a:pt x="4403" y="12009"/>
                  <a:pt x="4404" y="10496"/>
                </a:cubicBezTo>
                <a:close/>
              </a:path>
            </a:pathLst>
          </a:cu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 name="Google Shape;65;p3"/>
          <p:cNvSpPr txBox="1"/>
          <p:nvPr/>
        </p:nvSpPr>
        <p:spPr>
          <a:xfrm>
            <a:off x="5406224" y="2345284"/>
            <a:ext cx="5785007" cy="20307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accent1"/>
                </a:solidFill>
                <a:latin typeface="Catamaran"/>
                <a:ea typeface="Catamaran"/>
                <a:cs typeface="Catamaran"/>
                <a:sym typeface="Catamaran"/>
              </a:rPr>
              <a:t>Introduction</a:t>
            </a:r>
            <a:endParaRPr b="1" i="0" sz="1800" u="none" cap="none" strike="noStrike">
              <a:solidFill>
                <a:srgbClr val="000000"/>
              </a:solidFill>
              <a:latin typeface="Catamaran"/>
              <a:ea typeface="Catamaran"/>
              <a:cs typeface="Catamaran"/>
              <a:sym typeface="Catamaran"/>
            </a:endParaRPr>
          </a:p>
        </p:txBody>
      </p:sp>
      <p:sp>
        <p:nvSpPr>
          <p:cNvPr id="66" name="Google Shape;66;p3"/>
          <p:cNvSpPr txBox="1"/>
          <p:nvPr/>
        </p:nvSpPr>
        <p:spPr>
          <a:xfrm rot="-5400000">
            <a:off x="-16860" y="2756059"/>
            <a:ext cx="1185294" cy="1151569"/>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 name="Google Shape;67;p3"/>
          <p:cNvSpPr txBox="1"/>
          <p:nvPr/>
        </p:nvSpPr>
        <p:spPr>
          <a:xfrm>
            <a:off x="2030388" y="1919063"/>
            <a:ext cx="2825563" cy="2825563"/>
          </a:xfrm>
          <a:prstGeom prst="rect">
            <a:avLst/>
          </a:prstGeom>
          <a:solidFill>
            <a:schemeClr val="accent1"/>
          </a:solidFill>
          <a:ln>
            <a:noFill/>
          </a:ln>
        </p:spPr>
        <p:txBody>
          <a:bodyPr anchorCtr="0" anchor="ctr" bIns="108000" lIns="108000" spcFirstLastPara="1" rIns="108000" wrap="square" tIns="108000">
            <a:noAutofit/>
          </a:bodyPr>
          <a:lstStyle/>
          <a:p>
            <a:pPr indent="0" lvl="0" marL="0" marR="0" rtl="0" algn="ctr">
              <a:lnSpc>
                <a:spcPct val="100000"/>
              </a:lnSpc>
              <a:spcBef>
                <a:spcPts val="0"/>
              </a:spcBef>
              <a:spcAft>
                <a:spcPts val="0"/>
              </a:spcAft>
              <a:buClr>
                <a:srgbClr val="000000"/>
              </a:buClr>
              <a:buSzPts val="7658"/>
              <a:buFont typeface="Arial"/>
              <a:buNone/>
            </a:pPr>
            <a:r>
              <a:rPr b="1" i="0" lang="en-US" sz="7658" u="none" cap="none" strike="noStrike">
                <a:solidFill>
                  <a:srgbClr val="FFFFFF"/>
                </a:solidFill>
                <a:latin typeface="Catamaran"/>
                <a:ea typeface="Catamaran"/>
                <a:cs typeface="Catamaran"/>
                <a:sym typeface="Catamaran"/>
              </a:rPr>
              <a:t>01</a:t>
            </a:r>
            <a:endParaRPr b="1" i="0" sz="1800" u="none" cap="none" strike="noStrike">
              <a:solidFill>
                <a:srgbClr val="000000"/>
              </a:solidFill>
              <a:latin typeface="Catamaran"/>
              <a:ea typeface="Catamaran"/>
              <a:cs typeface="Catamaran"/>
              <a:sym typeface="Catamaran"/>
            </a:endParaRPr>
          </a:p>
        </p:txBody>
      </p:sp>
      <p:grpSp>
        <p:nvGrpSpPr>
          <p:cNvPr id="68" name="Google Shape;68;p3"/>
          <p:cNvGrpSpPr/>
          <p:nvPr/>
        </p:nvGrpSpPr>
        <p:grpSpPr>
          <a:xfrm>
            <a:off x="2603430" y="5162498"/>
            <a:ext cx="1679478" cy="300458"/>
            <a:chOff x="2603430" y="5162498"/>
            <a:chExt cx="1679478" cy="300458"/>
          </a:xfrm>
        </p:grpSpPr>
        <p:sp>
          <p:nvSpPr>
            <p:cNvPr id="69" name="Google Shape;69;p3"/>
            <p:cNvSpPr/>
            <p:nvPr/>
          </p:nvSpPr>
          <p:spPr>
            <a:xfrm flipH="1">
              <a:off x="3139976" y="5282838"/>
              <a:ext cx="59777" cy="59777"/>
            </a:xfrm>
            <a:prstGeom prst="ellipse">
              <a:avLst/>
            </a:pr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 name="Google Shape;70;p3"/>
            <p:cNvSpPr/>
            <p:nvPr/>
          </p:nvSpPr>
          <p:spPr>
            <a:xfrm flipH="1">
              <a:off x="3276628"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 name="Google Shape;71;p3"/>
            <p:cNvSpPr/>
            <p:nvPr/>
          </p:nvSpPr>
          <p:spPr>
            <a:xfrm flipH="1">
              <a:off x="3413281"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 name="Google Shape;72;p3"/>
            <p:cNvSpPr/>
            <p:nvPr/>
          </p:nvSpPr>
          <p:spPr>
            <a:xfrm flipH="1">
              <a:off x="3549933"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 name="Google Shape;73;p3"/>
            <p:cNvSpPr/>
            <p:nvPr/>
          </p:nvSpPr>
          <p:spPr>
            <a:xfrm flipH="1">
              <a:off x="3686586"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 name="Google Shape;74;p3"/>
            <p:cNvSpPr txBox="1"/>
            <p:nvPr/>
          </p:nvSpPr>
          <p:spPr>
            <a:xfrm flipH="1">
              <a:off x="3982450" y="5162498"/>
              <a:ext cx="300458" cy="30045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75" name="Google Shape;75;p3"/>
            <p:cNvCxnSpPr/>
            <p:nvPr/>
          </p:nvCxnSpPr>
          <p:spPr>
            <a:xfrm>
              <a:off x="4070609" y="5312726"/>
              <a:ext cx="124140" cy="0"/>
            </a:xfrm>
            <a:prstGeom prst="straightConnector1">
              <a:avLst/>
            </a:prstGeom>
            <a:noFill/>
            <a:ln cap="flat" cmpd="sng" w="12700">
              <a:solidFill>
                <a:srgbClr val="FFFFFF"/>
              </a:solidFill>
              <a:prstDash val="solid"/>
              <a:miter lim="8000"/>
              <a:headEnd len="sm" w="sm" type="none"/>
              <a:tailEnd len="sm" w="sm" type="none"/>
            </a:ln>
          </p:spPr>
        </p:cxnSp>
        <p:sp>
          <p:nvSpPr>
            <p:cNvPr id="76" name="Google Shape;76;p3"/>
            <p:cNvSpPr/>
            <p:nvPr/>
          </p:nvSpPr>
          <p:spPr>
            <a:xfrm rot="-2700000">
              <a:off x="4099827" y="5269352"/>
              <a:ext cx="86749" cy="86749"/>
            </a:xfrm>
            <a:custGeom>
              <a:rect b="b" l="l" r="r" t="t"/>
              <a:pathLst>
                <a:path extrusionOk="0" h="252248" w="252248">
                  <a:moveTo>
                    <a:pt x="252248" y="0"/>
                  </a:moveTo>
                  <a:lnTo>
                    <a:pt x="252248" y="252248"/>
                  </a:lnTo>
                  <a:lnTo>
                    <a:pt x="0" y="252248"/>
                  </a:lnTo>
                </a:path>
              </a:pathLst>
            </a:custGeom>
            <a:noFill/>
            <a:ln cap="flat" cmpd="sng" w="12700">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 name="Google Shape;77;p3"/>
            <p:cNvSpPr txBox="1"/>
            <p:nvPr/>
          </p:nvSpPr>
          <p:spPr>
            <a:xfrm>
              <a:off x="2603430" y="5162498"/>
              <a:ext cx="300458" cy="300458"/>
            </a:xfrm>
            <a:prstGeom prst="rect">
              <a:avLst/>
            </a:prstGeom>
            <a:solidFill>
              <a:srgbClr val="7F7F7F">
                <a:alpha val="14117"/>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78" name="Google Shape;78;p3"/>
            <p:cNvCxnSpPr/>
            <p:nvPr/>
          </p:nvCxnSpPr>
          <p:spPr>
            <a:xfrm rot="10800000">
              <a:off x="2691590" y="5312726"/>
              <a:ext cx="124140" cy="0"/>
            </a:xfrm>
            <a:prstGeom prst="straightConnector1">
              <a:avLst/>
            </a:prstGeom>
            <a:noFill/>
            <a:ln cap="flat" cmpd="sng" w="12700">
              <a:solidFill>
                <a:schemeClr val="dk1"/>
              </a:solidFill>
              <a:prstDash val="solid"/>
              <a:miter lim="8000"/>
              <a:headEnd len="sm" w="sm" type="none"/>
              <a:tailEnd len="sm" w="sm" type="none"/>
            </a:ln>
          </p:spPr>
        </p:cxnSp>
        <p:sp>
          <p:nvSpPr>
            <p:cNvPr id="79" name="Google Shape;79;p3"/>
            <p:cNvSpPr/>
            <p:nvPr/>
          </p:nvSpPr>
          <p:spPr>
            <a:xfrm flipH="1" rot="2700000">
              <a:off x="2699763" y="5269352"/>
              <a:ext cx="86749" cy="86749"/>
            </a:xfrm>
            <a:custGeom>
              <a:rect b="b" l="l" r="r" t="t"/>
              <a:pathLst>
                <a:path extrusionOk="0" h="252248" w="252248">
                  <a:moveTo>
                    <a:pt x="252248" y="0"/>
                  </a:moveTo>
                  <a:lnTo>
                    <a:pt x="252248" y="252248"/>
                  </a:lnTo>
                  <a:lnTo>
                    <a:pt x="0" y="252248"/>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3921"/>
          </a:schemeClr>
        </a:solidFill>
      </p:bgPr>
    </p:bg>
    <p:spTree>
      <p:nvGrpSpPr>
        <p:cNvPr id="83" name="Shape 83"/>
        <p:cNvGrpSpPr/>
        <p:nvPr/>
      </p:nvGrpSpPr>
      <p:grpSpPr>
        <a:xfrm>
          <a:off x="0" y="0"/>
          <a:ext cx="0" cy="0"/>
          <a:chOff x="0" y="0"/>
          <a:chExt cx="0" cy="0"/>
        </a:xfrm>
      </p:grpSpPr>
      <p:sp>
        <p:nvSpPr>
          <p:cNvPr id="84" name="Google Shape;84;p4"/>
          <p:cNvSpPr txBox="1"/>
          <p:nvPr/>
        </p:nvSpPr>
        <p:spPr>
          <a:xfrm>
            <a:off x="0" y="0"/>
            <a:ext cx="12306300" cy="699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5" name="Google Shape;85;p4"/>
          <p:cNvPicPr preferRelativeResize="0"/>
          <p:nvPr/>
        </p:nvPicPr>
        <p:blipFill rotWithShape="1">
          <a:blip r:embed="rId3">
            <a:alphaModFix amt="15000"/>
          </a:blip>
          <a:srcRect b="-1" l="0" r="0" t="20071"/>
          <a:stretch/>
        </p:blipFill>
        <p:spPr>
          <a:xfrm>
            <a:off x="-381000" y="-214312"/>
            <a:ext cx="12954000" cy="7286625"/>
          </a:xfrm>
          <a:prstGeom prst="rect">
            <a:avLst/>
          </a:prstGeom>
          <a:noFill/>
          <a:ln>
            <a:noFill/>
          </a:ln>
        </p:spPr>
      </p:pic>
      <p:grpSp>
        <p:nvGrpSpPr>
          <p:cNvPr id="86" name="Google Shape;86;p4"/>
          <p:cNvGrpSpPr/>
          <p:nvPr/>
        </p:nvGrpSpPr>
        <p:grpSpPr>
          <a:xfrm>
            <a:off x="5797074" y="6550320"/>
            <a:ext cx="597852" cy="615360"/>
            <a:chOff x="5797074" y="6550320"/>
            <a:chExt cx="597852" cy="615360"/>
          </a:xfrm>
        </p:grpSpPr>
        <p:sp>
          <p:nvSpPr>
            <p:cNvPr id="87" name="Google Shape;87;p4"/>
            <p:cNvSpPr txBox="1"/>
            <p:nvPr/>
          </p:nvSpPr>
          <p:spPr>
            <a:xfrm rot="5400000">
              <a:off x="5788320" y="6559074"/>
              <a:ext cx="615360" cy="597852"/>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 name="Google Shape;88;p4"/>
            <p:cNvSpPr/>
            <p:nvPr/>
          </p:nvSpPr>
          <p:spPr>
            <a:xfrm>
              <a:off x="5988050" y="6647010"/>
              <a:ext cx="215900" cy="11430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89" name="Google Shape;89;p4"/>
          <p:cNvPicPr preferRelativeResize="0"/>
          <p:nvPr/>
        </p:nvPicPr>
        <p:blipFill rotWithShape="1">
          <a:blip r:embed="rId4">
            <a:alphaModFix/>
          </a:blip>
          <a:srcRect b="0" l="0" r="0" t="0"/>
          <a:stretch/>
        </p:blipFill>
        <p:spPr>
          <a:xfrm>
            <a:off x="992750" y="1405238"/>
            <a:ext cx="2877561" cy="2158171"/>
          </a:xfrm>
          <a:prstGeom prst="rect">
            <a:avLst/>
          </a:prstGeom>
          <a:noFill/>
          <a:ln>
            <a:noFill/>
          </a:ln>
        </p:spPr>
      </p:pic>
      <p:pic>
        <p:nvPicPr>
          <p:cNvPr id="90" name="Google Shape;90;p4"/>
          <p:cNvPicPr preferRelativeResize="0"/>
          <p:nvPr/>
        </p:nvPicPr>
        <p:blipFill rotWithShape="1">
          <a:blip r:embed="rId5">
            <a:alphaModFix/>
          </a:blip>
          <a:srcRect b="0" l="0" r="0" t="0"/>
          <a:stretch/>
        </p:blipFill>
        <p:spPr>
          <a:xfrm>
            <a:off x="4059857" y="1389776"/>
            <a:ext cx="2877561" cy="2158171"/>
          </a:xfrm>
          <a:prstGeom prst="rect">
            <a:avLst/>
          </a:prstGeom>
          <a:noFill/>
          <a:ln>
            <a:noFill/>
          </a:ln>
        </p:spPr>
      </p:pic>
      <p:pic>
        <p:nvPicPr>
          <p:cNvPr id="91" name="Google Shape;91;p4"/>
          <p:cNvPicPr preferRelativeResize="0"/>
          <p:nvPr/>
        </p:nvPicPr>
        <p:blipFill rotWithShape="1">
          <a:blip r:embed="rId6">
            <a:alphaModFix/>
          </a:blip>
          <a:srcRect b="0" l="0" r="0" t="0"/>
          <a:stretch/>
        </p:blipFill>
        <p:spPr>
          <a:xfrm>
            <a:off x="7126964" y="1389775"/>
            <a:ext cx="4060288" cy="2158171"/>
          </a:xfrm>
          <a:prstGeom prst="rect">
            <a:avLst/>
          </a:prstGeom>
          <a:noFill/>
          <a:ln>
            <a:noFill/>
          </a:ln>
        </p:spPr>
      </p:pic>
      <p:pic>
        <p:nvPicPr>
          <p:cNvPr id="92" name="Google Shape;92;p4"/>
          <p:cNvPicPr preferRelativeResize="0"/>
          <p:nvPr/>
        </p:nvPicPr>
        <p:blipFill rotWithShape="1">
          <a:blip r:embed="rId7">
            <a:alphaModFix/>
          </a:blip>
          <a:srcRect b="0" l="0" r="0" t="0"/>
          <a:stretch/>
        </p:blipFill>
        <p:spPr>
          <a:xfrm>
            <a:off x="992750" y="3741821"/>
            <a:ext cx="5944115" cy="2158171"/>
          </a:xfrm>
          <a:prstGeom prst="rect">
            <a:avLst/>
          </a:prstGeom>
          <a:noFill/>
          <a:ln>
            <a:noFill/>
          </a:ln>
        </p:spPr>
      </p:pic>
      <p:sp>
        <p:nvSpPr>
          <p:cNvPr id="93" name="Google Shape;93;p4"/>
          <p:cNvSpPr txBox="1"/>
          <p:nvPr/>
        </p:nvSpPr>
        <p:spPr>
          <a:xfrm>
            <a:off x="10572207" y="5947700"/>
            <a:ext cx="1619794" cy="28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 name="Google Shape;94;p4"/>
          <p:cNvSpPr txBox="1"/>
          <p:nvPr/>
        </p:nvSpPr>
        <p:spPr>
          <a:xfrm>
            <a:off x="7126964" y="3748673"/>
            <a:ext cx="4059588" cy="184868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US" sz="1400" u="none" cap="none" strike="noStrike">
                <a:solidFill>
                  <a:schemeClr val="dk1"/>
                </a:solidFill>
                <a:latin typeface="Catamaran"/>
                <a:ea typeface="Catamaran"/>
                <a:cs typeface="Catamaran"/>
                <a:sym typeface="Catamaran"/>
              </a:rPr>
              <a:t>The main idea of this project is to use the </a:t>
            </a:r>
            <a:r>
              <a:rPr b="1" i="0" lang="en-US" sz="1400" u="none" cap="none" strike="noStrike">
                <a:solidFill>
                  <a:schemeClr val="accent1"/>
                </a:solidFill>
                <a:latin typeface="Catamaran"/>
                <a:ea typeface="Catamaran"/>
                <a:cs typeface="Catamaran"/>
                <a:sym typeface="Catamaran"/>
              </a:rPr>
              <a:t>NYC Airbnb Open Data</a:t>
            </a:r>
            <a:r>
              <a:rPr b="0" i="0" lang="en-US" sz="1400" u="none" cap="none" strike="noStrike">
                <a:solidFill>
                  <a:schemeClr val="dk1"/>
                </a:solidFill>
                <a:latin typeface="Catamaran"/>
                <a:ea typeface="Catamaran"/>
                <a:cs typeface="Catamaran"/>
                <a:sym typeface="Catamaran"/>
              </a:rPr>
              <a:t> to conduct a comprehensive </a:t>
            </a:r>
            <a:r>
              <a:rPr b="1" i="0" lang="en-US" sz="1400" u="none" cap="none" strike="noStrike">
                <a:solidFill>
                  <a:schemeClr val="accent1"/>
                </a:solidFill>
                <a:latin typeface="Catamaran"/>
                <a:ea typeface="Catamaran"/>
                <a:cs typeface="Catamaran"/>
                <a:sym typeface="Catamaran"/>
              </a:rPr>
              <a:t>analysis</a:t>
            </a:r>
            <a:r>
              <a:rPr b="0" i="0" lang="en-US" sz="1400" u="none" cap="none" strike="noStrike">
                <a:solidFill>
                  <a:schemeClr val="dk1"/>
                </a:solidFill>
                <a:latin typeface="Catamaran"/>
                <a:ea typeface="Catamaran"/>
                <a:cs typeface="Catamaran"/>
                <a:sym typeface="Catamaran"/>
              </a:rPr>
              <a:t> that will yield actionable insights for both hosts and potential renters. </a:t>
            </a:r>
            <a:endParaRPr b="0" i="0" sz="1400" u="none" cap="none" strike="noStrike">
              <a:solidFill>
                <a:schemeClr val="dk1"/>
              </a:solidFill>
              <a:latin typeface="Catamaran"/>
              <a:ea typeface="Catamaran"/>
              <a:cs typeface="Catamaran"/>
              <a:sym typeface="Catamaran"/>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Catamaran"/>
              <a:ea typeface="Catamaran"/>
              <a:cs typeface="Catamaran"/>
              <a:sym typeface="Catamaran"/>
            </a:endParaRPr>
          </a:p>
          <a:p>
            <a:pPr indent="0" lvl="0" marL="0" marR="0" rtl="0" algn="l">
              <a:lnSpc>
                <a:spcPct val="115000"/>
              </a:lnSpc>
              <a:spcBef>
                <a:spcPts val="0"/>
              </a:spcBef>
              <a:spcAft>
                <a:spcPts val="0"/>
              </a:spcAft>
              <a:buClr>
                <a:schemeClr val="dk1"/>
              </a:buClr>
              <a:buSzPts val="1100"/>
              <a:buFont typeface="Arial"/>
              <a:buNone/>
            </a:pPr>
            <a:r>
              <a:rPr b="0" i="0" lang="en-US" sz="1400" u="none" cap="none" strike="noStrike">
                <a:solidFill>
                  <a:schemeClr val="dk1"/>
                </a:solidFill>
                <a:latin typeface="Catamaran"/>
                <a:ea typeface="Catamaran"/>
                <a:cs typeface="Catamaran"/>
                <a:sym typeface="Catamaran"/>
              </a:rPr>
              <a:t>By delving into Airbnb's extensive dataset, we hope to uncover patterns, trends, and factors </a:t>
            </a:r>
            <a:r>
              <a:rPr b="1" i="0" lang="en-US" sz="1400" u="none" cap="none" strike="noStrike">
                <a:solidFill>
                  <a:schemeClr val="accent1"/>
                </a:solidFill>
                <a:latin typeface="Catamaran"/>
                <a:ea typeface="Catamaran"/>
                <a:cs typeface="Catamaran"/>
                <a:sym typeface="Catamaran"/>
              </a:rPr>
              <a:t>influencing rental prices </a:t>
            </a:r>
            <a:r>
              <a:rPr b="0" i="0" lang="en-US" sz="1400" u="none" cap="none" strike="noStrike">
                <a:solidFill>
                  <a:schemeClr val="dk1"/>
                </a:solidFill>
                <a:latin typeface="Catamaran"/>
                <a:ea typeface="Catamaran"/>
                <a:cs typeface="Catamaran"/>
                <a:sym typeface="Catamaran"/>
              </a:rPr>
              <a:t>and </a:t>
            </a:r>
            <a:r>
              <a:rPr b="1" i="0" lang="en-US" sz="1400" u="none" cap="none" strike="noStrike">
                <a:solidFill>
                  <a:schemeClr val="accent1"/>
                </a:solidFill>
                <a:latin typeface="Catamaran"/>
                <a:ea typeface="Catamaran"/>
                <a:cs typeface="Catamaran"/>
                <a:sym typeface="Catamaran"/>
              </a:rPr>
              <a:t>demand</a:t>
            </a:r>
            <a:r>
              <a:rPr b="0" i="0" lang="en-US" sz="1400" u="none" cap="none" strike="noStrike">
                <a:solidFill>
                  <a:schemeClr val="dk1"/>
                </a:solidFill>
                <a:latin typeface="Catamaran"/>
                <a:ea typeface="Catamaran"/>
                <a:cs typeface="Catamaran"/>
                <a:sym typeface="Catamaran"/>
              </a:rPr>
              <a:t> in New York City's dynamic accommodation market.</a:t>
            </a:r>
            <a:endParaRPr b="0" i="0" sz="1400" u="none" cap="none" strike="noStrike">
              <a:solidFill>
                <a:schemeClr val="dk1"/>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262626"/>
              </a:solidFill>
              <a:latin typeface="Catamaran"/>
              <a:ea typeface="Catamaran"/>
              <a:cs typeface="Catamaran"/>
              <a:sym typeface="Catamaran"/>
            </a:endParaRPr>
          </a:p>
        </p:txBody>
      </p:sp>
      <p:sp>
        <p:nvSpPr>
          <p:cNvPr id="95" name="Google Shape;95;p4"/>
          <p:cNvSpPr txBox="1"/>
          <p:nvPr/>
        </p:nvSpPr>
        <p:spPr>
          <a:xfrm>
            <a:off x="780300" y="664142"/>
            <a:ext cx="10745700" cy="4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accent1"/>
                </a:solidFill>
                <a:latin typeface="Catamaran"/>
                <a:ea typeface="Catamaran"/>
                <a:cs typeface="Catamaran"/>
                <a:sym typeface="Catamaran"/>
              </a:rPr>
              <a:t>Overview of the Project</a:t>
            </a:r>
            <a:endParaRPr b="1" i="0" sz="3600" u="none" cap="none" strike="noStrike">
              <a:solidFill>
                <a:schemeClr val="accent1"/>
              </a:solidFill>
              <a:latin typeface="Catamaran"/>
              <a:ea typeface="Catamaran"/>
              <a:cs typeface="Catamaran"/>
              <a:sym typeface="Catamaran"/>
            </a:endParaRPr>
          </a:p>
        </p:txBody>
      </p:sp>
      <p:sp>
        <p:nvSpPr>
          <p:cNvPr id="96" name="Google Shape;96;p4"/>
          <p:cNvSpPr/>
          <p:nvPr/>
        </p:nvSpPr>
        <p:spPr>
          <a:xfrm>
            <a:off x="264152" y="277385"/>
            <a:ext cx="360000" cy="285696"/>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4313"/>
          </a:schemeClr>
        </a:solidFill>
      </p:bgPr>
    </p:bg>
    <p:spTree>
      <p:nvGrpSpPr>
        <p:cNvPr id="100" name="Shape 100"/>
        <p:cNvGrpSpPr/>
        <p:nvPr/>
      </p:nvGrpSpPr>
      <p:grpSpPr>
        <a:xfrm>
          <a:off x="0" y="0"/>
          <a:ext cx="0" cy="0"/>
          <a:chOff x="0" y="0"/>
          <a:chExt cx="0" cy="0"/>
        </a:xfrm>
      </p:grpSpPr>
      <p:sp>
        <p:nvSpPr>
          <p:cNvPr id="101" name="Google Shape;101;g2c81de69ad5_0_0"/>
          <p:cNvSpPr txBox="1"/>
          <p:nvPr/>
        </p:nvSpPr>
        <p:spPr>
          <a:xfrm>
            <a:off x="0" y="0"/>
            <a:ext cx="12306300" cy="6997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2" name="Google Shape;102;g2c81de69ad5_0_0"/>
          <p:cNvPicPr preferRelativeResize="0"/>
          <p:nvPr/>
        </p:nvPicPr>
        <p:blipFill rotWithShape="1">
          <a:blip r:embed="rId3">
            <a:alphaModFix amt="15000"/>
          </a:blip>
          <a:srcRect b="0" l="0" r="0" t="20070"/>
          <a:stretch/>
        </p:blipFill>
        <p:spPr>
          <a:xfrm>
            <a:off x="-381000" y="-214312"/>
            <a:ext cx="12954000" cy="7286625"/>
          </a:xfrm>
          <a:prstGeom prst="rect">
            <a:avLst/>
          </a:prstGeom>
          <a:noFill/>
          <a:ln>
            <a:noFill/>
          </a:ln>
        </p:spPr>
      </p:pic>
      <p:grpSp>
        <p:nvGrpSpPr>
          <p:cNvPr id="103" name="Google Shape;103;g2c81de69ad5_0_0"/>
          <p:cNvGrpSpPr/>
          <p:nvPr/>
        </p:nvGrpSpPr>
        <p:grpSpPr>
          <a:xfrm>
            <a:off x="5797026" y="6550320"/>
            <a:ext cx="597900" cy="615300"/>
            <a:chOff x="5797026" y="6550320"/>
            <a:chExt cx="597900" cy="615300"/>
          </a:xfrm>
        </p:grpSpPr>
        <p:sp>
          <p:nvSpPr>
            <p:cNvPr id="104" name="Google Shape;104;g2c81de69ad5_0_0"/>
            <p:cNvSpPr txBox="1"/>
            <p:nvPr/>
          </p:nvSpPr>
          <p:spPr>
            <a:xfrm rot="5400000">
              <a:off x="5788326" y="6559020"/>
              <a:ext cx="615300" cy="5979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 name="Google Shape;105;g2c81de69ad5_0_0"/>
            <p:cNvSpPr/>
            <p:nvPr/>
          </p:nvSpPr>
          <p:spPr>
            <a:xfrm>
              <a:off x="5988050" y="6647010"/>
              <a:ext cx="216000" cy="11430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06" name="Google Shape;106;g2c81de69ad5_0_0"/>
          <p:cNvSpPr txBox="1"/>
          <p:nvPr/>
        </p:nvSpPr>
        <p:spPr>
          <a:xfrm>
            <a:off x="10572207" y="5947700"/>
            <a:ext cx="1619700" cy="28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 name="Google Shape;107;g2c81de69ad5_0_0"/>
          <p:cNvSpPr txBox="1"/>
          <p:nvPr/>
        </p:nvSpPr>
        <p:spPr>
          <a:xfrm>
            <a:off x="780300" y="664142"/>
            <a:ext cx="10745700" cy="4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accent1"/>
                </a:solidFill>
                <a:latin typeface="Catamaran"/>
                <a:ea typeface="Catamaran"/>
                <a:cs typeface="Catamaran"/>
                <a:sym typeface="Catamaran"/>
              </a:rPr>
              <a:t>Company Background</a:t>
            </a:r>
            <a:endParaRPr b="1" i="0" sz="3600" u="none" cap="none" strike="noStrike">
              <a:solidFill>
                <a:schemeClr val="accent1"/>
              </a:solidFill>
              <a:latin typeface="Catamaran"/>
              <a:ea typeface="Catamaran"/>
              <a:cs typeface="Catamaran"/>
              <a:sym typeface="Catamaran"/>
            </a:endParaRPr>
          </a:p>
        </p:txBody>
      </p:sp>
      <p:sp>
        <p:nvSpPr>
          <p:cNvPr id="108" name="Google Shape;108;g2c81de69ad5_0_0"/>
          <p:cNvSpPr/>
          <p:nvPr/>
        </p:nvSpPr>
        <p:spPr>
          <a:xfrm>
            <a:off x="264152" y="277385"/>
            <a:ext cx="360094" cy="285770"/>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9" name="Google Shape;109;g2c81de69ad5_0_0"/>
          <p:cNvPicPr preferRelativeResize="0"/>
          <p:nvPr/>
        </p:nvPicPr>
        <p:blipFill rotWithShape="1">
          <a:blip r:embed="rId4">
            <a:alphaModFix/>
          </a:blip>
          <a:srcRect b="0" l="0" r="0" t="0"/>
          <a:stretch/>
        </p:blipFill>
        <p:spPr>
          <a:xfrm>
            <a:off x="815025" y="1588750"/>
            <a:ext cx="5579901" cy="2537835"/>
          </a:xfrm>
          <a:prstGeom prst="rect">
            <a:avLst/>
          </a:prstGeom>
          <a:noFill/>
          <a:ln>
            <a:noFill/>
          </a:ln>
        </p:spPr>
      </p:pic>
      <p:sp>
        <p:nvSpPr>
          <p:cNvPr id="110" name="Google Shape;110;g2c81de69ad5_0_0"/>
          <p:cNvSpPr txBox="1"/>
          <p:nvPr/>
        </p:nvSpPr>
        <p:spPr>
          <a:xfrm>
            <a:off x="6551475" y="1420050"/>
            <a:ext cx="5150100" cy="23826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5000"/>
              </a:lnSpc>
              <a:spcBef>
                <a:spcPts val="0"/>
              </a:spcBef>
              <a:spcAft>
                <a:spcPts val="0"/>
              </a:spcAft>
              <a:buClr>
                <a:schemeClr val="accent1"/>
              </a:buClr>
              <a:buSzPts val="1400"/>
              <a:buFont typeface="Catamaran"/>
              <a:buChar char="●"/>
            </a:pPr>
            <a:r>
              <a:rPr b="0" i="0" lang="en-US" sz="1400" u="none" cap="none" strike="noStrike">
                <a:solidFill>
                  <a:schemeClr val="dk1"/>
                </a:solidFill>
                <a:latin typeface="Catamaran"/>
                <a:ea typeface="Catamaran"/>
                <a:cs typeface="Catamaran"/>
                <a:sym typeface="Catamaran"/>
              </a:rPr>
              <a:t>Online platform that allows people to </a:t>
            </a:r>
            <a:r>
              <a:rPr b="1" i="0" lang="en-US" sz="1400" u="none" cap="none" strike="noStrike">
                <a:solidFill>
                  <a:schemeClr val="accent1"/>
                </a:solidFill>
                <a:latin typeface="Catamaran"/>
                <a:ea typeface="Catamaran"/>
                <a:cs typeface="Catamaran"/>
                <a:sym typeface="Catamaran"/>
              </a:rPr>
              <a:t>rent out </a:t>
            </a:r>
            <a:r>
              <a:rPr b="0" i="0" lang="en-US" sz="1400" u="none" cap="none" strike="noStrike">
                <a:solidFill>
                  <a:schemeClr val="dk1"/>
                </a:solidFill>
                <a:latin typeface="Catamaran"/>
                <a:ea typeface="Catamaran"/>
                <a:cs typeface="Catamaran"/>
                <a:sym typeface="Catamaran"/>
              </a:rPr>
              <a:t>their </a:t>
            </a:r>
            <a:r>
              <a:rPr b="1" i="0" lang="en-US" sz="1400" u="none" cap="none" strike="noStrike">
                <a:solidFill>
                  <a:schemeClr val="accent1"/>
                </a:solidFill>
                <a:latin typeface="Catamaran"/>
                <a:ea typeface="Catamaran"/>
                <a:cs typeface="Catamaran"/>
                <a:sym typeface="Catamaran"/>
              </a:rPr>
              <a:t>homes</a:t>
            </a:r>
            <a:r>
              <a:rPr b="0" i="0" lang="en-US" sz="1400" u="none" cap="none" strike="noStrike">
                <a:solidFill>
                  <a:schemeClr val="dk1"/>
                </a:solidFill>
                <a:latin typeface="Catamaran"/>
                <a:ea typeface="Catamaran"/>
                <a:cs typeface="Catamaran"/>
                <a:sym typeface="Catamaran"/>
              </a:rPr>
              <a:t> or </a:t>
            </a:r>
            <a:r>
              <a:rPr b="1" i="0" lang="en-US" sz="1400" u="none" cap="none" strike="noStrike">
                <a:solidFill>
                  <a:schemeClr val="accent1"/>
                </a:solidFill>
                <a:latin typeface="Catamaran"/>
                <a:ea typeface="Catamaran"/>
                <a:cs typeface="Catamaran"/>
                <a:sym typeface="Catamaran"/>
              </a:rPr>
              <a:t>spare rooms</a:t>
            </a:r>
            <a:r>
              <a:rPr b="0" i="0" lang="en-US" sz="1400" u="none" cap="none" strike="noStrike">
                <a:solidFill>
                  <a:schemeClr val="dk1"/>
                </a:solidFill>
                <a:latin typeface="Catamaran"/>
                <a:ea typeface="Catamaran"/>
                <a:cs typeface="Catamaran"/>
                <a:sym typeface="Catamaran"/>
              </a:rPr>
              <a:t> to guests looking for </a:t>
            </a:r>
            <a:r>
              <a:rPr b="1" i="0" lang="en-US" sz="1400" u="none" cap="none" strike="noStrike">
                <a:solidFill>
                  <a:schemeClr val="accent1"/>
                </a:solidFill>
                <a:latin typeface="Catamaran"/>
                <a:ea typeface="Catamaran"/>
                <a:cs typeface="Catamaran"/>
                <a:sym typeface="Catamaran"/>
              </a:rPr>
              <a:t>short-term lodging</a:t>
            </a:r>
            <a:r>
              <a:rPr b="0" i="0" lang="en-US" sz="1400" u="none" cap="none" strike="noStrike">
                <a:solidFill>
                  <a:schemeClr val="dk1"/>
                </a:solidFill>
                <a:latin typeface="Catamaran"/>
                <a:ea typeface="Catamaran"/>
                <a:cs typeface="Catamaran"/>
                <a:sym typeface="Catamaran"/>
              </a:rPr>
              <a:t>.</a:t>
            </a:r>
            <a:endParaRPr b="0" i="0" sz="1400" u="none" cap="none" strike="noStrike">
              <a:solidFill>
                <a:schemeClr val="dk1"/>
              </a:solidFill>
              <a:latin typeface="Catamaran"/>
              <a:ea typeface="Catamaran"/>
              <a:cs typeface="Catamaran"/>
              <a:sym typeface="Catamaran"/>
            </a:endParaRPr>
          </a:p>
          <a:p>
            <a:pPr indent="0" lvl="0" marL="457200" marR="0" rtl="0" algn="l">
              <a:lnSpc>
                <a:spcPct val="115000"/>
              </a:lnSpc>
              <a:spcBef>
                <a:spcPts val="0"/>
              </a:spcBef>
              <a:spcAft>
                <a:spcPts val="0"/>
              </a:spcAft>
              <a:buClr>
                <a:srgbClr val="000000"/>
              </a:buClr>
              <a:buSzPts val="1400"/>
              <a:buFont typeface="Arial"/>
              <a:buNone/>
            </a:pPr>
            <a:r>
              <a:rPr b="0" i="0" lang="en-US" sz="1400" u="none" cap="none" strike="noStrike">
                <a:solidFill>
                  <a:schemeClr val="dk1"/>
                </a:solidFill>
                <a:latin typeface="Catamaran"/>
                <a:ea typeface="Catamaran"/>
                <a:cs typeface="Catamaran"/>
                <a:sym typeface="Catamaran"/>
              </a:rPr>
              <a:t> </a:t>
            </a:r>
            <a:endParaRPr b="0" i="0" sz="1400" u="none" cap="none" strike="noStrike">
              <a:solidFill>
                <a:schemeClr val="dk1"/>
              </a:solidFill>
              <a:latin typeface="Catamaran"/>
              <a:ea typeface="Catamaran"/>
              <a:cs typeface="Catamaran"/>
              <a:sym typeface="Catamaran"/>
            </a:endParaRPr>
          </a:p>
          <a:p>
            <a:pPr indent="-317500" lvl="0" marL="457200" marR="0" rtl="0" algn="l">
              <a:lnSpc>
                <a:spcPct val="115000"/>
              </a:lnSpc>
              <a:spcBef>
                <a:spcPts val="0"/>
              </a:spcBef>
              <a:spcAft>
                <a:spcPts val="0"/>
              </a:spcAft>
              <a:buClr>
                <a:schemeClr val="accent1"/>
              </a:buClr>
              <a:buSzPts val="1400"/>
              <a:buFont typeface="Catamaran"/>
              <a:buChar char="●"/>
            </a:pPr>
            <a:r>
              <a:rPr b="0" i="0" lang="en-US" sz="1400" u="none" cap="none" strike="noStrike">
                <a:solidFill>
                  <a:schemeClr val="dk1"/>
                </a:solidFill>
                <a:latin typeface="Catamaran"/>
                <a:ea typeface="Catamaran"/>
                <a:cs typeface="Catamaran"/>
                <a:sym typeface="Catamaran"/>
              </a:rPr>
              <a:t>Founded in </a:t>
            </a:r>
            <a:r>
              <a:rPr b="1" i="0" lang="en-US" sz="1400" u="none" cap="none" strike="noStrike">
                <a:solidFill>
                  <a:schemeClr val="accent1"/>
                </a:solidFill>
                <a:latin typeface="Catamaran"/>
                <a:ea typeface="Catamaran"/>
                <a:cs typeface="Catamaran"/>
                <a:sym typeface="Catamaran"/>
              </a:rPr>
              <a:t>2008</a:t>
            </a:r>
            <a:r>
              <a:rPr b="0" i="0" lang="en-US" sz="1400" u="none" cap="none" strike="noStrike">
                <a:solidFill>
                  <a:schemeClr val="dk1"/>
                </a:solidFill>
                <a:latin typeface="Catamaran"/>
                <a:ea typeface="Catamaran"/>
                <a:cs typeface="Catamaran"/>
                <a:sym typeface="Catamaran"/>
              </a:rPr>
              <a:t>, has rapidly transformed the hospitality industry by offering an alternative to traditional hotels. </a:t>
            </a:r>
            <a:endParaRPr b="0" i="0" sz="1400" u="none" cap="none" strike="noStrike">
              <a:solidFill>
                <a:schemeClr val="dk1"/>
              </a:solidFill>
              <a:latin typeface="Catamaran"/>
              <a:ea typeface="Catamaran"/>
              <a:cs typeface="Catamaran"/>
              <a:sym typeface="Catamaran"/>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Catamaran"/>
              <a:ea typeface="Catamaran"/>
              <a:cs typeface="Catamaran"/>
              <a:sym typeface="Catamaran"/>
            </a:endParaRPr>
          </a:p>
          <a:p>
            <a:pPr indent="-317500" lvl="0" marL="457200" marR="0" rtl="0" algn="l">
              <a:lnSpc>
                <a:spcPct val="115000"/>
              </a:lnSpc>
              <a:spcBef>
                <a:spcPts val="0"/>
              </a:spcBef>
              <a:spcAft>
                <a:spcPts val="0"/>
              </a:spcAft>
              <a:buClr>
                <a:schemeClr val="accent1"/>
              </a:buClr>
              <a:buSzPts val="1400"/>
              <a:buFont typeface="Catamaran"/>
              <a:buChar char="●"/>
            </a:pPr>
            <a:r>
              <a:rPr b="0" i="0" lang="en-US" sz="1400" u="none" cap="none" strike="noStrike">
                <a:solidFill>
                  <a:schemeClr val="dk1"/>
                </a:solidFill>
                <a:latin typeface="Catamaran"/>
                <a:ea typeface="Catamaran"/>
                <a:cs typeface="Catamaran"/>
                <a:sym typeface="Catamaran"/>
              </a:rPr>
              <a:t>The platform connects </a:t>
            </a:r>
            <a:r>
              <a:rPr b="1" i="0" lang="en-US" sz="1400" u="none" cap="none" strike="noStrike">
                <a:solidFill>
                  <a:schemeClr val="accent1"/>
                </a:solidFill>
                <a:latin typeface="Catamaran"/>
                <a:ea typeface="Catamaran"/>
                <a:cs typeface="Catamaran"/>
                <a:sym typeface="Catamaran"/>
              </a:rPr>
              <a:t>hosts</a:t>
            </a:r>
            <a:r>
              <a:rPr b="0" i="0" lang="en-US" sz="1400" u="none" cap="none" strike="noStrike">
                <a:solidFill>
                  <a:schemeClr val="dk1"/>
                </a:solidFill>
                <a:latin typeface="Catamaran"/>
                <a:ea typeface="Catamaran"/>
                <a:cs typeface="Catamaran"/>
                <a:sym typeface="Catamaran"/>
              </a:rPr>
              <a:t> and </a:t>
            </a:r>
            <a:r>
              <a:rPr b="1" i="0" lang="en-US" sz="1400" u="none" cap="none" strike="noStrike">
                <a:solidFill>
                  <a:schemeClr val="accent1"/>
                </a:solidFill>
                <a:latin typeface="Catamaran"/>
                <a:ea typeface="Catamaran"/>
                <a:cs typeface="Catamaran"/>
                <a:sym typeface="Catamaran"/>
              </a:rPr>
              <a:t>guests</a:t>
            </a:r>
            <a:r>
              <a:rPr b="0" i="0" lang="en-US" sz="1400" u="none" cap="none" strike="noStrike">
                <a:solidFill>
                  <a:schemeClr val="dk1"/>
                </a:solidFill>
                <a:latin typeface="Catamaran"/>
                <a:ea typeface="Catamaran"/>
                <a:cs typeface="Catamaran"/>
                <a:sym typeface="Catamaran"/>
              </a:rPr>
              <a:t>, providing a variety of accommodation options such as apartments, houses, and unique stays.</a:t>
            </a:r>
            <a:endParaRPr b="0" i="0" sz="1400" u="none" cap="none" strike="noStrike">
              <a:solidFill>
                <a:srgbClr val="000000"/>
              </a:solidFill>
              <a:latin typeface="Catamaran"/>
              <a:ea typeface="Catamaran"/>
              <a:cs typeface="Catamaran"/>
              <a:sym typeface="Catamaran"/>
            </a:endParaRPr>
          </a:p>
        </p:txBody>
      </p:sp>
      <p:sp>
        <p:nvSpPr>
          <p:cNvPr id="111" name="Google Shape;111;g2c81de69ad5_0_0"/>
          <p:cNvSpPr txBox="1"/>
          <p:nvPr/>
        </p:nvSpPr>
        <p:spPr>
          <a:xfrm>
            <a:off x="815025" y="4326775"/>
            <a:ext cx="5580000" cy="228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1" i="1" lang="en-US" sz="1400" u="sng" cap="none" strike="noStrike">
                <a:solidFill>
                  <a:schemeClr val="accent1"/>
                </a:solidFill>
                <a:latin typeface="Catamaran"/>
                <a:ea typeface="Catamaran"/>
                <a:cs typeface="Catamaran"/>
                <a:sym typeface="Catamaran"/>
              </a:rPr>
              <a:t>Importance of Airbnb in NYC:</a:t>
            </a:r>
            <a:endParaRPr b="1" i="1" sz="1400" u="sng" cap="none" strike="noStrike">
              <a:solidFill>
                <a:schemeClr val="accent1"/>
              </a:solidFill>
              <a:latin typeface="Catamaran"/>
              <a:ea typeface="Catamaran"/>
              <a:cs typeface="Catamaran"/>
              <a:sym typeface="Catamaran"/>
            </a:endParaRPr>
          </a:p>
          <a:p>
            <a:pPr indent="-317500" lvl="0" marL="457200" marR="0" rtl="0" algn="l">
              <a:lnSpc>
                <a:spcPct val="115000"/>
              </a:lnSpc>
              <a:spcBef>
                <a:spcPts val="1200"/>
              </a:spcBef>
              <a:spcAft>
                <a:spcPts val="0"/>
              </a:spcAft>
              <a:buClr>
                <a:schemeClr val="accent1"/>
              </a:buClr>
              <a:buSzPts val="1400"/>
              <a:buFont typeface="Catamaran"/>
              <a:buChar char="●"/>
            </a:pPr>
            <a:r>
              <a:rPr b="0" i="0" lang="en-US" sz="1400" u="none" cap="none" strike="noStrike">
                <a:solidFill>
                  <a:schemeClr val="dk1"/>
                </a:solidFill>
                <a:latin typeface="Catamaran"/>
                <a:ea typeface="Catamaran"/>
                <a:cs typeface="Catamaran"/>
                <a:sym typeface="Catamaran"/>
              </a:rPr>
              <a:t>Economic impact</a:t>
            </a:r>
            <a:endParaRPr b="0" i="0" sz="1400" u="none" cap="none" strike="noStrike">
              <a:solidFill>
                <a:schemeClr val="dk1"/>
              </a:solidFill>
              <a:latin typeface="Catamaran"/>
              <a:ea typeface="Catamaran"/>
              <a:cs typeface="Catamaran"/>
              <a:sym typeface="Catamaran"/>
            </a:endParaRPr>
          </a:p>
          <a:p>
            <a:pPr indent="-317500" lvl="0" marL="457200" marR="0" rtl="0" algn="l">
              <a:lnSpc>
                <a:spcPct val="115000"/>
              </a:lnSpc>
              <a:spcBef>
                <a:spcPts val="0"/>
              </a:spcBef>
              <a:spcAft>
                <a:spcPts val="0"/>
              </a:spcAft>
              <a:buClr>
                <a:schemeClr val="accent1"/>
              </a:buClr>
              <a:buSzPts val="1400"/>
              <a:buFont typeface="Catamaran"/>
              <a:buChar char="●"/>
            </a:pPr>
            <a:r>
              <a:rPr b="0" i="0" lang="en-US" sz="1400" u="none" cap="none" strike="noStrike">
                <a:solidFill>
                  <a:schemeClr val="dk1"/>
                </a:solidFill>
                <a:latin typeface="Catamaran"/>
                <a:ea typeface="Catamaran"/>
                <a:cs typeface="Catamaran"/>
                <a:sym typeface="Catamaran"/>
              </a:rPr>
              <a:t>Flexibility and affordability</a:t>
            </a:r>
            <a:endParaRPr b="0" i="0" sz="1400" u="none" cap="none" strike="noStrike">
              <a:solidFill>
                <a:schemeClr val="dk1"/>
              </a:solidFill>
              <a:latin typeface="Catamaran"/>
              <a:ea typeface="Catamaran"/>
              <a:cs typeface="Catamaran"/>
              <a:sym typeface="Catamaran"/>
            </a:endParaRPr>
          </a:p>
          <a:p>
            <a:pPr indent="-317500" lvl="0" marL="457200" marR="0" rtl="0" algn="l">
              <a:lnSpc>
                <a:spcPct val="115000"/>
              </a:lnSpc>
              <a:spcBef>
                <a:spcPts val="0"/>
              </a:spcBef>
              <a:spcAft>
                <a:spcPts val="0"/>
              </a:spcAft>
              <a:buClr>
                <a:schemeClr val="accent1"/>
              </a:buClr>
              <a:buSzPts val="1400"/>
              <a:buFont typeface="Catamaran"/>
              <a:buChar char="●"/>
            </a:pPr>
            <a:r>
              <a:rPr b="0" i="0" lang="en-US" sz="1400" u="none" cap="none" strike="noStrike">
                <a:solidFill>
                  <a:schemeClr val="dk1"/>
                </a:solidFill>
                <a:latin typeface="Catamaran"/>
                <a:ea typeface="Catamaran"/>
                <a:cs typeface="Catamaran"/>
                <a:sym typeface="Catamaran"/>
              </a:rPr>
              <a:t>Accommodation diversity</a:t>
            </a:r>
            <a:endParaRPr b="0" i="0" sz="1400" u="none" cap="none" strike="noStrike">
              <a:solidFill>
                <a:schemeClr val="dk1"/>
              </a:solidFill>
              <a:latin typeface="Catamaran"/>
              <a:ea typeface="Catamaran"/>
              <a:cs typeface="Catamaran"/>
              <a:sym typeface="Catamaran"/>
            </a:endParaRPr>
          </a:p>
          <a:p>
            <a:pPr indent="-317500" lvl="0" marL="457200" marR="0" rtl="0" algn="l">
              <a:lnSpc>
                <a:spcPct val="115000"/>
              </a:lnSpc>
              <a:spcBef>
                <a:spcPts val="0"/>
              </a:spcBef>
              <a:spcAft>
                <a:spcPts val="0"/>
              </a:spcAft>
              <a:buClr>
                <a:schemeClr val="accent1"/>
              </a:buClr>
              <a:buSzPts val="1400"/>
              <a:buFont typeface="Catamaran"/>
              <a:buChar char="●"/>
            </a:pPr>
            <a:r>
              <a:rPr b="0" i="0" lang="en-US" sz="1400" u="none" cap="none" strike="noStrike">
                <a:solidFill>
                  <a:schemeClr val="dk1"/>
                </a:solidFill>
                <a:latin typeface="Catamaran"/>
                <a:ea typeface="Catamaran"/>
                <a:cs typeface="Catamaran"/>
                <a:sym typeface="Catamaran"/>
              </a:rPr>
              <a:t>Neighborhood revitalization</a:t>
            </a:r>
            <a:endParaRPr b="0" i="0" sz="1400" u="none" cap="none" strike="noStrike">
              <a:solidFill>
                <a:schemeClr val="dk1"/>
              </a:solidFill>
              <a:latin typeface="Catamaran"/>
              <a:ea typeface="Catamaran"/>
              <a:cs typeface="Catamaran"/>
              <a:sym typeface="Catamaran"/>
            </a:endParaRPr>
          </a:p>
          <a:p>
            <a:pPr indent="-317500" lvl="1" marL="914400" marR="0" rtl="0" algn="l">
              <a:lnSpc>
                <a:spcPct val="115000"/>
              </a:lnSpc>
              <a:spcBef>
                <a:spcPts val="0"/>
              </a:spcBef>
              <a:spcAft>
                <a:spcPts val="0"/>
              </a:spcAft>
              <a:buClr>
                <a:schemeClr val="dk1"/>
              </a:buClr>
              <a:buSzPts val="1400"/>
              <a:buFont typeface="Catamaran"/>
              <a:buChar char="○"/>
            </a:pPr>
            <a:r>
              <a:rPr b="0" i="0" lang="en-US" sz="1400" u="none" cap="none" strike="noStrike">
                <a:solidFill>
                  <a:schemeClr val="dk1"/>
                </a:solidFill>
                <a:latin typeface="Catamaran"/>
                <a:ea typeface="Catamaran"/>
                <a:cs typeface="Catamaran"/>
                <a:sym typeface="Catamaran"/>
              </a:rPr>
              <a:t>Encouraging tourism beyond traditional tourist areas, benefiting local businesses and communities.</a:t>
            </a:r>
            <a:endParaRPr b="0" i="0" sz="1400" u="none" cap="none" strike="noStrike">
              <a:solidFill>
                <a:schemeClr val="dk1"/>
              </a:solidFill>
              <a:latin typeface="Catamaran"/>
              <a:ea typeface="Catamaran"/>
              <a:cs typeface="Catamaran"/>
              <a:sym typeface="Catamaran"/>
            </a:endParaRPr>
          </a:p>
          <a:p>
            <a:pPr indent="-317500" lvl="0" marL="457200" marR="0" rtl="0" algn="l">
              <a:lnSpc>
                <a:spcPct val="115000"/>
              </a:lnSpc>
              <a:spcBef>
                <a:spcPts val="0"/>
              </a:spcBef>
              <a:spcAft>
                <a:spcPts val="0"/>
              </a:spcAft>
              <a:buClr>
                <a:schemeClr val="accent1"/>
              </a:buClr>
              <a:buSzPts val="1400"/>
              <a:buFont typeface="Catamaran"/>
              <a:buChar char="●"/>
            </a:pPr>
            <a:r>
              <a:rPr b="0" i="0" lang="en-US" sz="1400" u="none" cap="none" strike="noStrike">
                <a:solidFill>
                  <a:schemeClr val="dk1"/>
                </a:solidFill>
                <a:latin typeface="Catamaran"/>
                <a:ea typeface="Catamaran"/>
                <a:cs typeface="Catamaran"/>
                <a:sym typeface="Catamaran"/>
              </a:rPr>
              <a:t>Cultural exchange</a:t>
            </a:r>
            <a:endParaRPr b="0" i="0" sz="1400" u="none" cap="none" strike="noStrike">
              <a:solidFill>
                <a:srgbClr val="000000"/>
              </a:solidFill>
              <a:latin typeface="Catamaran"/>
              <a:ea typeface="Catamaran"/>
              <a:cs typeface="Catamaran"/>
              <a:sym typeface="Catamaran"/>
            </a:endParaRPr>
          </a:p>
        </p:txBody>
      </p:sp>
      <p:pic>
        <p:nvPicPr>
          <p:cNvPr id="112" name="Google Shape;112;g2c81de69ad5_0_0"/>
          <p:cNvPicPr preferRelativeResize="0"/>
          <p:nvPr/>
        </p:nvPicPr>
        <p:blipFill rotWithShape="1">
          <a:blip r:embed="rId5">
            <a:alphaModFix/>
          </a:blip>
          <a:srcRect b="0" l="0" r="0" t="0"/>
          <a:stretch/>
        </p:blipFill>
        <p:spPr>
          <a:xfrm>
            <a:off x="7513563" y="4021475"/>
            <a:ext cx="3716383" cy="24770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3921"/>
          </a:schemeClr>
        </a:solidFill>
      </p:bgPr>
    </p:bg>
    <p:spTree>
      <p:nvGrpSpPr>
        <p:cNvPr id="116" name="Shape 116"/>
        <p:cNvGrpSpPr/>
        <p:nvPr/>
      </p:nvGrpSpPr>
      <p:grpSpPr>
        <a:xfrm>
          <a:off x="0" y="0"/>
          <a:ext cx="0" cy="0"/>
          <a:chOff x="0" y="0"/>
          <a:chExt cx="0" cy="0"/>
        </a:xfrm>
      </p:grpSpPr>
      <p:sp>
        <p:nvSpPr>
          <p:cNvPr id="117" name="Google Shape;117;p6"/>
          <p:cNvSpPr txBox="1"/>
          <p:nvPr/>
        </p:nvSpPr>
        <p:spPr>
          <a:xfrm>
            <a:off x="0" y="0"/>
            <a:ext cx="12306300" cy="699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18" name="Google Shape;118;p6"/>
          <p:cNvPicPr preferRelativeResize="0"/>
          <p:nvPr/>
        </p:nvPicPr>
        <p:blipFill rotWithShape="1">
          <a:blip r:embed="rId3">
            <a:alphaModFix amt="15000"/>
          </a:blip>
          <a:srcRect b="-1" l="0" r="0" t="20071"/>
          <a:stretch/>
        </p:blipFill>
        <p:spPr>
          <a:xfrm>
            <a:off x="-381000" y="-214312"/>
            <a:ext cx="12954000" cy="7286625"/>
          </a:xfrm>
          <a:prstGeom prst="rect">
            <a:avLst/>
          </a:prstGeom>
          <a:noFill/>
          <a:ln>
            <a:noFill/>
          </a:ln>
        </p:spPr>
      </p:pic>
      <p:grpSp>
        <p:nvGrpSpPr>
          <p:cNvPr id="119" name="Google Shape;119;p6"/>
          <p:cNvGrpSpPr/>
          <p:nvPr/>
        </p:nvGrpSpPr>
        <p:grpSpPr>
          <a:xfrm>
            <a:off x="7235" y="17004"/>
            <a:ext cx="12192000" cy="6840996"/>
            <a:chOff x="7235" y="17004"/>
            <a:chExt cx="12192000" cy="6840996"/>
          </a:xfrm>
        </p:grpSpPr>
        <p:cxnSp>
          <p:nvCxnSpPr>
            <p:cNvPr id="120" name="Google Shape;120;p6"/>
            <p:cNvCxnSpPr/>
            <p:nvPr/>
          </p:nvCxnSpPr>
          <p:spPr>
            <a:xfrm>
              <a:off x="7235" y="415284"/>
              <a:ext cx="12192000" cy="1"/>
            </a:xfrm>
            <a:prstGeom prst="straightConnector1">
              <a:avLst/>
            </a:prstGeom>
            <a:noFill/>
            <a:ln cap="flat" cmpd="sng" w="12700">
              <a:solidFill>
                <a:srgbClr val="7F7F7F">
                  <a:alpha val="23921"/>
                </a:srgbClr>
              </a:solidFill>
              <a:prstDash val="solid"/>
              <a:miter lim="8000"/>
              <a:headEnd len="sm" w="sm" type="none"/>
              <a:tailEnd len="sm" w="sm" type="none"/>
            </a:ln>
          </p:spPr>
        </p:cxnSp>
        <p:cxnSp>
          <p:nvCxnSpPr>
            <p:cNvPr id="121" name="Google Shape;121;p6"/>
            <p:cNvCxnSpPr/>
            <p:nvPr/>
          </p:nvCxnSpPr>
          <p:spPr>
            <a:xfrm flipH="1" rot="10800000">
              <a:off x="11903226" y="17004"/>
              <a:ext cx="2592" cy="6840996"/>
            </a:xfrm>
            <a:prstGeom prst="straightConnector1">
              <a:avLst/>
            </a:prstGeom>
            <a:noFill/>
            <a:ln cap="flat" cmpd="sng" w="12700">
              <a:solidFill>
                <a:srgbClr val="7F7F7F">
                  <a:alpha val="23921"/>
                </a:srgbClr>
              </a:solidFill>
              <a:prstDash val="solid"/>
              <a:miter lim="8000"/>
              <a:headEnd len="sm" w="sm" type="none"/>
              <a:tailEnd len="sm" w="sm" type="none"/>
            </a:ln>
          </p:spPr>
        </p:cxnSp>
        <p:cxnSp>
          <p:nvCxnSpPr>
            <p:cNvPr id="122" name="Google Shape;122;p6"/>
            <p:cNvCxnSpPr/>
            <p:nvPr/>
          </p:nvCxnSpPr>
          <p:spPr>
            <a:xfrm>
              <a:off x="7235" y="6481744"/>
              <a:ext cx="12192000" cy="1"/>
            </a:xfrm>
            <a:prstGeom prst="straightConnector1">
              <a:avLst/>
            </a:prstGeom>
            <a:noFill/>
            <a:ln cap="flat" cmpd="sng" w="12700">
              <a:solidFill>
                <a:srgbClr val="7F7F7F">
                  <a:alpha val="23921"/>
                </a:srgbClr>
              </a:solidFill>
              <a:prstDash val="solid"/>
              <a:miter lim="8000"/>
              <a:headEnd len="sm" w="sm" type="none"/>
              <a:tailEnd len="sm" w="sm" type="none"/>
            </a:ln>
          </p:spPr>
        </p:cxnSp>
        <p:cxnSp>
          <p:nvCxnSpPr>
            <p:cNvPr id="123" name="Google Shape;123;p6"/>
            <p:cNvCxnSpPr/>
            <p:nvPr/>
          </p:nvCxnSpPr>
          <p:spPr>
            <a:xfrm flipH="1" rot="10800000">
              <a:off x="582979" y="17004"/>
              <a:ext cx="2592" cy="6840995"/>
            </a:xfrm>
            <a:prstGeom prst="straightConnector1">
              <a:avLst/>
            </a:prstGeom>
            <a:noFill/>
            <a:ln cap="flat" cmpd="sng" w="12700">
              <a:solidFill>
                <a:srgbClr val="7F7F7F">
                  <a:alpha val="23921"/>
                </a:srgbClr>
              </a:solidFill>
              <a:prstDash val="solid"/>
              <a:miter lim="8000"/>
              <a:headEnd len="sm" w="sm" type="none"/>
              <a:tailEnd len="sm" w="sm" type="none"/>
            </a:ln>
          </p:spPr>
        </p:cxnSp>
      </p:grpSp>
      <p:sp>
        <p:nvSpPr>
          <p:cNvPr id="124" name="Google Shape;124;p6"/>
          <p:cNvSpPr/>
          <p:nvPr/>
        </p:nvSpPr>
        <p:spPr>
          <a:xfrm>
            <a:off x="542793" y="420489"/>
            <a:ext cx="608776" cy="608577"/>
          </a:xfrm>
          <a:custGeom>
            <a:rect b="b" l="l" r="r" t="t"/>
            <a:pathLst>
              <a:path extrusionOk="0" h="20595" w="20596">
                <a:moveTo>
                  <a:pt x="0" y="0"/>
                </a:moveTo>
                <a:lnTo>
                  <a:pt x="0" y="11107"/>
                </a:lnTo>
                <a:lnTo>
                  <a:pt x="94" y="11107"/>
                </a:lnTo>
                <a:cubicBezTo>
                  <a:pt x="279" y="13466"/>
                  <a:pt x="1231" y="15777"/>
                  <a:pt x="3034" y="17581"/>
                </a:cubicBezTo>
                <a:cubicBezTo>
                  <a:pt x="7052" y="21600"/>
                  <a:pt x="13565" y="21600"/>
                  <a:pt x="17582" y="17581"/>
                </a:cubicBezTo>
                <a:cubicBezTo>
                  <a:pt x="21600" y="13562"/>
                  <a:pt x="21600" y="7041"/>
                  <a:pt x="17582" y="3022"/>
                </a:cubicBezTo>
                <a:cubicBezTo>
                  <a:pt x="15747" y="1186"/>
                  <a:pt x="13391" y="239"/>
                  <a:pt x="10990" y="81"/>
                </a:cubicBezTo>
                <a:lnTo>
                  <a:pt x="10990" y="0"/>
                </a:lnTo>
                <a:lnTo>
                  <a:pt x="0" y="0"/>
                </a:lnTo>
                <a:close/>
                <a:moveTo>
                  <a:pt x="4404" y="10496"/>
                </a:moveTo>
                <a:lnTo>
                  <a:pt x="16213" y="10496"/>
                </a:lnTo>
                <a:cubicBezTo>
                  <a:pt x="16214" y="12009"/>
                  <a:pt x="15634" y="13519"/>
                  <a:pt x="14481" y="14673"/>
                </a:cubicBezTo>
                <a:cubicBezTo>
                  <a:pt x="12176" y="16979"/>
                  <a:pt x="8441" y="16979"/>
                  <a:pt x="6136" y="14673"/>
                </a:cubicBezTo>
                <a:cubicBezTo>
                  <a:pt x="4982" y="13519"/>
                  <a:pt x="4403" y="12009"/>
                  <a:pt x="4404" y="10496"/>
                </a:cubicBezTo>
                <a:close/>
              </a:path>
            </a:pathLst>
          </a:cu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 name="Google Shape;125;p6"/>
          <p:cNvSpPr txBox="1"/>
          <p:nvPr/>
        </p:nvSpPr>
        <p:spPr>
          <a:xfrm>
            <a:off x="5406224" y="2345284"/>
            <a:ext cx="5785007" cy="20307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accent1"/>
                </a:solidFill>
                <a:latin typeface="Catamaran"/>
                <a:ea typeface="Catamaran"/>
                <a:cs typeface="Catamaran"/>
                <a:sym typeface="Catamaran"/>
              </a:rPr>
              <a:t>Goal &amp; </a:t>
            </a:r>
            <a:r>
              <a:rPr b="1" i="0" lang="en-US" sz="4000" u="none" cap="none" strike="noStrike">
                <a:solidFill>
                  <a:schemeClr val="accent1"/>
                </a:solidFill>
                <a:highlight>
                  <a:srgbClr val="F7F7F7"/>
                </a:highlight>
                <a:latin typeface="Catamaran"/>
                <a:ea typeface="Catamaran"/>
                <a:cs typeface="Catamaran"/>
                <a:sym typeface="Catamaran"/>
              </a:rPr>
              <a:t>Hypothesis</a:t>
            </a:r>
            <a:endParaRPr b="1" i="0" sz="4000" u="none" cap="none" strike="noStrike">
              <a:solidFill>
                <a:schemeClr val="accent1"/>
              </a:solidFill>
              <a:latin typeface="Catamaran"/>
              <a:ea typeface="Catamaran"/>
              <a:cs typeface="Catamaran"/>
              <a:sym typeface="Catamaran"/>
            </a:endParaRPr>
          </a:p>
        </p:txBody>
      </p:sp>
      <p:sp>
        <p:nvSpPr>
          <p:cNvPr id="126" name="Google Shape;126;p6"/>
          <p:cNvSpPr txBox="1"/>
          <p:nvPr/>
        </p:nvSpPr>
        <p:spPr>
          <a:xfrm rot="-5400000">
            <a:off x="-16860" y="2756059"/>
            <a:ext cx="1185294" cy="1151569"/>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 name="Google Shape;127;p6"/>
          <p:cNvSpPr txBox="1"/>
          <p:nvPr/>
        </p:nvSpPr>
        <p:spPr>
          <a:xfrm>
            <a:off x="2030388" y="1919063"/>
            <a:ext cx="2825563" cy="2825563"/>
          </a:xfrm>
          <a:prstGeom prst="rect">
            <a:avLst/>
          </a:prstGeom>
          <a:solidFill>
            <a:schemeClr val="accent1"/>
          </a:solidFill>
          <a:ln>
            <a:noFill/>
          </a:ln>
        </p:spPr>
        <p:txBody>
          <a:bodyPr anchorCtr="0" anchor="ctr" bIns="108000" lIns="108000" spcFirstLastPara="1" rIns="108000" wrap="square" tIns="108000">
            <a:noAutofit/>
          </a:bodyPr>
          <a:lstStyle/>
          <a:p>
            <a:pPr indent="0" lvl="0" marL="0" marR="0" rtl="0" algn="ctr">
              <a:lnSpc>
                <a:spcPct val="100000"/>
              </a:lnSpc>
              <a:spcBef>
                <a:spcPts val="0"/>
              </a:spcBef>
              <a:spcAft>
                <a:spcPts val="0"/>
              </a:spcAft>
              <a:buClr>
                <a:srgbClr val="000000"/>
              </a:buClr>
              <a:buSzPts val="7658"/>
              <a:buFont typeface="Arial"/>
              <a:buNone/>
            </a:pPr>
            <a:r>
              <a:rPr b="1" i="0" lang="en-US" sz="7658" u="none" cap="none" strike="noStrike">
                <a:solidFill>
                  <a:srgbClr val="FFFFFF"/>
                </a:solidFill>
                <a:latin typeface="Catamaran"/>
                <a:ea typeface="Catamaran"/>
                <a:cs typeface="Catamaran"/>
                <a:sym typeface="Catamaran"/>
              </a:rPr>
              <a:t>02</a:t>
            </a:r>
            <a:endParaRPr b="1" i="0" sz="1800" u="none" cap="none" strike="noStrike">
              <a:solidFill>
                <a:srgbClr val="000000"/>
              </a:solidFill>
              <a:latin typeface="Catamaran"/>
              <a:ea typeface="Catamaran"/>
              <a:cs typeface="Catamaran"/>
              <a:sym typeface="Catamaran"/>
            </a:endParaRPr>
          </a:p>
        </p:txBody>
      </p:sp>
      <p:grpSp>
        <p:nvGrpSpPr>
          <p:cNvPr id="128" name="Google Shape;128;p6"/>
          <p:cNvGrpSpPr/>
          <p:nvPr/>
        </p:nvGrpSpPr>
        <p:grpSpPr>
          <a:xfrm>
            <a:off x="2603430" y="5162498"/>
            <a:ext cx="1679478" cy="300458"/>
            <a:chOff x="2603430" y="5162498"/>
            <a:chExt cx="1679478" cy="300458"/>
          </a:xfrm>
        </p:grpSpPr>
        <p:sp>
          <p:nvSpPr>
            <p:cNvPr id="129" name="Google Shape;129;p6"/>
            <p:cNvSpPr/>
            <p:nvPr/>
          </p:nvSpPr>
          <p:spPr>
            <a:xfrm flipH="1">
              <a:off x="3139976" y="5282838"/>
              <a:ext cx="59777" cy="59777"/>
            </a:xfrm>
            <a:prstGeom prst="ellipse">
              <a:avLst/>
            </a:pr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 name="Google Shape;130;p6"/>
            <p:cNvSpPr/>
            <p:nvPr/>
          </p:nvSpPr>
          <p:spPr>
            <a:xfrm flipH="1">
              <a:off x="3276628"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 name="Google Shape;131;p6"/>
            <p:cNvSpPr/>
            <p:nvPr/>
          </p:nvSpPr>
          <p:spPr>
            <a:xfrm flipH="1">
              <a:off x="3413281"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 name="Google Shape;132;p6"/>
            <p:cNvSpPr/>
            <p:nvPr/>
          </p:nvSpPr>
          <p:spPr>
            <a:xfrm flipH="1">
              <a:off x="3549933"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 name="Google Shape;133;p6"/>
            <p:cNvSpPr/>
            <p:nvPr/>
          </p:nvSpPr>
          <p:spPr>
            <a:xfrm flipH="1">
              <a:off x="3686586"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 name="Google Shape;134;p6"/>
            <p:cNvSpPr txBox="1"/>
            <p:nvPr/>
          </p:nvSpPr>
          <p:spPr>
            <a:xfrm flipH="1">
              <a:off x="3982450" y="5162498"/>
              <a:ext cx="300458" cy="30045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5" name="Google Shape;135;p6"/>
            <p:cNvCxnSpPr/>
            <p:nvPr/>
          </p:nvCxnSpPr>
          <p:spPr>
            <a:xfrm>
              <a:off x="4070609" y="5312726"/>
              <a:ext cx="124140" cy="0"/>
            </a:xfrm>
            <a:prstGeom prst="straightConnector1">
              <a:avLst/>
            </a:prstGeom>
            <a:noFill/>
            <a:ln cap="flat" cmpd="sng" w="12700">
              <a:solidFill>
                <a:srgbClr val="FFFFFF"/>
              </a:solidFill>
              <a:prstDash val="solid"/>
              <a:miter lim="8000"/>
              <a:headEnd len="sm" w="sm" type="none"/>
              <a:tailEnd len="sm" w="sm" type="none"/>
            </a:ln>
          </p:spPr>
        </p:cxnSp>
        <p:sp>
          <p:nvSpPr>
            <p:cNvPr id="136" name="Google Shape;136;p6"/>
            <p:cNvSpPr/>
            <p:nvPr/>
          </p:nvSpPr>
          <p:spPr>
            <a:xfrm rot="-2700000">
              <a:off x="4099827" y="5269352"/>
              <a:ext cx="86749" cy="86749"/>
            </a:xfrm>
            <a:custGeom>
              <a:rect b="b" l="l" r="r" t="t"/>
              <a:pathLst>
                <a:path extrusionOk="0" h="252248" w="252248">
                  <a:moveTo>
                    <a:pt x="252248" y="0"/>
                  </a:moveTo>
                  <a:lnTo>
                    <a:pt x="252248" y="252248"/>
                  </a:lnTo>
                  <a:lnTo>
                    <a:pt x="0" y="252248"/>
                  </a:lnTo>
                </a:path>
              </a:pathLst>
            </a:custGeom>
            <a:noFill/>
            <a:ln cap="flat" cmpd="sng" w="12700">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 name="Google Shape;137;p6"/>
            <p:cNvSpPr txBox="1"/>
            <p:nvPr/>
          </p:nvSpPr>
          <p:spPr>
            <a:xfrm>
              <a:off x="2603430" y="5162498"/>
              <a:ext cx="300458" cy="300458"/>
            </a:xfrm>
            <a:prstGeom prst="rect">
              <a:avLst/>
            </a:prstGeom>
            <a:solidFill>
              <a:srgbClr val="7F7F7F">
                <a:alpha val="14117"/>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8" name="Google Shape;138;p6"/>
            <p:cNvCxnSpPr/>
            <p:nvPr/>
          </p:nvCxnSpPr>
          <p:spPr>
            <a:xfrm rot="10800000">
              <a:off x="2691590" y="5312726"/>
              <a:ext cx="124140" cy="0"/>
            </a:xfrm>
            <a:prstGeom prst="straightConnector1">
              <a:avLst/>
            </a:prstGeom>
            <a:noFill/>
            <a:ln cap="flat" cmpd="sng" w="12700">
              <a:solidFill>
                <a:schemeClr val="dk1"/>
              </a:solidFill>
              <a:prstDash val="solid"/>
              <a:miter lim="8000"/>
              <a:headEnd len="sm" w="sm" type="none"/>
              <a:tailEnd len="sm" w="sm" type="none"/>
            </a:ln>
          </p:spPr>
        </p:cxnSp>
        <p:sp>
          <p:nvSpPr>
            <p:cNvPr id="139" name="Google Shape;139;p6"/>
            <p:cNvSpPr/>
            <p:nvPr/>
          </p:nvSpPr>
          <p:spPr>
            <a:xfrm flipH="1" rot="2700000">
              <a:off x="2699763" y="5269352"/>
              <a:ext cx="86749" cy="86749"/>
            </a:xfrm>
            <a:custGeom>
              <a:rect b="b" l="l" r="r" t="t"/>
              <a:pathLst>
                <a:path extrusionOk="0" h="252248" w="252248">
                  <a:moveTo>
                    <a:pt x="252248" y="0"/>
                  </a:moveTo>
                  <a:lnTo>
                    <a:pt x="252248" y="252248"/>
                  </a:lnTo>
                  <a:lnTo>
                    <a:pt x="0" y="252248"/>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3921"/>
          </a:schemeClr>
        </a:solidFill>
      </p:bgPr>
    </p:bg>
    <p:spTree>
      <p:nvGrpSpPr>
        <p:cNvPr id="143" name="Shape 143"/>
        <p:cNvGrpSpPr/>
        <p:nvPr/>
      </p:nvGrpSpPr>
      <p:grpSpPr>
        <a:xfrm>
          <a:off x="0" y="0"/>
          <a:ext cx="0" cy="0"/>
          <a:chOff x="0" y="0"/>
          <a:chExt cx="0" cy="0"/>
        </a:xfrm>
      </p:grpSpPr>
      <p:sp>
        <p:nvSpPr>
          <p:cNvPr id="144" name="Google Shape;144;p7"/>
          <p:cNvSpPr txBox="1"/>
          <p:nvPr/>
        </p:nvSpPr>
        <p:spPr>
          <a:xfrm>
            <a:off x="0" y="0"/>
            <a:ext cx="12306300" cy="699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45" name="Google Shape;145;p7"/>
          <p:cNvPicPr preferRelativeResize="0"/>
          <p:nvPr/>
        </p:nvPicPr>
        <p:blipFill rotWithShape="1">
          <a:blip r:embed="rId3">
            <a:alphaModFix amt="15000"/>
          </a:blip>
          <a:srcRect b="-1" l="0" r="0" t="20071"/>
          <a:stretch/>
        </p:blipFill>
        <p:spPr>
          <a:xfrm>
            <a:off x="-381000" y="-214312"/>
            <a:ext cx="12954000" cy="7286625"/>
          </a:xfrm>
          <a:prstGeom prst="rect">
            <a:avLst/>
          </a:prstGeom>
          <a:noFill/>
          <a:ln>
            <a:noFill/>
          </a:ln>
        </p:spPr>
      </p:pic>
      <p:grpSp>
        <p:nvGrpSpPr>
          <p:cNvPr id="146" name="Google Shape;146;p7"/>
          <p:cNvGrpSpPr/>
          <p:nvPr/>
        </p:nvGrpSpPr>
        <p:grpSpPr>
          <a:xfrm>
            <a:off x="5797074" y="6550320"/>
            <a:ext cx="597852" cy="615360"/>
            <a:chOff x="5797074" y="6550320"/>
            <a:chExt cx="597852" cy="615360"/>
          </a:xfrm>
        </p:grpSpPr>
        <p:sp>
          <p:nvSpPr>
            <p:cNvPr id="147" name="Google Shape;147;p7"/>
            <p:cNvSpPr txBox="1"/>
            <p:nvPr/>
          </p:nvSpPr>
          <p:spPr>
            <a:xfrm rot="5400000">
              <a:off x="5788320" y="6559074"/>
              <a:ext cx="615360" cy="597852"/>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 name="Google Shape;148;p7"/>
            <p:cNvSpPr/>
            <p:nvPr/>
          </p:nvSpPr>
          <p:spPr>
            <a:xfrm>
              <a:off x="5988050" y="6647010"/>
              <a:ext cx="215900" cy="11430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49" name="Google Shape;149;p7"/>
          <p:cNvSpPr/>
          <p:nvPr/>
        </p:nvSpPr>
        <p:spPr>
          <a:xfrm>
            <a:off x="3195585" y="2534652"/>
            <a:ext cx="7230454" cy="1788696"/>
          </a:xfrm>
          <a:prstGeom prst="homePlat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0" name="Google Shape;150;p7"/>
          <p:cNvSpPr/>
          <p:nvPr/>
        </p:nvSpPr>
        <p:spPr>
          <a:xfrm>
            <a:off x="1753261" y="2687968"/>
            <a:ext cx="2282516" cy="1482064"/>
          </a:xfrm>
          <a:prstGeom prst="homePlate">
            <a:avLst>
              <a:gd fmla="val 50000" name="adj"/>
            </a:avLst>
          </a:prstGeom>
          <a:solidFill>
            <a:srgbClr val="C1E9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 name="Google Shape;151;p7"/>
          <p:cNvSpPr txBox="1"/>
          <p:nvPr/>
        </p:nvSpPr>
        <p:spPr>
          <a:xfrm>
            <a:off x="4200025" y="2763076"/>
            <a:ext cx="5574600" cy="1482000"/>
          </a:xfrm>
          <a:prstGeom prst="rect">
            <a:avLst/>
          </a:prstGeom>
          <a:noFill/>
          <a:ln>
            <a:noFill/>
          </a:ln>
        </p:spPr>
        <p:txBody>
          <a:bodyPr anchorCtr="0" anchor="ctr" bIns="0" lIns="0" spcFirstLastPara="1" rIns="0" wrap="square" tIns="0">
            <a:noAutofit/>
          </a:bodyPr>
          <a:lstStyle/>
          <a:p>
            <a:pPr indent="0" lvl="0" marL="0" marR="0" rtl="0" algn="l">
              <a:lnSpc>
                <a:spcPct val="135714"/>
              </a:lnSpc>
              <a:spcBef>
                <a:spcPts val="0"/>
              </a:spcBef>
              <a:spcAft>
                <a:spcPts val="0"/>
              </a:spcAft>
              <a:buClr>
                <a:schemeClr val="dk1"/>
              </a:buClr>
              <a:buSzPts val="1100"/>
              <a:buFont typeface="Arial"/>
              <a:buNone/>
            </a:pPr>
            <a:r>
              <a:rPr b="1" i="0" lang="en-US" sz="1550" u="none" cap="none" strike="noStrike">
                <a:solidFill>
                  <a:schemeClr val="lt1"/>
                </a:solidFill>
                <a:latin typeface="Catamaran"/>
                <a:ea typeface="Catamaran"/>
                <a:cs typeface="Catamaran"/>
                <a:sym typeface="Catamaran"/>
              </a:rPr>
              <a:t>Predicting rental prices based on relevant features.</a:t>
            </a:r>
            <a:endParaRPr b="1" i="0" sz="1550" u="none" cap="none" strike="noStrike">
              <a:solidFill>
                <a:schemeClr val="lt1"/>
              </a:solidFill>
              <a:latin typeface="Catamaran"/>
              <a:ea typeface="Catamaran"/>
              <a:cs typeface="Catamaran"/>
              <a:sym typeface="Catamaran"/>
            </a:endParaRPr>
          </a:p>
          <a:p>
            <a:pPr indent="0" lvl="0" marL="0" marR="0" rtl="0" algn="l">
              <a:lnSpc>
                <a:spcPct val="135714"/>
              </a:lnSpc>
              <a:spcBef>
                <a:spcPts val="0"/>
              </a:spcBef>
              <a:spcAft>
                <a:spcPts val="0"/>
              </a:spcAft>
              <a:buClr>
                <a:schemeClr val="dk1"/>
              </a:buClr>
              <a:buSzPts val="1100"/>
              <a:buFont typeface="Arial"/>
              <a:buNone/>
            </a:pPr>
            <a:r>
              <a:t/>
            </a:r>
            <a:endParaRPr b="1" i="0" sz="1550" u="none" cap="none" strike="noStrike">
              <a:solidFill>
                <a:schemeClr val="lt1"/>
              </a:solidFill>
              <a:latin typeface="Catamaran"/>
              <a:ea typeface="Catamaran"/>
              <a:cs typeface="Catamaran"/>
              <a:sym typeface="Catamaran"/>
            </a:endParaRPr>
          </a:p>
          <a:p>
            <a:pPr indent="0" lvl="0" marL="0" marR="0" rtl="0" algn="l">
              <a:lnSpc>
                <a:spcPct val="135714"/>
              </a:lnSpc>
              <a:spcBef>
                <a:spcPts val="0"/>
              </a:spcBef>
              <a:spcAft>
                <a:spcPts val="0"/>
              </a:spcAft>
              <a:buClr>
                <a:schemeClr val="dk1"/>
              </a:buClr>
              <a:buSzPts val="1100"/>
              <a:buFont typeface="Arial"/>
              <a:buNone/>
            </a:pPr>
            <a:r>
              <a:rPr b="1" i="0" lang="en-US" sz="1550" u="none" cap="none" strike="noStrike">
                <a:solidFill>
                  <a:schemeClr val="lt1"/>
                </a:solidFill>
                <a:latin typeface="Catamaran"/>
                <a:ea typeface="Catamaran"/>
                <a:cs typeface="Catamaran"/>
                <a:sym typeface="Catamaran"/>
              </a:rPr>
              <a:t>Learn how to use area (locations) to predict apartment pricings</a:t>
            </a:r>
            <a:endParaRPr b="1" i="0" sz="1550" u="none" cap="none" strike="noStrike">
              <a:solidFill>
                <a:schemeClr val="lt1"/>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tamaran"/>
              <a:ea typeface="Catamaran"/>
              <a:cs typeface="Catamaran"/>
              <a:sym typeface="Catamaran"/>
            </a:endParaRPr>
          </a:p>
        </p:txBody>
      </p:sp>
      <p:sp>
        <p:nvSpPr>
          <p:cNvPr id="152" name="Google Shape;152;p7"/>
          <p:cNvSpPr txBox="1"/>
          <p:nvPr/>
        </p:nvSpPr>
        <p:spPr>
          <a:xfrm>
            <a:off x="1753244" y="2948600"/>
            <a:ext cx="1442400" cy="960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1"/>
                </a:solidFill>
                <a:latin typeface="Catamaran"/>
                <a:ea typeface="Catamaran"/>
                <a:cs typeface="Catamaran"/>
                <a:sym typeface="Catamaran"/>
              </a:rPr>
              <a:t>Goal</a:t>
            </a:r>
            <a:endParaRPr b="1" i="0" sz="1800" u="none" cap="none" strike="noStrike">
              <a:solidFill>
                <a:srgbClr val="000000"/>
              </a:solidFill>
              <a:latin typeface="Catamaran"/>
              <a:ea typeface="Catamaran"/>
              <a:cs typeface="Catamaran"/>
              <a:sym typeface="Catamaran"/>
            </a:endParaRPr>
          </a:p>
        </p:txBody>
      </p:sp>
      <p:sp>
        <p:nvSpPr>
          <p:cNvPr id="153" name="Google Shape;153;p7"/>
          <p:cNvSpPr/>
          <p:nvPr/>
        </p:nvSpPr>
        <p:spPr>
          <a:xfrm rot="5400000">
            <a:off x="3704266" y="3358201"/>
            <a:ext cx="209306" cy="141598"/>
          </a:xfrm>
          <a:prstGeom prst="triangl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 name="Google Shape;154;p7"/>
          <p:cNvSpPr/>
          <p:nvPr/>
        </p:nvSpPr>
        <p:spPr>
          <a:xfrm>
            <a:off x="264152" y="277385"/>
            <a:ext cx="360000" cy="285696"/>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 name="Google Shape;155;p7"/>
          <p:cNvSpPr txBox="1"/>
          <p:nvPr/>
        </p:nvSpPr>
        <p:spPr>
          <a:xfrm>
            <a:off x="780300" y="664142"/>
            <a:ext cx="10745700" cy="4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accent1"/>
                </a:solidFill>
                <a:latin typeface="Catamaran"/>
                <a:ea typeface="Catamaran"/>
                <a:cs typeface="Catamaran"/>
                <a:sym typeface="Catamaran"/>
              </a:rPr>
              <a:t>Current Goal</a:t>
            </a:r>
            <a:endParaRPr b="1" i="0" sz="3600" u="none" cap="none" strike="noStrike">
              <a:solidFill>
                <a:schemeClr val="accent1"/>
              </a:solidFill>
              <a:latin typeface="Catamaran"/>
              <a:ea typeface="Catamaran"/>
              <a:cs typeface="Catamaran"/>
              <a:sym typeface="Catamar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3921"/>
          </a:schemeClr>
        </a:solidFill>
      </p:bgPr>
    </p:bg>
    <p:spTree>
      <p:nvGrpSpPr>
        <p:cNvPr id="159" name="Shape 159"/>
        <p:cNvGrpSpPr/>
        <p:nvPr/>
      </p:nvGrpSpPr>
      <p:grpSpPr>
        <a:xfrm>
          <a:off x="0" y="0"/>
          <a:ext cx="0" cy="0"/>
          <a:chOff x="0" y="0"/>
          <a:chExt cx="0" cy="0"/>
        </a:xfrm>
      </p:grpSpPr>
      <p:sp>
        <p:nvSpPr>
          <p:cNvPr id="160" name="Google Shape;160;p8"/>
          <p:cNvSpPr txBox="1"/>
          <p:nvPr/>
        </p:nvSpPr>
        <p:spPr>
          <a:xfrm>
            <a:off x="0" y="0"/>
            <a:ext cx="12306300" cy="699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61" name="Google Shape;161;p8"/>
          <p:cNvPicPr preferRelativeResize="0"/>
          <p:nvPr/>
        </p:nvPicPr>
        <p:blipFill rotWithShape="1">
          <a:blip r:embed="rId3">
            <a:alphaModFix amt="15000"/>
          </a:blip>
          <a:srcRect b="-1" l="0" r="0" t="20071"/>
          <a:stretch/>
        </p:blipFill>
        <p:spPr>
          <a:xfrm>
            <a:off x="-381000" y="-214312"/>
            <a:ext cx="12954000" cy="7286625"/>
          </a:xfrm>
          <a:prstGeom prst="rect">
            <a:avLst/>
          </a:prstGeom>
          <a:noFill/>
          <a:ln>
            <a:noFill/>
          </a:ln>
        </p:spPr>
      </p:pic>
      <p:grpSp>
        <p:nvGrpSpPr>
          <p:cNvPr id="162" name="Google Shape;162;p8"/>
          <p:cNvGrpSpPr/>
          <p:nvPr/>
        </p:nvGrpSpPr>
        <p:grpSpPr>
          <a:xfrm>
            <a:off x="5797074" y="6550320"/>
            <a:ext cx="597852" cy="615360"/>
            <a:chOff x="5797074" y="6550320"/>
            <a:chExt cx="597852" cy="615360"/>
          </a:xfrm>
        </p:grpSpPr>
        <p:sp>
          <p:nvSpPr>
            <p:cNvPr id="163" name="Google Shape;163;p8"/>
            <p:cNvSpPr txBox="1"/>
            <p:nvPr/>
          </p:nvSpPr>
          <p:spPr>
            <a:xfrm rot="5400000">
              <a:off x="5788320" y="6559074"/>
              <a:ext cx="615360" cy="597852"/>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 name="Google Shape;164;p8"/>
            <p:cNvSpPr/>
            <p:nvPr/>
          </p:nvSpPr>
          <p:spPr>
            <a:xfrm>
              <a:off x="5988050" y="6647010"/>
              <a:ext cx="215900" cy="11430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65" name="Google Shape;165;p8"/>
          <p:cNvSpPr/>
          <p:nvPr/>
        </p:nvSpPr>
        <p:spPr>
          <a:xfrm>
            <a:off x="1300875" y="1231300"/>
            <a:ext cx="9461700" cy="5139900"/>
          </a:xfrm>
          <a:prstGeom prst="roundRect">
            <a:avLst>
              <a:gd fmla="val 4897" name="adj"/>
            </a:avLst>
          </a:prstGeom>
          <a:solidFill>
            <a:schemeClr val="lt1"/>
          </a:solidFill>
          <a:ln>
            <a:noFill/>
          </a:ln>
          <a:effectLst>
            <a:outerShdw blurRad="203200" rotWithShape="0" algn="tl" dir="2700000" dist="38100">
              <a:srgbClr val="000000">
                <a:alpha val="705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 name="Google Shape;166;p8"/>
          <p:cNvSpPr txBox="1"/>
          <p:nvPr/>
        </p:nvSpPr>
        <p:spPr>
          <a:xfrm>
            <a:off x="1547175" y="1507375"/>
            <a:ext cx="8969100" cy="3516300"/>
          </a:xfrm>
          <a:prstGeom prst="rect">
            <a:avLst/>
          </a:prstGeom>
          <a:noFill/>
          <a:ln>
            <a:noFill/>
          </a:ln>
        </p:spPr>
        <p:txBody>
          <a:bodyPr anchorCtr="0" anchor="t" bIns="0" lIns="0" spcFirstLastPara="1" rIns="0" wrap="square" tIns="0">
            <a:noAutofit/>
          </a:bodyPr>
          <a:lstStyle/>
          <a:p>
            <a:pPr indent="0" lvl="0" marL="0" marR="0" rtl="0" algn="ctr">
              <a:lnSpc>
                <a:spcPct val="135714"/>
              </a:lnSpc>
              <a:spcBef>
                <a:spcPts val="0"/>
              </a:spcBef>
              <a:spcAft>
                <a:spcPts val="0"/>
              </a:spcAft>
              <a:buClr>
                <a:schemeClr val="dk1"/>
              </a:buClr>
              <a:buSzPts val="1100"/>
              <a:buFont typeface="Arial"/>
              <a:buNone/>
            </a:pPr>
            <a:r>
              <a:rPr b="1" i="0" lang="en-US" sz="1650" u="none" cap="none" strike="noStrike">
                <a:solidFill>
                  <a:schemeClr val="accent1"/>
                </a:solidFill>
                <a:latin typeface="Catamaran"/>
                <a:ea typeface="Catamaran"/>
                <a:cs typeface="Catamaran"/>
                <a:sym typeface="Catamaran"/>
              </a:rPr>
              <a:t>The size of the location will increase with season —&gt; Affecting Price</a:t>
            </a:r>
            <a:endParaRPr b="1" i="0" sz="1650" u="none" cap="none" strike="noStrike">
              <a:solidFill>
                <a:schemeClr val="accent1"/>
              </a:solidFill>
              <a:latin typeface="Catamaran"/>
              <a:ea typeface="Catamaran"/>
              <a:cs typeface="Catamaran"/>
              <a:sym typeface="Catamaran"/>
            </a:endParaRPr>
          </a:p>
          <a:p>
            <a:pPr indent="0" lvl="0" marL="0" marR="0" rtl="0" algn="ctr">
              <a:lnSpc>
                <a:spcPct val="135714"/>
              </a:lnSpc>
              <a:spcBef>
                <a:spcPts val="0"/>
              </a:spcBef>
              <a:spcAft>
                <a:spcPts val="0"/>
              </a:spcAft>
              <a:buClr>
                <a:schemeClr val="dk1"/>
              </a:buClr>
              <a:buSzPts val="1100"/>
              <a:buFont typeface="Arial"/>
              <a:buNone/>
            </a:pPr>
            <a:r>
              <a:rPr b="1" i="0" lang="en-US" sz="1650" u="none" cap="none" strike="noStrike">
                <a:solidFill>
                  <a:schemeClr val="accent1"/>
                </a:solidFill>
                <a:latin typeface="Catamaran"/>
                <a:ea typeface="Catamaran"/>
                <a:cs typeface="Catamaran"/>
                <a:sym typeface="Catamaran"/>
              </a:rPr>
              <a:t>Price of Location —&gt; Depends on Availability</a:t>
            </a:r>
            <a:endParaRPr b="1" i="0" sz="1650" u="none" cap="none" strike="noStrike">
              <a:solidFill>
                <a:schemeClr val="accent1"/>
              </a:solidFill>
              <a:latin typeface="Catamaran"/>
              <a:ea typeface="Catamaran"/>
              <a:cs typeface="Catamaran"/>
              <a:sym typeface="Catamaran"/>
            </a:endParaRPr>
          </a:p>
          <a:p>
            <a:pPr indent="0" lvl="0" marL="0" marR="0" rtl="0" algn="ctr">
              <a:lnSpc>
                <a:spcPct val="135714"/>
              </a:lnSpc>
              <a:spcBef>
                <a:spcPts val="0"/>
              </a:spcBef>
              <a:spcAft>
                <a:spcPts val="0"/>
              </a:spcAft>
              <a:buClr>
                <a:srgbClr val="000000"/>
              </a:buClr>
              <a:buSzPts val="1100"/>
              <a:buFont typeface="Arial"/>
              <a:buNone/>
            </a:pPr>
            <a:r>
              <a:rPr b="1" i="0" lang="en-US" sz="1650" u="none" cap="none" strike="noStrike">
                <a:solidFill>
                  <a:schemeClr val="accent1"/>
                </a:solidFill>
                <a:latin typeface="Catamaran"/>
                <a:ea typeface="Catamaran"/>
                <a:cs typeface="Catamaran"/>
                <a:sym typeface="Catamaran"/>
              </a:rPr>
              <a:t>More Review —&gt; Less Availability</a:t>
            </a:r>
            <a:endParaRPr b="1" i="0" sz="1650" u="none" cap="none" strike="noStrike">
              <a:solidFill>
                <a:schemeClr val="accent1"/>
              </a:solidFill>
              <a:latin typeface="Catamaran"/>
              <a:ea typeface="Catamaran"/>
              <a:cs typeface="Catamaran"/>
              <a:sym typeface="Catamaran"/>
            </a:endParaRPr>
          </a:p>
          <a:p>
            <a:pPr indent="0" lvl="0" marL="0" marR="0" rtl="0" algn="ctr">
              <a:lnSpc>
                <a:spcPct val="135714"/>
              </a:lnSpc>
              <a:spcBef>
                <a:spcPts val="0"/>
              </a:spcBef>
              <a:spcAft>
                <a:spcPts val="0"/>
              </a:spcAft>
              <a:buClr>
                <a:srgbClr val="000000"/>
              </a:buClr>
              <a:buSzPts val="1100"/>
              <a:buFont typeface="Arial"/>
              <a:buNone/>
            </a:pPr>
            <a:r>
              <a:t/>
            </a:r>
            <a:endParaRPr b="1" i="0" sz="1000" u="none" cap="none" strike="noStrike">
              <a:solidFill>
                <a:schemeClr val="accent1"/>
              </a:solidFill>
              <a:latin typeface="Catamaran"/>
              <a:ea typeface="Catamaran"/>
              <a:cs typeface="Catamaran"/>
              <a:sym typeface="Catamaran"/>
            </a:endParaRPr>
          </a:p>
          <a:p>
            <a:pPr indent="0" lvl="0" marL="0" marR="0" rtl="0" algn="ctr">
              <a:lnSpc>
                <a:spcPct val="135714"/>
              </a:lnSpc>
              <a:spcBef>
                <a:spcPts val="0"/>
              </a:spcBef>
              <a:spcAft>
                <a:spcPts val="0"/>
              </a:spcAft>
              <a:buClr>
                <a:srgbClr val="000000"/>
              </a:buClr>
              <a:buSzPts val="1100"/>
              <a:buFont typeface="Arial"/>
              <a:buNone/>
            </a:pPr>
            <a:r>
              <a:t/>
            </a:r>
            <a:endParaRPr b="1" i="0" sz="1000" u="none" cap="none" strike="noStrike">
              <a:solidFill>
                <a:schemeClr val="accent1"/>
              </a:solidFill>
              <a:latin typeface="Catamaran"/>
              <a:ea typeface="Catamaran"/>
              <a:cs typeface="Catamaran"/>
              <a:sym typeface="Catamaran"/>
            </a:endParaRPr>
          </a:p>
          <a:p>
            <a:pPr indent="-320675" lvl="0" marL="457200" marR="0" rtl="0" algn="l">
              <a:lnSpc>
                <a:spcPct val="135714"/>
              </a:lnSpc>
              <a:spcBef>
                <a:spcPts val="0"/>
              </a:spcBef>
              <a:spcAft>
                <a:spcPts val="0"/>
              </a:spcAft>
              <a:buClr>
                <a:schemeClr val="accent1"/>
              </a:buClr>
              <a:buSzPts val="1450"/>
              <a:buFont typeface="Catamaran"/>
              <a:buAutoNum type="arabicPeriod"/>
            </a:pPr>
            <a:r>
              <a:rPr b="1" i="0" lang="en-US" sz="1450" u="none" cap="none" strike="noStrike">
                <a:solidFill>
                  <a:schemeClr val="accent1"/>
                </a:solidFill>
                <a:latin typeface="Catamaran"/>
                <a:ea typeface="Catamaran"/>
                <a:cs typeface="Catamaran"/>
                <a:sym typeface="Catamaran"/>
              </a:rPr>
              <a:t>Holiday</a:t>
            </a:r>
            <a:r>
              <a:rPr b="0" i="0" lang="en-US" sz="1450" u="none" cap="none" strike="noStrike">
                <a:solidFill>
                  <a:schemeClr val="dk1"/>
                </a:solidFill>
                <a:latin typeface="Catamaran"/>
                <a:ea typeface="Catamaran"/>
                <a:cs typeface="Catamaran"/>
                <a:sym typeface="Catamaran"/>
              </a:rPr>
              <a:t> season rents will be </a:t>
            </a:r>
            <a:r>
              <a:rPr b="1" i="0" lang="en-US" sz="1450" u="none" cap="none" strike="noStrike">
                <a:solidFill>
                  <a:schemeClr val="accent1"/>
                </a:solidFill>
                <a:latin typeface="Catamaran"/>
                <a:ea typeface="Catamaran"/>
                <a:cs typeface="Catamaran"/>
                <a:sym typeface="Catamaran"/>
              </a:rPr>
              <a:t>more expensive</a:t>
            </a:r>
            <a:r>
              <a:rPr b="0" i="0" lang="en-US" sz="1450" u="none" cap="none" strike="noStrike">
                <a:solidFill>
                  <a:schemeClr val="dk1"/>
                </a:solidFill>
                <a:latin typeface="Catamaran"/>
                <a:ea typeface="Catamaran"/>
                <a:cs typeface="Catamaran"/>
                <a:sym typeface="Catamaran"/>
              </a:rPr>
              <a:t> due to high demand</a:t>
            </a:r>
            <a:endParaRPr b="0" i="0" sz="1450" u="none" cap="none" strike="noStrike">
              <a:solidFill>
                <a:schemeClr val="dk1"/>
              </a:solidFill>
              <a:latin typeface="Catamaran"/>
              <a:ea typeface="Catamaran"/>
              <a:cs typeface="Catamaran"/>
              <a:sym typeface="Catamaran"/>
            </a:endParaRPr>
          </a:p>
          <a:p>
            <a:pPr indent="-320675" lvl="0" marL="457200" marR="0" rtl="0" algn="l">
              <a:lnSpc>
                <a:spcPct val="135714"/>
              </a:lnSpc>
              <a:spcBef>
                <a:spcPts val="0"/>
              </a:spcBef>
              <a:spcAft>
                <a:spcPts val="0"/>
              </a:spcAft>
              <a:buClr>
                <a:schemeClr val="accent1"/>
              </a:buClr>
              <a:buSzPts val="1450"/>
              <a:buFont typeface="Catamaran"/>
              <a:buAutoNum type="arabicPeriod"/>
            </a:pPr>
            <a:r>
              <a:rPr b="0" i="0" lang="en-US" sz="1450" u="none" cap="none" strike="noStrike">
                <a:solidFill>
                  <a:schemeClr val="dk1"/>
                </a:solidFill>
                <a:latin typeface="Catamaran"/>
                <a:ea typeface="Catamaran"/>
                <a:cs typeface="Catamaran"/>
                <a:sym typeface="Catamaran"/>
              </a:rPr>
              <a:t>The </a:t>
            </a:r>
            <a:r>
              <a:rPr b="1" i="0" lang="en-US" sz="1450" u="none" cap="none" strike="noStrike">
                <a:solidFill>
                  <a:schemeClr val="accent1"/>
                </a:solidFill>
                <a:latin typeface="Catamaran"/>
                <a:ea typeface="Catamaran"/>
                <a:cs typeface="Catamaran"/>
                <a:sym typeface="Catamaran"/>
              </a:rPr>
              <a:t>larger</a:t>
            </a:r>
            <a:r>
              <a:rPr b="0" i="0" lang="en-US" sz="1450" u="none" cap="none" strike="noStrike">
                <a:solidFill>
                  <a:schemeClr val="dk1"/>
                </a:solidFill>
                <a:latin typeface="Catamaran"/>
                <a:ea typeface="Catamaran"/>
                <a:cs typeface="Catamaran"/>
                <a:sym typeface="Catamaran"/>
              </a:rPr>
              <a:t> the apts size, the more </a:t>
            </a:r>
            <a:r>
              <a:rPr b="1" i="0" lang="en-US" sz="1450" u="none" cap="none" strike="noStrike">
                <a:solidFill>
                  <a:schemeClr val="accent1"/>
                </a:solidFill>
                <a:latin typeface="Catamaran"/>
                <a:ea typeface="Catamaran"/>
                <a:cs typeface="Catamaran"/>
                <a:sym typeface="Catamaran"/>
              </a:rPr>
              <a:t>pricey</a:t>
            </a:r>
            <a:r>
              <a:rPr b="0" i="0" lang="en-US" sz="1450" u="none" cap="none" strike="noStrike">
                <a:solidFill>
                  <a:schemeClr val="dk1"/>
                </a:solidFill>
                <a:latin typeface="Catamaran"/>
                <a:ea typeface="Catamaran"/>
                <a:cs typeface="Catamaran"/>
                <a:sym typeface="Catamaran"/>
              </a:rPr>
              <a:t> it is</a:t>
            </a:r>
            <a:endParaRPr b="0" i="0" sz="1450" u="none" cap="none" strike="noStrike">
              <a:solidFill>
                <a:schemeClr val="dk1"/>
              </a:solidFill>
              <a:latin typeface="Catamaran"/>
              <a:ea typeface="Catamaran"/>
              <a:cs typeface="Catamaran"/>
              <a:sym typeface="Catamaran"/>
            </a:endParaRPr>
          </a:p>
          <a:p>
            <a:pPr indent="-320675" lvl="0" marL="457200" marR="0" rtl="0" algn="l">
              <a:lnSpc>
                <a:spcPct val="135714"/>
              </a:lnSpc>
              <a:spcBef>
                <a:spcPts val="0"/>
              </a:spcBef>
              <a:spcAft>
                <a:spcPts val="0"/>
              </a:spcAft>
              <a:buClr>
                <a:schemeClr val="accent1"/>
              </a:buClr>
              <a:buSzPts val="1450"/>
              <a:buFont typeface="Catamaran"/>
              <a:buAutoNum type="arabicPeriod"/>
            </a:pPr>
            <a:r>
              <a:rPr b="0" i="0" lang="en-US" sz="1450" u="none" cap="none" strike="noStrike">
                <a:solidFill>
                  <a:schemeClr val="dk1"/>
                </a:solidFill>
                <a:latin typeface="Catamaran"/>
                <a:ea typeface="Catamaran"/>
                <a:cs typeface="Catamaran"/>
                <a:sym typeface="Catamaran"/>
              </a:rPr>
              <a:t>On average </a:t>
            </a:r>
            <a:r>
              <a:rPr b="1" i="0" lang="en-US" sz="1450" u="none" cap="none" strike="noStrike">
                <a:solidFill>
                  <a:schemeClr val="accent1"/>
                </a:solidFill>
                <a:latin typeface="Catamaran"/>
                <a:ea typeface="Catamaran"/>
                <a:cs typeface="Catamaran"/>
                <a:sym typeface="Catamaran"/>
              </a:rPr>
              <a:t>Manhattan</a:t>
            </a:r>
            <a:r>
              <a:rPr b="0" i="0" lang="en-US" sz="1450" u="none" cap="none" strike="noStrike">
                <a:solidFill>
                  <a:schemeClr val="dk1"/>
                </a:solidFill>
                <a:latin typeface="Catamaran"/>
                <a:ea typeface="Catamaran"/>
                <a:cs typeface="Catamaran"/>
                <a:sym typeface="Catamaran"/>
              </a:rPr>
              <a:t> apts price will be </a:t>
            </a:r>
            <a:r>
              <a:rPr b="1" i="0" lang="en-US" sz="1450" u="none" cap="none" strike="noStrike">
                <a:solidFill>
                  <a:schemeClr val="accent1"/>
                </a:solidFill>
                <a:latin typeface="Catamaran"/>
                <a:ea typeface="Catamaran"/>
                <a:cs typeface="Catamaran"/>
                <a:sym typeface="Catamaran"/>
              </a:rPr>
              <a:t>more expensive</a:t>
            </a:r>
            <a:r>
              <a:rPr b="0" i="0" lang="en-US" sz="1450" u="none" cap="none" strike="noStrike">
                <a:solidFill>
                  <a:schemeClr val="dk1"/>
                </a:solidFill>
                <a:latin typeface="Catamaran"/>
                <a:ea typeface="Catamaran"/>
                <a:cs typeface="Catamaran"/>
                <a:sym typeface="Catamaran"/>
              </a:rPr>
              <a:t> than other boroughs</a:t>
            </a:r>
            <a:endParaRPr b="0" i="0" sz="1450" u="none" cap="none" strike="noStrike">
              <a:solidFill>
                <a:schemeClr val="dk1"/>
              </a:solidFill>
              <a:latin typeface="Catamaran"/>
              <a:ea typeface="Catamaran"/>
              <a:cs typeface="Catamaran"/>
              <a:sym typeface="Catamaran"/>
            </a:endParaRPr>
          </a:p>
          <a:p>
            <a:pPr indent="-320675" lvl="0" marL="457200" marR="0" rtl="0" algn="l">
              <a:lnSpc>
                <a:spcPct val="135714"/>
              </a:lnSpc>
              <a:spcBef>
                <a:spcPts val="0"/>
              </a:spcBef>
              <a:spcAft>
                <a:spcPts val="0"/>
              </a:spcAft>
              <a:buClr>
                <a:schemeClr val="accent1"/>
              </a:buClr>
              <a:buSzPts val="1450"/>
              <a:buFont typeface="Catamaran"/>
              <a:buAutoNum type="arabicPeriod"/>
            </a:pPr>
            <a:r>
              <a:rPr b="0" i="0" lang="en-US" sz="1450" u="none" cap="none" strike="noStrike">
                <a:solidFill>
                  <a:schemeClr val="dk1"/>
                </a:solidFill>
                <a:latin typeface="Catamaran"/>
                <a:ea typeface="Catamaran"/>
                <a:cs typeface="Catamaran"/>
                <a:sym typeface="Catamaran"/>
              </a:rPr>
              <a:t>The </a:t>
            </a:r>
            <a:r>
              <a:rPr b="1" i="0" lang="en-US" sz="1450" u="none" cap="none" strike="noStrike">
                <a:solidFill>
                  <a:schemeClr val="accent1"/>
                </a:solidFill>
                <a:latin typeface="Catamaran"/>
                <a:ea typeface="Catamaran"/>
                <a:cs typeface="Catamaran"/>
                <a:sym typeface="Catamaran"/>
              </a:rPr>
              <a:t>central</a:t>
            </a:r>
            <a:r>
              <a:rPr b="0" i="0" lang="en-US" sz="1450" u="none" cap="none" strike="noStrike">
                <a:solidFill>
                  <a:schemeClr val="dk1"/>
                </a:solidFill>
                <a:latin typeface="Catamaran"/>
                <a:ea typeface="Catamaran"/>
                <a:cs typeface="Catamaran"/>
                <a:sym typeface="Catamaran"/>
              </a:rPr>
              <a:t> the neighborhood, the </a:t>
            </a:r>
            <a:r>
              <a:rPr b="1" i="0" lang="en-US" sz="1450" u="none" cap="none" strike="noStrike">
                <a:solidFill>
                  <a:schemeClr val="accent1"/>
                </a:solidFill>
                <a:latin typeface="Catamaran"/>
                <a:ea typeface="Catamaran"/>
                <a:cs typeface="Catamaran"/>
                <a:sym typeface="Catamaran"/>
              </a:rPr>
              <a:t>higher</a:t>
            </a:r>
            <a:r>
              <a:rPr b="0" i="0" lang="en-US" sz="1450" u="none" cap="none" strike="noStrike">
                <a:solidFill>
                  <a:schemeClr val="dk1"/>
                </a:solidFill>
                <a:latin typeface="Catamaran"/>
                <a:ea typeface="Catamaran"/>
                <a:cs typeface="Catamaran"/>
                <a:sym typeface="Catamaran"/>
              </a:rPr>
              <a:t> the apts price</a:t>
            </a:r>
            <a:endParaRPr b="0" i="0" sz="1450" u="none" cap="none" strike="noStrike">
              <a:solidFill>
                <a:schemeClr val="dk1"/>
              </a:solidFill>
              <a:latin typeface="Catamaran"/>
              <a:ea typeface="Catamaran"/>
              <a:cs typeface="Catamaran"/>
              <a:sym typeface="Catamaran"/>
            </a:endParaRPr>
          </a:p>
          <a:p>
            <a:pPr indent="-320675" lvl="0" marL="457200" marR="0" rtl="0" algn="l">
              <a:lnSpc>
                <a:spcPct val="135714"/>
              </a:lnSpc>
              <a:spcBef>
                <a:spcPts val="0"/>
              </a:spcBef>
              <a:spcAft>
                <a:spcPts val="0"/>
              </a:spcAft>
              <a:buClr>
                <a:schemeClr val="accent1"/>
              </a:buClr>
              <a:buSzPts val="1450"/>
              <a:buFont typeface="Catamaran"/>
              <a:buAutoNum type="arabicPeriod"/>
            </a:pPr>
            <a:r>
              <a:rPr b="0" i="0" lang="en-US" sz="1450" u="none" cap="none" strike="noStrike">
                <a:solidFill>
                  <a:schemeClr val="dk1"/>
                </a:solidFill>
                <a:latin typeface="Catamaran"/>
                <a:ea typeface="Catamaran"/>
                <a:cs typeface="Catamaran"/>
                <a:sym typeface="Catamaran"/>
              </a:rPr>
              <a:t>The neighborhood with </a:t>
            </a:r>
            <a:r>
              <a:rPr b="1" i="0" lang="en-US" sz="1450" u="none" cap="none" strike="noStrike">
                <a:solidFill>
                  <a:schemeClr val="accent1"/>
                </a:solidFill>
                <a:latin typeface="Catamaran"/>
                <a:ea typeface="Catamaran"/>
                <a:cs typeface="Catamaran"/>
                <a:sym typeface="Catamaran"/>
              </a:rPr>
              <a:t>better public transportations </a:t>
            </a:r>
            <a:r>
              <a:rPr b="0" i="0" lang="en-US" sz="1450" u="none" cap="none" strike="noStrike">
                <a:solidFill>
                  <a:schemeClr val="dk1"/>
                </a:solidFill>
                <a:latin typeface="Catamaran"/>
                <a:ea typeface="Catamaran"/>
                <a:cs typeface="Catamaran"/>
                <a:sym typeface="Catamaran"/>
              </a:rPr>
              <a:t>have a </a:t>
            </a:r>
            <a:r>
              <a:rPr b="1" i="0" lang="en-US" sz="1450" u="none" cap="none" strike="noStrike">
                <a:solidFill>
                  <a:schemeClr val="accent1"/>
                </a:solidFill>
                <a:latin typeface="Catamaran"/>
                <a:ea typeface="Catamaran"/>
                <a:cs typeface="Catamaran"/>
                <a:sym typeface="Catamaran"/>
              </a:rPr>
              <a:t>higher price</a:t>
            </a:r>
            <a:endParaRPr b="1" i="0" sz="1450" u="none" cap="none" strike="noStrike">
              <a:solidFill>
                <a:schemeClr val="accent1"/>
              </a:solidFill>
              <a:latin typeface="Catamaran"/>
              <a:ea typeface="Catamaran"/>
              <a:cs typeface="Catamaran"/>
              <a:sym typeface="Catamaran"/>
            </a:endParaRPr>
          </a:p>
          <a:p>
            <a:pPr indent="-320675" lvl="0" marL="457200" marR="0" rtl="0" algn="l">
              <a:lnSpc>
                <a:spcPct val="135714"/>
              </a:lnSpc>
              <a:spcBef>
                <a:spcPts val="0"/>
              </a:spcBef>
              <a:spcAft>
                <a:spcPts val="0"/>
              </a:spcAft>
              <a:buClr>
                <a:schemeClr val="accent1"/>
              </a:buClr>
              <a:buSzPts val="1450"/>
              <a:buFont typeface="Catamaran"/>
              <a:buAutoNum type="arabicPeriod"/>
            </a:pPr>
            <a:r>
              <a:rPr b="0" i="0" lang="en-US" sz="1450" u="none" cap="none" strike="noStrike">
                <a:solidFill>
                  <a:schemeClr val="dk1"/>
                </a:solidFill>
                <a:latin typeface="Catamaran"/>
                <a:ea typeface="Catamaran"/>
                <a:cs typeface="Catamaran"/>
                <a:sym typeface="Catamaran"/>
              </a:rPr>
              <a:t>The more </a:t>
            </a:r>
            <a:r>
              <a:rPr b="1" i="0" lang="en-US" sz="1450" u="none" cap="none" strike="noStrike">
                <a:solidFill>
                  <a:schemeClr val="accent1"/>
                </a:solidFill>
                <a:latin typeface="Catamaran"/>
                <a:ea typeface="Catamaran"/>
                <a:cs typeface="Catamaran"/>
                <a:sym typeface="Catamaran"/>
              </a:rPr>
              <a:t>reviews</a:t>
            </a:r>
            <a:r>
              <a:rPr b="0" i="0" lang="en-US" sz="1450" u="none" cap="none" strike="noStrike">
                <a:solidFill>
                  <a:schemeClr val="dk1"/>
                </a:solidFill>
                <a:latin typeface="Catamaran"/>
                <a:ea typeface="Catamaran"/>
                <a:cs typeface="Catamaran"/>
                <a:sym typeface="Catamaran"/>
              </a:rPr>
              <a:t> the apts has, the</a:t>
            </a:r>
            <a:r>
              <a:rPr b="1" i="0" lang="en-US" sz="1450" u="none" cap="none" strike="noStrike">
                <a:solidFill>
                  <a:schemeClr val="accent1"/>
                </a:solidFill>
                <a:latin typeface="Catamaran"/>
                <a:ea typeface="Catamaran"/>
                <a:cs typeface="Catamaran"/>
                <a:sym typeface="Catamaran"/>
              </a:rPr>
              <a:t> less availability </a:t>
            </a:r>
            <a:r>
              <a:rPr b="0" i="0" lang="en-US" sz="1450" u="none" cap="none" strike="noStrike">
                <a:solidFill>
                  <a:schemeClr val="dk1"/>
                </a:solidFill>
                <a:latin typeface="Catamaran"/>
                <a:ea typeface="Catamaran"/>
                <a:cs typeface="Catamaran"/>
                <a:sym typeface="Catamaran"/>
              </a:rPr>
              <a:t>apt will be</a:t>
            </a:r>
            <a:endParaRPr b="0" i="0" sz="1450" u="none" cap="none" strike="noStrike">
              <a:solidFill>
                <a:schemeClr val="dk1"/>
              </a:solidFill>
              <a:latin typeface="Catamaran"/>
              <a:ea typeface="Catamaran"/>
              <a:cs typeface="Catamaran"/>
              <a:sym typeface="Catamaran"/>
            </a:endParaRPr>
          </a:p>
          <a:p>
            <a:pPr indent="-320675" lvl="0" marL="457200" marR="0" rtl="0" algn="l">
              <a:lnSpc>
                <a:spcPct val="135714"/>
              </a:lnSpc>
              <a:spcBef>
                <a:spcPts val="0"/>
              </a:spcBef>
              <a:spcAft>
                <a:spcPts val="0"/>
              </a:spcAft>
              <a:buClr>
                <a:schemeClr val="accent1"/>
              </a:buClr>
              <a:buSzPts val="1450"/>
              <a:buFont typeface="Catamaran"/>
              <a:buAutoNum type="arabicPeriod"/>
            </a:pPr>
            <a:r>
              <a:rPr b="0" i="0" lang="en-US" sz="1450" u="none" cap="none" strike="noStrike">
                <a:solidFill>
                  <a:schemeClr val="dk1"/>
                </a:solidFill>
                <a:latin typeface="Catamaran"/>
                <a:ea typeface="Catamaran"/>
                <a:cs typeface="Catamaran"/>
                <a:sym typeface="Catamaran"/>
              </a:rPr>
              <a:t>The </a:t>
            </a:r>
            <a:r>
              <a:rPr b="1" i="0" lang="en-US" sz="1450" u="none" cap="none" strike="noStrike">
                <a:solidFill>
                  <a:schemeClr val="accent1"/>
                </a:solidFill>
                <a:latin typeface="Catamaran"/>
                <a:ea typeface="Catamaran"/>
                <a:cs typeface="Catamaran"/>
                <a:sym typeface="Catamaran"/>
              </a:rPr>
              <a:t>cheaper</a:t>
            </a:r>
            <a:r>
              <a:rPr b="0" i="0" lang="en-US" sz="1450" u="none" cap="none" strike="noStrike">
                <a:solidFill>
                  <a:schemeClr val="dk1"/>
                </a:solidFill>
                <a:latin typeface="Catamaran"/>
                <a:ea typeface="Catamaran"/>
                <a:cs typeface="Catamaran"/>
                <a:sym typeface="Catamaran"/>
              </a:rPr>
              <a:t> the apt is for the </a:t>
            </a:r>
            <a:r>
              <a:rPr b="1" i="0" lang="en-US" sz="1450" u="none" cap="none" strike="noStrike">
                <a:solidFill>
                  <a:schemeClr val="accent1"/>
                </a:solidFill>
                <a:latin typeface="Catamaran"/>
                <a:ea typeface="Catamaran"/>
                <a:cs typeface="Catamaran"/>
                <a:sym typeface="Catamaran"/>
              </a:rPr>
              <a:t>location</a:t>
            </a:r>
            <a:r>
              <a:rPr b="0" i="0" lang="en-US" sz="1450" u="none" cap="none" strike="noStrike">
                <a:solidFill>
                  <a:schemeClr val="dk1"/>
                </a:solidFill>
                <a:latin typeface="Catamaran"/>
                <a:ea typeface="Catamaran"/>
                <a:cs typeface="Catamaran"/>
                <a:sym typeface="Catamaran"/>
              </a:rPr>
              <a:t>, the </a:t>
            </a:r>
            <a:r>
              <a:rPr b="1" i="0" lang="en-US" sz="1450" u="none" cap="none" strike="noStrike">
                <a:solidFill>
                  <a:schemeClr val="accent1"/>
                </a:solidFill>
                <a:latin typeface="Catamaran"/>
                <a:ea typeface="Catamaran"/>
                <a:cs typeface="Catamaran"/>
                <a:sym typeface="Catamaran"/>
              </a:rPr>
              <a:t>less availability </a:t>
            </a:r>
            <a:r>
              <a:rPr b="0" i="0" lang="en-US" sz="1450" u="none" cap="none" strike="noStrike">
                <a:solidFill>
                  <a:schemeClr val="dk1"/>
                </a:solidFill>
                <a:latin typeface="Catamaran"/>
                <a:ea typeface="Catamaran"/>
                <a:cs typeface="Catamaran"/>
                <a:sym typeface="Catamaran"/>
              </a:rPr>
              <a:t>apt has</a:t>
            </a:r>
            <a:endParaRPr b="0" i="0" sz="1450" u="none" cap="none" strike="noStrike">
              <a:solidFill>
                <a:schemeClr val="dk1"/>
              </a:solidFill>
              <a:latin typeface="Catamaran"/>
              <a:ea typeface="Catamaran"/>
              <a:cs typeface="Catamaran"/>
              <a:sym typeface="Catamaran"/>
            </a:endParaRPr>
          </a:p>
          <a:p>
            <a:pPr indent="-320675" lvl="0" marL="457200" marR="0" rtl="0" algn="l">
              <a:lnSpc>
                <a:spcPct val="135714"/>
              </a:lnSpc>
              <a:spcBef>
                <a:spcPts val="0"/>
              </a:spcBef>
              <a:spcAft>
                <a:spcPts val="0"/>
              </a:spcAft>
              <a:buClr>
                <a:schemeClr val="accent1"/>
              </a:buClr>
              <a:buSzPts val="1450"/>
              <a:buFont typeface="Catamaran"/>
              <a:buAutoNum type="arabicPeriod"/>
            </a:pPr>
            <a:r>
              <a:rPr b="0" i="0" lang="en-US" sz="1450" u="none" cap="none" strike="noStrike">
                <a:solidFill>
                  <a:schemeClr val="dk1"/>
                </a:solidFill>
                <a:latin typeface="Catamaran"/>
                <a:ea typeface="Catamaran"/>
                <a:cs typeface="Catamaran"/>
                <a:sym typeface="Catamaran"/>
              </a:rPr>
              <a:t>The more </a:t>
            </a:r>
            <a:r>
              <a:rPr b="1" i="0" lang="en-US" sz="1450" u="none" cap="none" strike="noStrike">
                <a:solidFill>
                  <a:schemeClr val="accent1"/>
                </a:solidFill>
                <a:latin typeface="Catamaran"/>
                <a:ea typeface="Catamaran"/>
                <a:cs typeface="Catamaran"/>
                <a:sym typeface="Catamaran"/>
              </a:rPr>
              <a:t>listings</a:t>
            </a:r>
            <a:r>
              <a:rPr b="0" i="0" lang="en-US" sz="1450" u="none" cap="none" strike="noStrike">
                <a:solidFill>
                  <a:schemeClr val="dk1"/>
                </a:solidFill>
                <a:latin typeface="Catamaran"/>
                <a:ea typeface="Catamaran"/>
                <a:cs typeface="Catamaran"/>
                <a:sym typeface="Catamaran"/>
              </a:rPr>
              <a:t>(calculated_host_listings_count) the host has, the </a:t>
            </a:r>
            <a:r>
              <a:rPr b="1" i="0" lang="en-US" sz="1450" u="none" cap="none" strike="noStrike">
                <a:solidFill>
                  <a:schemeClr val="accent1"/>
                </a:solidFill>
                <a:latin typeface="Catamaran"/>
                <a:ea typeface="Catamaran"/>
                <a:cs typeface="Catamaran"/>
                <a:sym typeface="Catamaran"/>
              </a:rPr>
              <a:t>less availability</a:t>
            </a:r>
            <a:r>
              <a:rPr b="0" i="0" lang="en-US" sz="1450" u="none" cap="none" strike="noStrike">
                <a:solidFill>
                  <a:schemeClr val="dk1"/>
                </a:solidFill>
                <a:latin typeface="Catamaran"/>
                <a:ea typeface="Catamaran"/>
                <a:cs typeface="Catamaran"/>
                <a:sym typeface="Catamaran"/>
              </a:rPr>
              <a:t> it would be (due to experience)</a:t>
            </a:r>
            <a:endParaRPr b="0" i="0" sz="1450" u="none" cap="none" strike="noStrike">
              <a:solidFill>
                <a:schemeClr val="dk1"/>
              </a:solidFill>
              <a:latin typeface="Catamaran"/>
              <a:ea typeface="Catamaran"/>
              <a:cs typeface="Catamaran"/>
              <a:sym typeface="Catamaran"/>
            </a:endParaRPr>
          </a:p>
          <a:p>
            <a:pPr indent="-320675" lvl="0" marL="457200" marR="0" rtl="0" algn="l">
              <a:lnSpc>
                <a:spcPct val="135714"/>
              </a:lnSpc>
              <a:spcBef>
                <a:spcPts val="0"/>
              </a:spcBef>
              <a:spcAft>
                <a:spcPts val="0"/>
              </a:spcAft>
              <a:buClr>
                <a:schemeClr val="accent1"/>
              </a:buClr>
              <a:buSzPts val="1450"/>
              <a:buFont typeface="Catamaran"/>
              <a:buAutoNum type="arabicPeriod"/>
            </a:pPr>
            <a:r>
              <a:rPr b="0" i="0" lang="en-US" sz="1450" u="none" cap="none" strike="noStrike">
                <a:solidFill>
                  <a:schemeClr val="dk1"/>
                </a:solidFill>
                <a:latin typeface="Catamaran"/>
                <a:ea typeface="Catamaran"/>
                <a:cs typeface="Catamaran"/>
                <a:sym typeface="Catamaran"/>
              </a:rPr>
              <a:t>The </a:t>
            </a:r>
            <a:r>
              <a:rPr b="1" i="0" lang="en-US" sz="1450" u="none" cap="none" strike="noStrike">
                <a:solidFill>
                  <a:schemeClr val="accent1"/>
                </a:solidFill>
                <a:latin typeface="Catamaran"/>
                <a:ea typeface="Catamaran"/>
                <a:cs typeface="Catamaran"/>
                <a:sym typeface="Catamaran"/>
              </a:rPr>
              <a:t>longer</a:t>
            </a:r>
            <a:r>
              <a:rPr b="0" i="0" lang="en-US" sz="1450" u="none" cap="none" strike="noStrike">
                <a:solidFill>
                  <a:schemeClr val="dk1"/>
                </a:solidFill>
                <a:latin typeface="Catamaran"/>
                <a:ea typeface="Catamaran"/>
                <a:cs typeface="Catamaran"/>
                <a:sym typeface="Catamaran"/>
              </a:rPr>
              <a:t> </a:t>
            </a:r>
            <a:r>
              <a:rPr b="1" i="0" lang="en-US" sz="1450" u="none" cap="none" strike="noStrike">
                <a:solidFill>
                  <a:schemeClr val="accent1"/>
                </a:solidFill>
                <a:latin typeface="Catamaran"/>
                <a:ea typeface="Catamaran"/>
                <a:cs typeface="Catamaran"/>
                <a:sym typeface="Catamaran"/>
              </a:rPr>
              <a:t>characters</a:t>
            </a:r>
            <a:r>
              <a:rPr b="0" i="0" lang="en-US" sz="1450" u="none" cap="none" strike="noStrike">
                <a:solidFill>
                  <a:schemeClr val="dk1"/>
                </a:solidFill>
                <a:latin typeface="Catamaran"/>
                <a:ea typeface="Catamaran"/>
                <a:cs typeface="Catamaran"/>
                <a:sym typeface="Catamaran"/>
              </a:rPr>
              <a:t> the airbnb name has, the </a:t>
            </a:r>
            <a:r>
              <a:rPr b="1" i="0" lang="en-US" sz="1450" u="none" cap="none" strike="noStrike">
                <a:solidFill>
                  <a:schemeClr val="accent1"/>
                </a:solidFill>
                <a:latin typeface="Catamaran"/>
                <a:ea typeface="Catamaran"/>
                <a:cs typeface="Catamaran"/>
                <a:sym typeface="Catamaran"/>
              </a:rPr>
              <a:t>more availability </a:t>
            </a:r>
            <a:r>
              <a:rPr b="0" i="0" lang="en-US" sz="1450" u="none" cap="none" strike="noStrike">
                <a:solidFill>
                  <a:schemeClr val="dk1"/>
                </a:solidFill>
                <a:latin typeface="Catamaran"/>
                <a:ea typeface="Catamaran"/>
                <a:cs typeface="Catamaran"/>
                <a:sym typeface="Catamaran"/>
              </a:rPr>
              <a:t>there is</a:t>
            </a:r>
            <a:endParaRPr b="0" i="0" sz="1450" u="none" cap="none" strike="noStrike">
              <a:solidFill>
                <a:schemeClr val="dk1"/>
              </a:solidFill>
              <a:latin typeface="Catamaran"/>
              <a:ea typeface="Catamaran"/>
              <a:cs typeface="Catamaran"/>
              <a:sym typeface="Catamaran"/>
            </a:endParaRPr>
          </a:p>
          <a:p>
            <a:pPr indent="-320675" lvl="0" marL="457200" marR="0" rtl="0" algn="l">
              <a:lnSpc>
                <a:spcPct val="135714"/>
              </a:lnSpc>
              <a:spcBef>
                <a:spcPts val="0"/>
              </a:spcBef>
              <a:spcAft>
                <a:spcPts val="0"/>
              </a:spcAft>
              <a:buClr>
                <a:schemeClr val="accent1"/>
              </a:buClr>
              <a:buSzPts val="1450"/>
              <a:buFont typeface="Catamaran"/>
              <a:buAutoNum type="arabicPeriod"/>
            </a:pPr>
            <a:r>
              <a:rPr b="1" i="0" lang="en-US" sz="1450" u="none" cap="none" strike="noStrike">
                <a:solidFill>
                  <a:schemeClr val="accent1"/>
                </a:solidFill>
                <a:latin typeface="Catamaran"/>
                <a:ea typeface="Catamaran"/>
                <a:cs typeface="Catamaran"/>
                <a:sym typeface="Catamaran"/>
              </a:rPr>
              <a:t>Entire home/apt renting</a:t>
            </a:r>
            <a:r>
              <a:rPr b="0" i="0" lang="en-US" sz="1450" u="none" cap="none" strike="noStrike">
                <a:solidFill>
                  <a:schemeClr val="dk1"/>
                </a:solidFill>
                <a:latin typeface="Catamaran"/>
                <a:ea typeface="Catamaran"/>
                <a:cs typeface="Catamaran"/>
                <a:sym typeface="Catamaran"/>
              </a:rPr>
              <a:t> has </a:t>
            </a:r>
            <a:r>
              <a:rPr b="1" i="0" lang="en-US" sz="1450" u="none" cap="none" strike="noStrike">
                <a:solidFill>
                  <a:schemeClr val="accent1"/>
                </a:solidFill>
                <a:latin typeface="Catamaran"/>
                <a:ea typeface="Catamaran"/>
                <a:cs typeface="Catamaran"/>
                <a:sym typeface="Catamaran"/>
              </a:rPr>
              <a:t>less availability </a:t>
            </a:r>
            <a:r>
              <a:rPr b="0" i="0" lang="en-US" sz="1450" u="none" cap="none" strike="noStrike">
                <a:solidFill>
                  <a:schemeClr val="dk1"/>
                </a:solidFill>
                <a:latin typeface="Catamaran"/>
                <a:ea typeface="Catamaran"/>
                <a:cs typeface="Catamaran"/>
                <a:sym typeface="Catamaran"/>
              </a:rPr>
              <a:t>than </a:t>
            </a:r>
            <a:r>
              <a:rPr b="1" i="0" lang="en-US" sz="1450" u="none" cap="none" strike="noStrike">
                <a:solidFill>
                  <a:schemeClr val="accent1"/>
                </a:solidFill>
                <a:latin typeface="Catamaran"/>
                <a:ea typeface="Catamaran"/>
                <a:cs typeface="Catamaran"/>
                <a:sym typeface="Catamaran"/>
              </a:rPr>
              <a:t>private room</a:t>
            </a:r>
            <a:endParaRPr b="1" i="0" sz="1450" u="none" cap="none" strike="noStrike">
              <a:solidFill>
                <a:schemeClr val="accent1"/>
              </a:solidFill>
              <a:latin typeface="Catamaran"/>
              <a:ea typeface="Catamaran"/>
              <a:cs typeface="Catamaran"/>
              <a:sym typeface="Catamaran"/>
            </a:endParaRPr>
          </a:p>
          <a:p>
            <a:pPr indent="0" lvl="0" marL="0" marR="0" rtl="0" algn="l">
              <a:lnSpc>
                <a:spcPct val="135714"/>
              </a:lnSpc>
              <a:spcBef>
                <a:spcPts val="0"/>
              </a:spcBef>
              <a:spcAft>
                <a:spcPts val="0"/>
              </a:spcAft>
              <a:buClr>
                <a:schemeClr val="dk1"/>
              </a:buClr>
              <a:buSzPts val="1100"/>
              <a:buFont typeface="Arial"/>
              <a:buNone/>
            </a:pPr>
            <a:r>
              <a:t/>
            </a:r>
            <a:endParaRPr b="0" i="0" sz="1350" u="none" cap="none" strike="noStrike">
              <a:solidFill>
                <a:schemeClr val="dk1"/>
              </a:solidFill>
              <a:highlight>
                <a:srgbClr val="F7F7F7"/>
              </a:highlight>
              <a:latin typeface="Catamaran"/>
              <a:ea typeface="Catamaran"/>
              <a:cs typeface="Catamaran"/>
              <a:sym typeface="Catamaran"/>
            </a:endParaRPr>
          </a:p>
        </p:txBody>
      </p:sp>
      <p:sp>
        <p:nvSpPr>
          <p:cNvPr id="167" name="Google Shape;167;p8"/>
          <p:cNvSpPr/>
          <p:nvPr/>
        </p:nvSpPr>
        <p:spPr>
          <a:xfrm rot="5400000">
            <a:off x="10603450" y="1909445"/>
            <a:ext cx="274984" cy="274984"/>
          </a:xfrm>
          <a:custGeom>
            <a:rect b="b" l="l" r="r" t="t"/>
            <a:pathLst>
              <a:path extrusionOk="0" h="1272540" w="1272540">
                <a:moveTo>
                  <a:pt x="0" y="636270"/>
                </a:moveTo>
                <a:cubicBezTo>
                  <a:pt x="0" y="552102"/>
                  <a:pt x="68232" y="483870"/>
                  <a:pt x="152400" y="483870"/>
                </a:cubicBezTo>
                <a:lnTo>
                  <a:pt x="483870" y="483870"/>
                </a:lnTo>
                <a:lnTo>
                  <a:pt x="483870" y="152400"/>
                </a:lnTo>
                <a:cubicBezTo>
                  <a:pt x="483870" y="68232"/>
                  <a:pt x="552102" y="0"/>
                  <a:pt x="636270" y="0"/>
                </a:cubicBezTo>
                <a:cubicBezTo>
                  <a:pt x="720438" y="0"/>
                  <a:pt x="788670" y="68232"/>
                  <a:pt x="788670" y="152400"/>
                </a:cubicBezTo>
                <a:lnTo>
                  <a:pt x="788670" y="483870"/>
                </a:lnTo>
                <a:lnTo>
                  <a:pt x="1120140" y="483870"/>
                </a:lnTo>
                <a:cubicBezTo>
                  <a:pt x="1204308" y="483870"/>
                  <a:pt x="1272540" y="552102"/>
                  <a:pt x="1272540" y="636270"/>
                </a:cubicBezTo>
                <a:cubicBezTo>
                  <a:pt x="1272540" y="720438"/>
                  <a:pt x="1204308" y="788670"/>
                  <a:pt x="1120140" y="788670"/>
                </a:cubicBezTo>
                <a:lnTo>
                  <a:pt x="788670" y="788670"/>
                </a:lnTo>
                <a:lnTo>
                  <a:pt x="788670" y="1120140"/>
                </a:lnTo>
                <a:cubicBezTo>
                  <a:pt x="788670" y="1204308"/>
                  <a:pt x="720438" y="1272540"/>
                  <a:pt x="636270" y="1272540"/>
                </a:cubicBezTo>
                <a:cubicBezTo>
                  <a:pt x="552102" y="1272540"/>
                  <a:pt x="483870" y="1204308"/>
                  <a:pt x="483870" y="1120140"/>
                </a:cubicBezTo>
                <a:lnTo>
                  <a:pt x="483870" y="788670"/>
                </a:lnTo>
                <a:lnTo>
                  <a:pt x="152400" y="788670"/>
                </a:lnTo>
                <a:cubicBezTo>
                  <a:pt x="68232" y="788670"/>
                  <a:pt x="0" y="720438"/>
                  <a:pt x="0" y="636270"/>
                </a:cubicBezTo>
                <a:close/>
              </a:path>
            </a:pathLst>
          </a:custGeom>
          <a:solidFill>
            <a:schemeClr val="lt1"/>
          </a:solidFill>
          <a:ln cap="sq"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 name="Google Shape;168;p8"/>
          <p:cNvSpPr/>
          <p:nvPr/>
        </p:nvSpPr>
        <p:spPr>
          <a:xfrm>
            <a:off x="264152" y="277385"/>
            <a:ext cx="360000" cy="285696"/>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 name="Google Shape;169;p8"/>
          <p:cNvSpPr txBox="1"/>
          <p:nvPr/>
        </p:nvSpPr>
        <p:spPr>
          <a:xfrm>
            <a:off x="780300" y="664142"/>
            <a:ext cx="10745700" cy="4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accent1"/>
                </a:solidFill>
                <a:latin typeface="Catamaran"/>
                <a:ea typeface="Catamaran"/>
                <a:cs typeface="Catamaran"/>
                <a:sym typeface="Catamaran"/>
              </a:rPr>
              <a:t>Hypothesis</a:t>
            </a:r>
            <a:endParaRPr b="1" i="0" sz="3600" u="none" cap="none" strike="noStrike">
              <a:solidFill>
                <a:schemeClr val="accent1"/>
              </a:solidFill>
              <a:latin typeface="Catamaran"/>
              <a:ea typeface="Catamaran"/>
              <a:cs typeface="Catamaran"/>
              <a:sym typeface="Catamar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3921"/>
          </a:schemeClr>
        </a:solidFill>
      </p:bgPr>
    </p:bg>
    <p:spTree>
      <p:nvGrpSpPr>
        <p:cNvPr id="173" name="Shape 173"/>
        <p:cNvGrpSpPr/>
        <p:nvPr/>
      </p:nvGrpSpPr>
      <p:grpSpPr>
        <a:xfrm>
          <a:off x="0" y="0"/>
          <a:ext cx="0" cy="0"/>
          <a:chOff x="0" y="0"/>
          <a:chExt cx="0" cy="0"/>
        </a:xfrm>
      </p:grpSpPr>
      <p:sp>
        <p:nvSpPr>
          <p:cNvPr id="174" name="Google Shape;174;p9"/>
          <p:cNvSpPr txBox="1"/>
          <p:nvPr/>
        </p:nvSpPr>
        <p:spPr>
          <a:xfrm>
            <a:off x="0" y="0"/>
            <a:ext cx="12306300" cy="699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75" name="Google Shape;175;p9"/>
          <p:cNvPicPr preferRelativeResize="0"/>
          <p:nvPr/>
        </p:nvPicPr>
        <p:blipFill rotWithShape="1">
          <a:blip r:embed="rId3">
            <a:alphaModFix amt="15000"/>
          </a:blip>
          <a:srcRect b="-1" l="0" r="0" t="20071"/>
          <a:stretch/>
        </p:blipFill>
        <p:spPr>
          <a:xfrm>
            <a:off x="-381000" y="-214312"/>
            <a:ext cx="12954000" cy="7286625"/>
          </a:xfrm>
          <a:prstGeom prst="rect">
            <a:avLst/>
          </a:prstGeom>
          <a:noFill/>
          <a:ln>
            <a:noFill/>
          </a:ln>
        </p:spPr>
      </p:pic>
      <p:grpSp>
        <p:nvGrpSpPr>
          <p:cNvPr id="176" name="Google Shape;176;p9"/>
          <p:cNvGrpSpPr/>
          <p:nvPr/>
        </p:nvGrpSpPr>
        <p:grpSpPr>
          <a:xfrm>
            <a:off x="7235" y="17004"/>
            <a:ext cx="12192000" cy="6840996"/>
            <a:chOff x="7235" y="17004"/>
            <a:chExt cx="12192000" cy="6840996"/>
          </a:xfrm>
        </p:grpSpPr>
        <p:cxnSp>
          <p:nvCxnSpPr>
            <p:cNvPr id="177" name="Google Shape;177;p9"/>
            <p:cNvCxnSpPr/>
            <p:nvPr/>
          </p:nvCxnSpPr>
          <p:spPr>
            <a:xfrm>
              <a:off x="7235" y="415284"/>
              <a:ext cx="12192000" cy="1"/>
            </a:xfrm>
            <a:prstGeom prst="straightConnector1">
              <a:avLst/>
            </a:prstGeom>
            <a:noFill/>
            <a:ln cap="flat" cmpd="sng" w="12700">
              <a:solidFill>
                <a:srgbClr val="7F7F7F">
                  <a:alpha val="23921"/>
                </a:srgbClr>
              </a:solidFill>
              <a:prstDash val="solid"/>
              <a:miter lim="8000"/>
              <a:headEnd len="sm" w="sm" type="none"/>
              <a:tailEnd len="sm" w="sm" type="none"/>
            </a:ln>
          </p:spPr>
        </p:cxnSp>
        <p:cxnSp>
          <p:nvCxnSpPr>
            <p:cNvPr id="178" name="Google Shape;178;p9"/>
            <p:cNvCxnSpPr/>
            <p:nvPr/>
          </p:nvCxnSpPr>
          <p:spPr>
            <a:xfrm flipH="1" rot="10800000">
              <a:off x="11903226" y="17004"/>
              <a:ext cx="2592" cy="6840996"/>
            </a:xfrm>
            <a:prstGeom prst="straightConnector1">
              <a:avLst/>
            </a:prstGeom>
            <a:noFill/>
            <a:ln cap="flat" cmpd="sng" w="12700">
              <a:solidFill>
                <a:srgbClr val="7F7F7F">
                  <a:alpha val="23921"/>
                </a:srgbClr>
              </a:solidFill>
              <a:prstDash val="solid"/>
              <a:miter lim="8000"/>
              <a:headEnd len="sm" w="sm" type="none"/>
              <a:tailEnd len="sm" w="sm" type="none"/>
            </a:ln>
          </p:spPr>
        </p:cxnSp>
        <p:cxnSp>
          <p:nvCxnSpPr>
            <p:cNvPr id="179" name="Google Shape;179;p9"/>
            <p:cNvCxnSpPr/>
            <p:nvPr/>
          </p:nvCxnSpPr>
          <p:spPr>
            <a:xfrm>
              <a:off x="7235" y="6481744"/>
              <a:ext cx="12192000" cy="1"/>
            </a:xfrm>
            <a:prstGeom prst="straightConnector1">
              <a:avLst/>
            </a:prstGeom>
            <a:noFill/>
            <a:ln cap="flat" cmpd="sng" w="12700">
              <a:solidFill>
                <a:srgbClr val="7F7F7F">
                  <a:alpha val="23921"/>
                </a:srgbClr>
              </a:solidFill>
              <a:prstDash val="solid"/>
              <a:miter lim="8000"/>
              <a:headEnd len="sm" w="sm" type="none"/>
              <a:tailEnd len="sm" w="sm" type="none"/>
            </a:ln>
          </p:spPr>
        </p:cxnSp>
        <p:cxnSp>
          <p:nvCxnSpPr>
            <p:cNvPr id="180" name="Google Shape;180;p9"/>
            <p:cNvCxnSpPr/>
            <p:nvPr/>
          </p:nvCxnSpPr>
          <p:spPr>
            <a:xfrm flipH="1" rot="10800000">
              <a:off x="582979" y="17004"/>
              <a:ext cx="2592" cy="6840995"/>
            </a:xfrm>
            <a:prstGeom prst="straightConnector1">
              <a:avLst/>
            </a:prstGeom>
            <a:noFill/>
            <a:ln cap="flat" cmpd="sng" w="12700">
              <a:solidFill>
                <a:srgbClr val="7F7F7F">
                  <a:alpha val="23921"/>
                </a:srgbClr>
              </a:solidFill>
              <a:prstDash val="solid"/>
              <a:miter lim="8000"/>
              <a:headEnd len="sm" w="sm" type="none"/>
              <a:tailEnd len="sm" w="sm" type="none"/>
            </a:ln>
          </p:spPr>
        </p:cxnSp>
      </p:grpSp>
      <p:sp>
        <p:nvSpPr>
          <p:cNvPr id="181" name="Google Shape;181;p9"/>
          <p:cNvSpPr/>
          <p:nvPr/>
        </p:nvSpPr>
        <p:spPr>
          <a:xfrm>
            <a:off x="542793" y="420489"/>
            <a:ext cx="608776" cy="608577"/>
          </a:xfrm>
          <a:custGeom>
            <a:rect b="b" l="l" r="r" t="t"/>
            <a:pathLst>
              <a:path extrusionOk="0" h="20595" w="20596">
                <a:moveTo>
                  <a:pt x="0" y="0"/>
                </a:moveTo>
                <a:lnTo>
                  <a:pt x="0" y="11107"/>
                </a:lnTo>
                <a:lnTo>
                  <a:pt x="94" y="11107"/>
                </a:lnTo>
                <a:cubicBezTo>
                  <a:pt x="279" y="13466"/>
                  <a:pt x="1231" y="15777"/>
                  <a:pt x="3034" y="17581"/>
                </a:cubicBezTo>
                <a:cubicBezTo>
                  <a:pt x="7052" y="21600"/>
                  <a:pt x="13565" y="21600"/>
                  <a:pt x="17582" y="17581"/>
                </a:cubicBezTo>
                <a:cubicBezTo>
                  <a:pt x="21600" y="13562"/>
                  <a:pt x="21600" y="7041"/>
                  <a:pt x="17582" y="3022"/>
                </a:cubicBezTo>
                <a:cubicBezTo>
                  <a:pt x="15747" y="1186"/>
                  <a:pt x="13391" y="239"/>
                  <a:pt x="10990" y="81"/>
                </a:cubicBezTo>
                <a:lnTo>
                  <a:pt x="10990" y="0"/>
                </a:lnTo>
                <a:lnTo>
                  <a:pt x="0" y="0"/>
                </a:lnTo>
                <a:close/>
                <a:moveTo>
                  <a:pt x="4404" y="10496"/>
                </a:moveTo>
                <a:lnTo>
                  <a:pt x="16213" y="10496"/>
                </a:lnTo>
                <a:cubicBezTo>
                  <a:pt x="16214" y="12009"/>
                  <a:pt x="15634" y="13519"/>
                  <a:pt x="14481" y="14673"/>
                </a:cubicBezTo>
                <a:cubicBezTo>
                  <a:pt x="12176" y="16979"/>
                  <a:pt x="8441" y="16979"/>
                  <a:pt x="6136" y="14673"/>
                </a:cubicBezTo>
                <a:cubicBezTo>
                  <a:pt x="4982" y="13519"/>
                  <a:pt x="4403" y="12009"/>
                  <a:pt x="4404" y="10496"/>
                </a:cubicBezTo>
                <a:close/>
              </a:path>
            </a:pathLst>
          </a:cu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 name="Google Shape;182;p9"/>
          <p:cNvSpPr txBox="1"/>
          <p:nvPr/>
        </p:nvSpPr>
        <p:spPr>
          <a:xfrm>
            <a:off x="5406224" y="2345284"/>
            <a:ext cx="5785007" cy="20307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accent1"/>
                </a:solidFill>
                <a:latin typeface="Catamaran"/>
                <a:ea typeface="Catamaran"/>
                <a:cs typeface="Catamaran"/>
                <a:sym typeface="Catamaran"/>
              </a:rPr>
              <a:t>Our Process</a:t>
            </a:r>
            <a:endParaRPr b="1" i="0" sz="1800" u="none" cap="none" strike="noStrike">
              <a:solidFill>
                <a:srgbClr val="000000"/>
              </a:solidFill>
              <a:latin typeface="Catamaran"/>
              <a:ea typeface="Catamaran"/>
              <a:cs typeface="Catamaran"/>
              <a:sym typeface="Catamaran"/>
            </a:endParaRPr>
          </a:p>
        </p:txBody>
      </p:sp>
      <p:sp>
        <p:nvSpPr>
          <p:cNvPr id="183" name="Google Shape;183;p9"/>
          <p:cNvSpPr txBox="1"/>
          <p:nvPr/>
        </p:nvSpPr>
        <p:spPr>
          <a:xfrm rot="-5400000">
            <a:off x="-16860" y="2756059"/>
            <a:ext cx="1185294" cy="1151569"/>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 name="Google Shape;184;p9"/>
          <p:cNvSpPr txBox="1"/>
          <p:nvPr/>
        </p:nvSpPr>
        <p:spPr>
          <a:xfrm>
            <a:off x="2030388" y="1919063"/>
            <a:ext cx="2825563" cy="2825563"/>
          </a:xfrm>
          <a:prstGeom prst="rect">
            <a:avLst/>
          </a:prstGeom>
          <a:solidFill>
            <a:schemeClr val="accent1"/>
          </a:solidFill>
          <a:ln>
            <a:noFill/>
          </a:ln>
        </p:spPr>
        <p:txBody>
          <a:bodyPr anchorCtr="0" anchor="ctr" bIns="108000" lIns="108000" spcFirstLastPara="1" rIns="108000" wrap="square" tIns="108000">
            <a:noAutofit/>
          </a:bodyPr>
          <a:lstStyle/>
          <a:p>
            <a:pPr indent="0" lvl="0" marL="0" marR="0" rtl="0" algn="ctr">
              <a:lnSpc>
                <a:spcPct val="100000"/>
              </a:lnSpc>
              <a:spcBef>
                <a:spcPts val="0"/>
              </a:spcBef>
              <a:spcAft>
                <a:spcPts val="0"/>
              </a:spcAft>
              <a:buClr>
                <a:srgbClr val="000000"/>
              </a:buClr>
              <a:buSzPts val="7658"/>
              <a:buFont typeface="Arial"/>
              <a:buNone/>
            </a:pPr>
            <a:r>
              <a:rPr b="1" i="0" lang="en-US" sz="7658" u="none" cap="none" strike="noStrike">
                <a:solidFill>
                  <a:srgbClr val="FFFFFF"/>
                </a:solidFill>
                <a:latin typeface="Catamaran"/>
                <a:ea typeface="Catamaran"/>
                <a:cs typeface="Catamaran"/>
                <a:sym typeface="Catamaran"/>
              </a:rPr>
              <a:t>03</a:t>
            </a:r>
            <a:endParaRPr b="1" i="0" sz="1800" u="none" cap="none" strike="noStrike">
              <a:solidFill>
                <a:srgbClr val="000000"/>
              </a:solidFill>
              <a:latin typeface="Catamaran"/>
              <a:ea typeface="Catamaran"/>
              <a:cs typeface="Catamaran"/>
              <a:sym typeface="Catamaran"/>
            </a:endParaRPr>
          </a:p>
        </p:txBody>
      </p:sp>
      <p:grpSp>
        <p:nvGrpSpPr>
          <p:cNvPr id="185" name="Google Shape;185;p9"/>
          <p:cNvGrpSpPr/>
          <p:nvPr/>
        </p:nvGrpSpPr>
        <p:grpSpPr>
          <a:xfrm>
            <a:off x="2603430" y="5162498"/>
            <a:ext cx="1679478" cy="300458"/>
            <a:chOff x="2603430" y="5162498"/>
            <a:chExt cx="1679478" cy="300458"/>
          </a:xfrm>
        </p:grpSpPr>
        <p:sp>
          <p:nvSpPr>
            <p:cNvPr id="186" name="Google Shape;186;p9"/>
            <p:cNvSpPr/>
            <p:nvPr/>
          </p:nvSpPr>
          <p:spPr>
            <a:xfrm flipH="1">
              <a:off x="3139976" y="5282838"/>
              <a:ext cx="59777" cy="59777"/>
            </a:xfrm>
            <a:prstGeom prst="ellipse">
              <a:avLst/>
            </a:pr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 name="Google Shape;187;p9"/>
            <p:cNvSpPr/>
            <p:nvPr/>
          </p:nvSpPr>
          <p:spPr>
            <a:xfrm flipH="1">
              <a:off x="3276628"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 name="Google Shape;188;p9"/>
            <p:cNvSpPr/>
            <p:nvPr/>
          </p:nvSpPr>
          <p:spPr>
            <a:xfrm flipH="1">
              <a:off x="3413281"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 name="Google Shape;189;p9"/>
            <p:cNvSpPr/>
            <p:nvPr/>
          </p:nvSpPr>
          <p:spPr>
            <a:xfrm flipH="1">
              <a:off x="3549933"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 name="Google Shape;190;p9"/>
            <p:cNvSpPr/>
            <p:nvPr/>
          </p:nvSpPr>
          <p:spPr>
            <a:xfrm flipH="1">
              <a:off x="3686586"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 name="Google Shape;191;p9"/>
            <p:cNvSpPr txBox="1"/>
            <p:nvPr/>
          </p:nvSpPr>
          <p:spPr>
            <a:xfrm flipH="1">
              <a:off x="3982450" y="5162498"/>
              <a:ext cx="300458" cy="30045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2" name="Google Shape;192;p9"/>
            <p:cNvCxnSpPr/>
            <p:nvPr/>
          </p:nvCxnSpPr>
          <p:spPr>
            <a:xfrm>
              <a:off x="4070609" y="5312726"/>
              <a:ext cx="124140" cy="0"/>
            </a:xfrm>
            <a:prstGeom prst="straightConnector1">
              <a:avLst/>
            </a:prstGeom>
            <a:noFill/>
            <a:ln cap="flat" cmpd="sng" w="12700">
              <a:solidFill>
                <a:srgbClr val="FFFFFF"/>
              </a:solidFill>
              <a:prstDash val="solid"/>
              <a:miter lim="8000"/>
              <a:headEnd len="sm" w="sm" type="none"/>
              <a:tailEnd len="sm" w="sm" type="none"/>
            </a:ln>
          </p:spPr>
        </p:cxnSp>
        <p:sp>
          <p:nvSpPr>
            <p:cNvPr id="193" name="Google Shape;193;p9"/>
            <p:cNvSpPr/>
            <p:nvPr/>
          </p:nvSpPr>
          <p:spPr>
            <a:xfrm rot="-2700000">
              <a:off x="4099827" y="5269352"/>
              <a:ext cx="86749" cy="86749"/>
            </a:xfrm>
            <a:custGeom>
              <a:rect b="b" l="l" r="r" t="t"/>
              <a:pathLst>
                <a:path extrusionOk="0" h="252248" w="252248">
                  <a:moveTo>
                    <a:pt x="252248" y="0"/>
                  </a:moveTo>
                  <a:lnTo>
                    <a:pt x="252248" y="252248"/>
                  </a:lnTo>
                  <a:lnTo>
                    <a:pt x="0" y="252248"/>
                  </a:lnTo>
                </a:path>
              </a:pathLst>
            </a:custGeom>
            <a:noFill/>
            <a:ln cap="flat" cmpd="sng" w="12700">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 name="Google Shape;194;p9"/>
            <p:cNvSpPr txBox="1"/>
            <p:nvPr/>
          </p:nvSpPr>
          <p:spPr>
            <a:xfrm>
              <a:off x="2603430" y="5162498"/>
              <a:ext cx="300458" cy="300458"/>
            </a:xfrm>
            <a:prstGeom prst="rect">
              <a:avLst/>
            </a:prstGeom>
            <a:solidFill>
              <a:srgbClr val="7F7F7F">
                <a:alpha val="14117"/>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5" name="Google Shape;195;p9"/>
            <p:cNvCxnSpPr/>
            <p:nvPr/>
          </p:nvCxnSpPr>
          <p:spPr>
            <a:xfrm rot="10800000">
              <a:off x="2691590" y="5312726"/>
              <a:ext cx="124140" cy="0"/>
            </a:xfrm>
            <a:prstGeom prst="straightConnector1">
              <a:avLst/>
            </a:prstGeom>
            <a:noFill/>
            <a:ln cap="flat" cmpd="sng" w="12700">
              <a:solidFill>
                <a:schemeClr val="dk1"/>
              </a:solidFill>
              <a:prstDash val="solid"/>
              <a:miter lim="8000"/>
              <a:headEnd len="sm" w="sm" type="none"/>
              <a:tailEnd len="sm" w="sm" type="none"/>
            </a:ln>
          </p:spPr>
        </p:cxnSp>
        <p:sp>
          <p:nvSpPr>
            <p:cNvPr id="196" name="Google Shape;196;p9"/>
            <p:cNvSpPr/>
            <p:nvPr/>
          </p:nvSpPr>
          <p:spPr>
            <a:xfrm flipH="1" rot="2700000">
              <a:off x="2699763" y="5269352"/>
              <a:ext cx="86749" cy="86749"/>
            </a:xfrm>
            <a:custGeom>
              <a:rect b="b" l="l" r="r" t="t"/>
              <a:pathLst>
                <a:path extrusionOk="0" h="252248" w="252248">
                  <a:moveTo>
                    <a:pt x="252248" y="0"/>
                  </a:moveTo>
                  <a:lnTo>
                    <a:pt x="252248" y="252248"/>
                  </a:lnTo>
                  <a:lnTo>
                    <a:pt x="0" y="252248"/>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2c83310895d_0_24"/>
          <p:cNvSpPr/>
          <p:nvPr/>
        </p:nvSpPr>
        <p:spPr>
          <a:xfrm>
            <a:off x="264152" y="277385"/>
            <a:ext cx="360094" cy="285770"/>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 name="Google Shape;202;g2c83310895d_0_24"/>
          <p:cNvSpPr txBox="1"/>
          <p:nvPr/>
        </p:nvSpPr>
        <p:spPr>
          <a:xfrm>
            <a:off x="264150" y="864400"/>
            <a:ext cx="109176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accent1"/>
              </a:solidFill>
              <a:latin typeface="Catamaran"/>
              <a:ea typeface="Catamaran"/>
              <a:cs typeface="Catamaran"/>
              <a:sym typeface="Catamaran"/>
            </a:endParaRPr>
          </a:p>
        </p:txBody>
      </p:sp>
      <p:pic>
        <p:nvPicPr>
          <p:cNvPr id="203" name="Google Shape;203;g2c83310895d_0_24"/>
          <p:cNvPicPr preferRelativeResize="0"/>
          <p:nvPr/>
        </p:nvPicPr>
        <p:blipFill rotWithShape="1">
          <a:blip r:embed="rId3">
            <a:alphaModFix/>
          </a:blip>
          <a:srcRect b="0" l="0" r="0" t="0"/>
          <a:stretch/>
        </p:blipFill>
        <p:spPr>
          <a:xfrm>
            <a:off x="4001400" y="457200"/>
            <a:ext cx="8190602" cy="3267449"/>
          </a:xfrm>
          <a:prstGeom prst="rect">
            <a:avLst/>
          </a:prstGeom>
          <a:noFill/>
          <a:ln>
            <a:noFill/>
          </a:ln>
        </p:spPr>
      </p:pic>
      <p:pic>
        <p:nvPicPr>
          <p:cNvPr id="204" name="Google Shape;204;g2c83310895d_0_24"/>
          <p:cNvPicPr preferRelativeResize="0"/>
          <p:nvPr/>
        </p:nvPicPr>
        <p:blipFill rotWithShape="1">
          <a:blip r:embed="rId4">
            <a:alphaModFix/>
          </a:blip>
          <a:srcRect b="0" l="0" r="22073" t="0"/>
          <a:stretch/>
        </p:blipFill>
        <p:spPr>
          <a:xfrm>
            <a:off x="0" y="457200"/>
            <a:ext cx="4081215" cy="3267450"/>
          </a:xfrm>
          <a:prstGeom prst="rect">
            <a:avLst/>
          </a:prstGeom>
          <a:noFill/>
          <a:ln>
            <a:noFill/>
          </a:ln>
        </p:spPr>
      </p:pic>
      <p:pic>
        <p:nvPicPr>
          <p:cNvPr id="205" name="Google Shape;205;g2c83310895d_0_24"/>
          <p:cNvPicPr preferRelativeResize="0"/>
          <p:nvPr/>
        </p:nvPicPr>
        <p:blipFill rotWithShape="1">
          <a:blip r:embed="rId5">
            <a:alphaModFix/>
          </a:blip>
          <a:srcRect b="0" l="0" r="0" t="0"/>
          <a:stretch/>
        </p:blipFill>
        <p:spPr>
          <a:xfrm>
            <a:off x="0" y="3863618"/>
            <a:ext cx="12192000" cy="237294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3921"/>
          </a:schemeClr>
        </a:solidFill>
      </p:bgPr>
    </p:bg>
    <p:spTree>
      <p:nvGrpSpPr>
        <p:cNvPr id="209" name="Shape 209"/>
        <p:cNvGrpSpPr/>
        <p:nvPr/>
      </p:nvGrpSpPr>
      <p:grpSpPr>
        <a:xfrm>
          <a:off x="0" y="0"/>
          <a:ext cx="0" cy="0"/>
          <a:chOff x="0" y="0"/>
          <a:chExt cx="0" cy="0"/>
        </a:xfrm>
      </p:grpSpPr>
      <p:sp>
        <p:nvSpPr>
          <p:cNvPr id="210" name="Google Shape;210;p5"/>
          <p:cNvSpPr txBox="1"/>
          <p:nvPr/>
        </p:nvSpPr>
        <p:spPr>
          <a:xfrm>
            <a:off x="0" y="0"/>
            <a:ext cx="12306300" cy="699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11" name="Google Shape;211;p5"/>
          <p:cNvPicPr preferRelativeResize="0"/>
          <p:nvPr/>
        </p:nvPicPr>
        <p:blipFill rotWithShape="1">
          <a:blip r:embed="rId3">
            <a:alphaModFix amt="15000"/>
          </a:blip>
          <a:srcRect b="-1" l="0" r="0" t="20071"/>
          <a:stretch/>
        </p:blipFill>
        <p:spPr>
          <a:xfrm>
            <a:off x="-381000" y="-214312"/>
            <a:ext cx="12954000" cy="7286625"/>
          </a:xfrm>
          <a:prstGeom prst="rect">
            <a:avLst/>
          </a:prstGeom>
          <a:noFill/>
          <a:ln>
            <a:noFill/>
          </a:ln>
        </p:spPr>
      </p:pic>
      <p:grpSp>
        <p:nvGrpSpPr>
          <p:cNvPr id="212" name="Google Shape;212;p5"/>
          <p:cNvGrpSpPr/>
          <p:nvPr/>
        </p:nvGrpSpPr>
        <p:grpSpPr>
          <a:xfrm>
            <a:off x="5797074" y="6550320"/>
            <a:ext cx="597852" cy="615360"/>
            <a:chOff x="5797074" y="6550320"/>
            <a:chExt cx="597852" cy="615360"/>
          </a:xfrm>
        </p:grpSpPr>
        <p:sp>
          <p:nvSpPr>
            <p:cNvPr id="213" name="Google Shape;213;p5"/>
            <p:cNvSpPr txBox="1"/>
            <p:nvPr/>
          </p:nvSpPr>
          <p:spPr>
            <a:xfrm rot="5400000">
              <a:off x="5788320" y="6559074"/>
              <a:ext cx="615360" cy="597852"/>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4" name="Google Shape;214;p5"/>
            <p:cNvSpPr/>
            <p:nvPr/>
          </p:nvSpPr>
          <p:spPr>
            <a:xfrm>
              <a:off x="5988050" y="6647010"/>
              <a:ext cx="215900" cy="11430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15" name="Google Shape;215;p5"/>
          <p:cNvSpPr/>
          <p:nvPr/>
        </p:nvSpPr>
        <p:spPr>
          <a:xfrm>
            <a:off x="1618804" y="2774949"/>
            <a:ext cx="8941692" cy="2645084"/>
          </a:xfrm>
          <a:prstGeom prst="roundRect">
            <a:avLst>
              <a:gd fmla="val 6411" name="adj"/>
            </a:avLst>
          </a:prstGeom>
          <a:solidFill>
            <a:srgbClr val="84D4B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6" name="Google Shape;216;p5"/>
          <p:cNvSpPr/>
          <p:nvPr/>
        </p:nvSpPr>
        <p:spPr>
          <a:xfrm>
            <a:off x="5349380" y="1363730"/>
            <a:ext cx="1154977" cy="3325118"/>
          </a:xfrm>
          <a:custGeom>
            <a:rect b="b" l="l" r="r" t="t"/>
            <a:pathLst>
              <a:path extrusionOk="0" h="3325118" w="1154977">
                <a:moveTo>
                  <a:pt x="658936" y="0"/>
                </a:moveTo>
                <a:cubicBezTo>
                  <a:pt x="837762" y="-125"/>
                  <a:pt x="1014147" y="72407"/>
                  <a:pt x="1142397" y="210162"/>
                </a:cubicBezTo>
                <a:lnTo>
                  <a:pt x="1140331" y="212085"/>
                </a:lnTo>
                <a:lnTo>
                  <a:pt x="1149404" y="225541"/>
                </a:lnTo>
                <a:cubicBezTo>
                  <a:pt x="1152993" y="234026"/>
                  <a:pt x="1154977" y="243355"/>
                  <a:pt x="1154977" y="253148"/>
                </a:cubicBezTo>
                <a:cubicBezTo>
                  <a:pt x="1154977" y="292319"/>
                  <a:pt x="1123223" y="324073"/>
                  <a:pt x="1084052" y="324073"/>
                </a:cubicBezTo>
                <a:cubicBezTo>
                  <a:pt x="1064467" y="324073"/>
                  <a:pt x="1046735" y="316135"/>
                  <a:pt x="1033900" y="303300"/>
                </a:cubicBezTo>
                <a:lnTo>
                  <a:pt x="1029462" y="296716"/>
                </a:lnTo>
                <a:lnTo>
                  <a:pt x="974754" y="247053"/>
                </a:lnTo>
                <a:cubicBezTo>
                  <a:pt x="814248" y="124347"/>
                  <a:pt x="593589" y="104542"/>
                  <a:pt x="411454" y="203692"/>
                </a:cubicBezTo>
                <a:cubicBezTo>
                  <a:pt x="203300" y="317006"/>
                  <a:pt x="98325" y="556916"/>
                  <a:pt x="156351" y="786702"/>
                </a:cubicBezTo>
                <a:cubicBezTo>
                  <a:pt x="214377" y="1016487"/>
                  <a:pt x="420670" y="1177794"/>
                  <a:pt x="657666" y="1178697"/>
                </a:cubicBezTo>
                <a:lnTo>
                  <a:pt x="657660" y="1180206"/>
                </a:lnTo>
                <a:lnTo>
                  <a:pt x="660023" y="1179227"/>
                </a:lnTo>
                <a:cubicBezTo>
                  <a:pt x="694641" y="1179227"/>
                  <a:pt x="722704" y="1207290"/>
                  <a:pt x="722704" y="1241908"/>
                </a:cubicBezTo>
                <a:cubicBezTo>
                  <a:pt x="722704" y="1915418"/>
                  <a:pt x="722703" y="2588927"/>
                  <a:pt x="722703" y="3262437"/>
                </a:cubicBezTo>
                <a:cubicBezTo>
                  <a:pt x="722703" y="3297055"/>
                  <a:pt x="694640" y="3325118"/>
                  <a:pt x="660022" y="3325118"/>
                </a:cubicBezTo>
                <a:lnTo>
                  <a:pt x="660023" y="3325117"/>
                </a:lnTo>
                <a:cubicBezTo>
                  <a:pt x="625405" y="3325117"/>
                  <a:pt x="597342" y="3297054"/>
                  <a:pt x="597342" y="3262436"/>
                </a:cubicBezTo>
                <a:lnTo>
                  <a:pt x="597342" y="1308885"/>
                </a:lnTo>
                <a:lnTo>
                  <a:pt x="440924" y="1281935"/>
                </a:lnTo>
                <a:cubicBezTo>
                  <a:pt x="236703" y="1210118"/>
                  <a:pt x="75433" y="1040080"/>
                  <a:pt x="20136" y="821098"/>
                </a:cubicBezTo>
                <a:cubicBezTo>
                  <a:pt x="-53595" y="529122"/>
                  <a:pt x="79791" y="224282"/>
                  <a:pt x="344281" y="80299"/>
                </a:cubicBezTo>
                <a:cubicBezTo>
                  <a:pt x="443465" y="26306"/>
                  <a:pt x="551640" y="74"/>
                  <a:pt x="658936" y="0"/>
                </a:cubicBezTo>
                <a:close/>
              </a:path>
            </a:pathLst>
          </a:custGeom>
          <a:gradFill>
            <a:gsLst>
              <a:gs pos="0">
                <a:schemeClr val="accent1"/>
              </a:gs>
              <a:gs pos="100000">
                <a:srgbClr val="14362A"/>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7" name="Google Shape;217;p5"/>
          <p:cNvSpPr/>
          <p:nvPr/>
        </p:nvSpPr>
        <p:spPr>
          <a:xfrm>
            <a:off x="5584225" y="1598537"/>
            <a:ext cx="849600" cy="849600"/>
          </a:xfrm>
          <a:prstGeom prst="ellipse">
            <a:avLst/>
          </a:prstGeom>
          <a:gradFill>
            <a:gsLst>
              <a:gs pos="0">
                <a:schemeClr val="accent1"/>
              </a:gs>
              <a:gs pos="100000">
                <a:srgbClr val="14362A"/>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8" name="Google Shape;218;p5"/>
          <p:cNvSpPr/>
          <p:nvPr/>
        </p:nvSpPr>
        <p:spPr>
          <a:xfrm>
            <a:off x="1618800" y="2843524"/>
            <a:ext cx="8941800" cy="3527700"/>
          </a:xfrm>
          <a:prstGeom prst="roundRect">
            <a:avLst>
              <a:gd fmla="val 6411" name="adj"/>
            </a:avLst>
          </a:prstGeom>
          <a:solidFill>
            <a:schemeClr val="lt1"/>
          </a:solidFill>
          <a:ln cap="sq"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9" name="Google Shape;219;p5"/>
          <p:cNvSpPr txBox="1"/>
          <p:nvPr/>
        </p:nvSpPr>
        <p:spPr>
          <a:xfrm>
            <a:off x="1834825" y="2909900"/>
            <a:ext cx="8509800" cy="2645100"/>
          </a:xfrm>
          <a:prstGeom prst="rect">
            <a:avLst/>
          </a:prstGeom>
          <a:noFill/>
          <a:ln>
            <a:noFill/>
          </a:ln>
        </p:spPr>
        <p:txBody>
          <a:bodyPr anchorCtr="0" anchor="t" bIns="0" lIns="0" spcFirstLastPara="1" rIns="0" wrap="square" tIns="0">
            <a:noAutofit/>
          </a:bodyPr>
          <a:lstStyle/>
          <a:p>
            <a:pPr indent="-323850" lvl="0" marL="457200" marR="0" rtl="0" algn="l">
              <a:lnSpc>
                <a:spcPct val="115000"/>
              </a:lnSpc>
              <a:spcBef>
                <a:spcPts val="1200"/>
              </a:spcBef>
              <a:spcAft>
                <a:spcPts val="0"/>
              </a:spcAft>
              <a:buClr>
                <a:schemeClr val="dk1"/>
              </a:buClr>
              <a:buSzPts val="1500"/>
              <a:buFont typeface="Arial"/>
              <a:buChar char="●"/>
            </a:pPr>
            <a:r>
              <a:rPr b="1" i="0" lang="en-US" sz="1500" u="none" cap="none" strike="noStrike">
                <a:solidFill>
                  <a:schemeClr val="dk1"/>
                </a:solidFill>
                <a:latin typeface="Arial"/>
                <a:ea typeface="Arial"/>
                <a:cs typeface="Arial"/>
                <a:sym typeface="Arial"/>
              </a:rPr>
              <a:t>Data Information</a:t>
            </a:r>
            <a:endParaRPr b="1" i="0" sz="1500" u="none" cap="none" strike="noStrike">
              <a:solidFill>
                <a:schemeClr val="dk1"/>
              </a:solidFill>
              <a:latin typeface="Arial"/>
              <a:ea typeface="Arial"/>
              <a:cs typeface="Arial"/>
              <a:sym typeface="Arial"/>
            </a:endParaRPr>
          </a:p>
          <a:p>
            <a:pPr indent="-323850" lvl="1" marL="914400" marR="0" rtl="0" algn="l">
              <a:lnSpc>
                <a:spcPct val="115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Acquired the NYC Airbnb dataset containing 48,895 entries and 16 columns.</a:t>
            </a:r>
            <a:endParaRPr b="0" i="0" sz="1500" u="none" cap="none" strike="noStrike">
              <a:solidFill>
                <a:schemeClr val="dk1"/>
              </a:solidFill>
              <a:latin typeface="Arial"/>
              <a:ea typeface="Arial"/>
              <a:cs typeface="Arial"/>
              <a:sym typeface="Arial"/>
            </a:endParaRPr>
          </a:p>
          <a:p>
            <a:pPr indent="-323850" lvl="1" marL="914400" marR="0" rtl="0" algn="l">
              <a:lnSpc>
                <a:spcPct val="115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Checked the shape and info of the DataFrame to understand its structure and dimensions.</a:t>
            </a:r>
            <a:endParaRPr b="0" i="0" sz="1500" u="none" cap="none" strike="noStrike">
              <a:solidFill>
                <a:schemeClr val="dk1"/>
              </a:solidFill>
              <a:latin typeface="Arial"/>
              <a:ea typeface="Arial"/>
              <a:cs typeface="Arial"/>
              <a:sym typeface="Arial"/>
            </a:endParaRPr>
          </a:p>
          <a:p>
            <a:pPr indent="-323850" lvl="1" marL="914400" marR="0" rtl="0" algn="l">
              <a:lnSpc>
                <a:spcPct val="115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Data begin at </a:t>
            </a:r>
            <a:r>
              <a:rPr b="1" i="0" lang="en-US" sz="1500" u="none" cap="none" strike="noStrike">
                <a:solidFill>
                  <a:schemeClr val="dk1"/>
                </a:solidFill>
                <a:latin typeface="Arial"/>
                <a:ea typeface="Arial"/>
                <a:cs typeface="Arial"/>
                <a:sym typeface="Arial"/>
              </a:rPr>
              <a:t>2019</a:t>
            </a:r>
            <a:endParaRPr b="1" i="0" sz="1500" u="none" cap="none" strike="noStrike">
              <a:solidFill>
                <a:schemeClr val="dk1"/>
              </a:solidFill>
              <a:latin typeface="Arial"/>
              <a:ea typeface="Arial"/>
              <a:cs typeface="Arial"/>
              <a:sym typeface="Arial"/>
            </a:endParaRPr>
          </a:p>
          <a:p>
            <a:pPr indent="-323850" lvl="0" marL="457200" marR="0" rtl="0" algn="l">
              <a:lnSpc>
                <a:spcPct val="115000"/>
              </a:lnSpc>
              <a:spcBef>
                <a:spcPts val="0"/>
              </a:spcBef>
              <a:spcAft>
                <a:spcPts val="0"/>
              </a:spcAft>
              <a:buClr>
                <a:schemeClr val="dk1"/>
              </a:buClr>
              <a:buSzPts val="1500"/>
              <a:buFont typeface="Arial"/>
              <a:buChar char="●"/>
            </a:pPr>
            <a:r>
              <a:rPr b="1" i="0" lang="en-US" sz="1500" u="none" cap="none" strike="noStrike">
                <a:solidFill>
                  <a:schemeClr val="dk1"/>
                </a:solidFill>
                <a:latin typeface="Arial"/>
                <a:ea typeface="Arial"/>
                <a:cs typeface="Arial"/>
                <a:sym typeface="Arial"/>
              </a:rPr>
              <a:t>Delete Missing Data</a:t>
            </a:r>
            <a:r>
              <a:rPr b="0" i="0" lang="en-US" sz="1500" u="none" cap="none" strike="noStrike">
                <a:solidFill>
                  <a:schemeClr val="dk1"/>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a:p>
            <a:pPr indent="-323850" lvl="1" marL="914400" marR="0" rtl="0" algn="l">
              <a:lnSpc>
                <a:spcPct val="115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Identified missing data by generating a boolean DataFrame.</a:t>
            </a:r>
            <a:endParaRPr b="0" i="0" sz="1500" u="none" cap="none" strike="noStrike">
              <a:solidFill>
                <a:schemeClr val="dk1"/>
              </a:solidFill>
              <a:latin typeface="Arial"/>
              <a:ea typeface="Arial"/>
              <a:cs typeface="Arial"/>
              <a:sym typeface="Arial"/>
            </a:endParaRPr>
          </a:p>
          <a:p>
            <a:pPr indent="-323850" lvl="1" marL="914400" marR="0" rtl="0" algn="l">
              <a:lnSpc>
                <a:spcPct val="115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Summarized missing data by column.</a:t>
            </a:r>
            <a:endParaRPr b="0" i="0" sz="1500" u="none" cap="none" strike="noStrike">
              <a:solidFill>
                <a:schemeClr val="dk1"/>
              </a:solidFill>
              <a:latin typeface="Arial"/>
              <a:ea typeface="Arial"/>
              <a:cs typeface="Arial"/>
              <a:sym typeface="Arial"/>
            </a:endParaRPr>
          </a:p>
          <a:p>
            <a:pPr indent="-323850" lvl="1" marL="914400" marR="0" rtl="0" algn="l">
              <a:lnSpc>
                <a:spcPct val="115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Found rows with missing data and specifically targeted columns ('name' and 'host_name').</a:t>
            </a:r>
            <a:endParaRPr b="0" i="0" sz="1500" u="none" cap="none" strike="noStrike">
              <a:solidFill>
                <a:schemeClr val="dk1"/>
              </a:solidFill>
              <a:latin typeface="Arial"/>
              <a:ea typeface="Arial"/>
              <a:cs typeface="Arial"/>
              <a:sym typeface="Arial"/>
            </a:endParaRPr>
          </a:p>
          <a:p>
            <a:pPr indent="-323850" lvl="2" marL="1371600" marR="0" rtl="0" algn="l">
              <a:lnSpc>
                <a:spcPct val="115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Replaced missing values:</a:t>
            </a:r>
            <a:endParaRPr b="0" i="0" sz="1500" u="none" cap="none" strike="noStrike">
              <a:solidFill>
                <a:schemeClr val="dk1"/>
              </a:solidFill>
              <a:latin typeface="Arial"/>
              <a:ea typeface="Arial"/>
              <a:cs typeface="Arial"/>
              <a:sym typeface="Arial"/>
            </a:endParaRPr>
          </a:p>
          <a:p>
            <a:pPr indent="-323850" lvl="2" marL="1371600" marR="0" rtl="0" algn="l">
              <a:lnSpc>
                <a:spcPct val="115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Filled missing values in 'name' and 'host_name' with 'unknown'.</a:t>
            </a:r>
            <a:endParaRPr b="0" i="0" sz="1500" u="none" cap="none" strike="noStrike">
              <a:solidFill>
                <a:schemeClr val="dk1"/>
              </a:solidFill>
              <a:latin typeface="Arial"/>
              <a:ea typeface="Arial"/>
              <a:cs typeface="Arial"/>
              <a:sym typeface="Arial"/>
            </a:endParaRPr>
          </a:p>
          <a:p>
            <a:pPr indent="-323850" lvl="2" marL="1371600" marR="0" rtl="0" algn="l">
              <a:lnSpc>
                <a:spcPct val="115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Imputed missing values in 'reviews_per_month' with 0.</a:t>
            </a:r>
            <a:endParaRPr b="0" i="0" sz="1500" u="none" cap="none" strike="noStrike">
              <a:solidFill>
                <a:schemeClr val="dk1"/>
              </a:solidFill>
              <a:latin typeface="Arial"/>
              <a:ea typeface="Arial"/>
              <a:cs typeface="Arial"/>
              <a:sym typeface="Arial"/>
            </a:endParaRPr>
          </a:p>
          <a:p>
            <a:pPr indent="-323850" lvl="2" marL="1371600" marR="0" rtl="0" algn="l">
              <a:lnSpc>
                <a:spcPct val="115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Forward-filled missing values in 'last_review' column.</a:t>
            </a:r>
            <a:endParaRPr b="0" i="0" sz="1500" u="none" cap="none" strike="noStrike">
              <a:solidFill>
                <a:schemeClr val="dk1"/>
              </a:solidFill>
              <a:latin typeface="Arial"/>
              <a:ea typeface="Arial"/>
              <a:cs typeface="Arial"/>
              <a:sym typeface="Arial"/>
            </a:endParaRPr>
          </a:p>
          <a:p>
            <a:pPr indent="0" lvl="0" marL="0" marR="0" rtl="0" algn="ctr">
              <a:lnSpc>
                <a:spcPct val="100000"/>
              </a:lnSpc>
              <a:spcBef>
                <a:spcPts val="1200"/>
              </a:spcBef>
              <a:spcAft>
                <a:spcPts val="0"/>
              </a:spcAft>
              <a:buClr>
                <a:srgbClr val="000000"/>
              </a:buClr>
              <a:buSzPts val="1400"/>
              <a:buFont typeface="Arial"/>
              <a:buNone/>
            </a:pPr>
            <a:r>
              <a:rPr b="0" i="0" lang="en-US" sz="1400" u="none" cap="none" strike="noStrike">
                <a:solidFill>
                  <a:srgbClr val="262626"/>
                </a:solidFill>
                <a:latin typeface="Catamaran"/>
                <a:ea typeface="Catamaran"/>
                <a:cs typeface="Catamaran"/>
                <a:sym typeface="Catamaran"/>
              </a:rPr>
              <a:t>.</a:t>
            </a:r>
            <a:endParaRPr b="0" i="0" sz="1800" u="none" cap="none" strike="noStrike">
              <a:solidFill>
                <a:srgbClr val="000000"/>
              </a:solidFill>
              <a:latin typeface="Catamaran"/>
              <a:ea typeface="Catamaran"/>
              <a:cs typeface="Catamaran"/>
              <a:sym typeface="Catamaran"/>
            </a:endParaRPr>
          </a:p>
        </p:txBody>
      </p:sp>
      <p:sp>
        <p:nvSpPr>
          <p:cNvPr id="220" name="Google Shape;220;p5"/>
          <p:cNvSpPr/>
          <p:nvPr/>
        </p:nvSpPr>
        <p:spPr>
          <a:xfrm>
            <a:off x="6500287" y="1714499"/>
            <a:ext cx="152401" cy="152401"/>
          </a:xfrm>
          <a:prstGeom prst="ellipse">
            <a:avLst/>
          </a:prstGeom>
          <a:gradFill>
            <a:gsLst>
              <a:gs pos="0">
                <a:schemeClr val="accent1"/>
              </a:gs>
              <a:gs pos="100000">
                <a:srgbClr val="14362A"/>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1" name="Google Shape;221;p5"/>
          <p:cNvSpPr/>
          <p:nvPr/>
        </p:nvSpPr>
        <p:spPr>
          <a:xfrm>
            <a:off x="5855854" y="1884470"/>
            <a:ext cx="306342" cy="277735"/>
          </a:xfrm>
          <a:custGeom>
            <a:rect b="b" l="l" r="r" t="t"/>
            <a:pathLst>
              <a:path extrusionOk="0" h="1399728" w="1543905">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2" name="Google Shape;222;p5"/>
          <p:cNvSpPr/>
          <p:nvPr/>
        </p:nvSpPr>
        <p:spPr>
          <a:xfrm>
            <a:off x="264152" y="277385"/>
            <a:ext cx="360000" cy="285696"/>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3" name="Google Shape;223;p5"/>
          <p:cNvSpPr txBox="1"/>
          <p:nvPr/>
        </p:nvSpPr>
        <p:spPr>
          <a:xfrm>
            <a:off x="780300" y="664142"/>
            <a:ext cx="10745700" cy="4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accent1"/>
                </a:solidFill>
                <a:latin typeface="Catamaran"/>
                <a:ea typeface="Catamaran"/>
                <a:cs typeface="Catamaran"/>
                <a:sym typeface="Catamaran"/>
              </a:rPr>
              <a:t>Overview of NYC Airbnb Dataset (Data Description)</a:t>
            </a:r>
            <a:endParaRPr b="1" i="0" sz="3600" u="none" cap="none" strike="noStrike">
              <a:solidFill>
                <a:schemeClr val="accent1"/>
              </a:solidFill>
              <a:latin typeface="Catamaran"/>
              <a:ea typeface="Catamaran"/>
              <a:cs typeface="Catamaran"/>
              <a:sym typeface="Catamar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g2c857750e6b_0_3"/>
          <p:cNvPicPr preferRelativeResize="0"/>
          <p:nvPr/>
        </p:nvPicPr>
        <p:blipFill rotWithShape="1">
          <a:blip r:embed="rId3">
            <a:alphaModFix/>
          </a:blip>
          <a:srcRect b="0" l="0" r="0" t="0"/>
          <a:stretch/>
        </p:blipFill>
        <p:spPr>
          <a:xfrm>
            <a:off x="167550" y="940887"/>
            <a:ext cx="5889574" cy="4976224"/>
          </a:xfrm>
          <a:prstGeom prst="rect">
            <a:avLst/>
          </a:prstGeom>
          <a:noFill/>
          <a:ln>
            <a:noFill/>
          </a:ln>
        </p:spPr>
      </p:pic>
      <p:pic>
        <p:nvPicPr>
          <p:cNvPr id="229" name="Google Shape;229;g2c857750e6b_0_3"/>
          <p:cNvPicPr preferRelativeResize="0"/>
          <p:nvPr/>
        </p:nvPicPr>
        <p:blipFill rotWithShape="1">
          <a:blip r:embed="rId4">
            <a:alphaModFix/>
          </a:blip>
          <a:srcRect b="0" l="0" r="0" t="0"/>
          <a:stretch/>
        </p:blipFill>
        <p:spPr>
          <a:xfrm>
            <a:off x="6224675" y="940875"/>
            <a:ext cx="5380546" cy="49762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3921"/>
          </a:schemeClr>
        </a:solidFill>
      </p:bgPr>
    </p:bg>
    <p:spTree>
      <p:nvGrpSpPr>
        <p:cNvPr id="233" name="Shape 233"/>
        <p:cNvGrpSpPr/>
        <p:nvPr/>
      </p:nvGrpSpPr>
      <p:grpSpPr>
        <a:xfrm>
          <a:off x="0" y="0"/>
          <a:ext cx="0" cy="0"/>
          <a:chOff x="0" y="0"/>
          <a:chExt cx="0" cy="0"/>
        </a:xfrm>
      </p:grpSpPr>
      <p:sp>
        <p:nvSpPr>
          <p:cNvPr id="234" name="Google Shape;234;p11"/>
          <p:cNvSpPr txBox="1"/>
          <p:nvPr/>
        </p:nvSpPr>
        <p:spPr>
          <a:xfrm>
            <a:off x="0" y="0"/>
            <a:ext cx="12306300" cy="699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35" name="Google Shape;235;p11"/>
          <p:cNvPicPr preferRelativeResize="0"/>
          <p:nvPr/>
        </p:nvPicPr>
        <p:blipFill rotWithShape="1">
          <a:blip r:embed="rId3">
            <a:alphaModFix amt="15000"/>
          </a:blip>
          <a:srcRect b="-1" l="0" r="0" t="20071"/>
          <a:stretch/>
        </p:blipFill>
        <p:spPr>
          <a:xfrm>
            <a:off x="-381000" y="-214312"/>
            <a:ext cx="12954000" cy="7286625"/>
          </a:xfrm>
          <a:prstGeom prst="rect">
            <a:avLst/>
          </a:prstGeom>
          <a:noFill/>
          <a:ln>
            <a:noFill/>
          </a:ln>
        </p:spPr>
      </p:pic>
      <p:grpSp>
        <p:nvGrpSpPr>
          <p:cNvPr id="236" name="Google Shape;236;p11"/>
          <p:cNvGrpSpPr/>
          <p:nvPr/>
        </p:nvGrpSpPr>
        <p:grpSpPr>
          <a:xfrm>
            <a:off x="5797074" y="6550320"/>
            <a:ext cx="597852" cy="615360"/>
            <a:chOff x="5797074" y="6550320"/>
            <a:chExt cx="597852" cy="615360"/>
          </a:xfrm>
        </p:grpSpPr>
        <p:sp>
          <p:nvSpPr>
            <p:cNvPr id="237" name="Google Shape;237;p11"/>
            <p:cNvSpPr txBox="1"/>
            <p:nvPr/>
          </p:nvSpPr>
          <p:spPr>
            <a:xfrm rot="5400000">
              <a:off x="5788320" y="6559074"/>
              <a:ext cx="615360" cy="597852"/>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8" name="Google Shape;238;p11"/>
            <p:cNvSpPr/>
            <p:nvPr/>
          </p:nvSpPr>
          <p:spPr>
            <a:xfrm>
              <a:off x="5988050" y="6647010"/>
              <a:ext cx="215900" cy="11430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39" name="Google Shape;239;p11"/>
          <p:cNvSpPr txBox="1"/>
          <p:nvPr/>
        </p:nvSpPr>
        <p:spPr>
          <a:xfrm>
            <a:off x="2923107" y="3272675"/>
            <a:ext cx="2085000" cy="1743000"/>
          </a:xfrm>
          <a:prstGeom prst="rect">
            <a:avLst/>
          </a:prstGeom>
          <a:solidFill>
            <a:srgbClr val="D8DFEF">
              <a:alpha val="49019"/>
            </a:srgbClr>
          </a:solidFill>
          <a:ln cap="sq" cmpd="sng" w="12700">
            <a:solidFill>
              <a:srgbClr val="C1E9DC"/>
            </a:solidFill>
            <a:prstDash val="solid"/>
            <a:miter lim="8000"/>
            <a:headEnd len="sm" w="sm" type="none"/>
            <a:tailEnd len="sm" w="sm" type="none"/>
          </a:ln>
        </p:spPr>
        <p:txBody>
          <a:bodyPr anchorCtr="0" anchor="ctr" bIns="45700" lIns="216000" spcFirstLastPara="1" rIns="2160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0" name="Google Shape;240;p11"/>
          <p:cNvSpPr/>
          <p:nvPr/>
        </p:nvSpPr>
        <p:spPr>
          <a:xfrm>
            <a:off x="695325" y="2548927"/>
            <a:ext cx="2921635" cy="2180480"/>
          </a:xfrm>
          <a:prstGeom prst="round1Rect">
            <a:avLst>
              <a:gd fmla="val 21707" name="adj"/>
            </a:avLst>
          </a:prstGeom>
          <a:gradFill>
            <a:gsLst>
              <a:gs pos="0">
                <a:schemeClr val="accent1"/>
              </a:gs>
              <a:gs pos="1000">
                <a:schemeClr val="accent1"/>
              </a:gs>
              <a:gs pos="100000">
                <a:srgbClr val="4ABC96"/>
              </a:gs>
            </a:gsLst>
            <a:lin ang="2700000" scaled="0"/>
          </a:gradFill>
          <a:ln>
            <a:noFill/>
          </a:ln>
          <a:effectLst>
            <a:outerShdw blurRad="330200" sx="90000" rotWithShape="0" algn="t" dir="5400000" dist="190500" sy="90000">
              <a:srgbClr val="14362A">
                <a:alpha val="23921"/>
              </a:srgbClr>
            </a:outerShdw>
          </a:effectLst>
        </p:spPr>
        <p:txBody>
          <a:bodyPr anchorCtr="0" anchor="ctr" bIns="22850" lIns="45700" spcFirstLastPara="1" rIns="45700" wrap="square" tIns="2285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1" name="Google Shape;241;p11"/>
          <p:cNvSpPr/>
          <p:nvPr/>
        </p:nvSpPr>
        <p:spPr>
          <a:xfrm>
            <a:off x="3252395" y="2529877"/>
            <a:ext cx="383615" cy="383615"/>
          </a:xfrm>
          <a:custGeom>
            <a:rect b="b" l="l" r="r" t="t"/>
            <a:pathLst>
              <a:path extrusionOk="0" h="510591" w="510591">
                <a:moveTo>
                  <a:pt x="0" y="0"/>
                </a:moveTo>
                <a:lnTo>
                  <a:pt x="187095" y="0"/>
                </a:lnTo>
                <a:cubicBezTo>
                  <a:pt x="365757" y="0"/>
                  <a:pt x="510591" y="144834"/>
                  <a:pt x="510591" y="323496"/>
                </a:cubicBezTo>
                <a:lnTo>
                  <a:pt x="510591" y="510591"/>
                </a:lnTo>
                <a:cubicBezTo>
                  <a:pt x="510591" y="228599"/>
                  <a:pt x="281992" y="0"/>
                  <a:pt x="0" y="0"/>
                </a:cubicBezTo>
                <a:close/>
              </a:path>
            </a:pathLst>
          </a:custGeom>
          <a:gradFill>
            <a:gsLst>
              <a:gs pos="0">
                <a:schemeClr val="accent1"/>
              </a:gs>
              <a:gs pos="1000">
                <a:schemeClr val="accent1"/>
              </a:gs>
              <a:gs pos="100000">
                <a:srgbClr val="4ABC96"/>
              </a:gs>
            </a:gsLst>
            <a:lin ang="2700000" scaled="0"/>
          </a:gradFill>
          <a:ln>
            <a:noFill/>
          </a:ln>
          <a:effectLst>
            <a:outerShdw blurRad="330200" sx="90000" rotWithShape="0" algn="t" dir="5400000" dist="190500" sy="90000">
              <a:srgbClr val="14362A">
                <a:alpha val="23921"/>
              </a:srgbClr>
            </a:outerShdw>
          </a:effectLst>
        </p:spPr>
        <p:txBody>
          <a:bodyPr anchorCtr="0" anchor="ctr" bIns="22850" lIns="45700" spcFirstLastPara="1" rIns="45700" wrap="square" tIns="2285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2" name="Google Shape;242;p11"/>
          <p:cNvSpPr txBox="1"/>
          <p:nvPr/>
        </p:nvSpPr>
        <p:spPr>
          <a:xfrm>
            <a:off x="772529" y="3028725"/>
            <a:ext cx="2767227" cy="122088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3" name="Google Shape;243;p11"/>
          <p:cNvSpPr txBox="1"/>
          <p:nvPr/>
        </p:nvSpPr>
        <p:spPr>
          <a:xfrm>
            <a:off x="5797075" y="1560600"/>
            <a:ext cx="5451900" cy="3937200"/>
          </a:xfrm>
          <a:prstGeom prst="rect">
            <a:avLst/>
          </a:prstGeom>
          <a:noFill/>
          <a:ln>
            <a:noFill/>
          </a:ln>
        </p:spPr>
        <p:txBody>
          <a:bodyPr anchorCtr="0" anchor="t" bIns="0" lIns="0" spcFirstLastPara="1" rIns="0" wrap="square" tIns="0">
            <a:noAutofit/>
          </a:bodyPr>
          <a:lstStyle/>
          <a:p>
            <a:pPr indent="-330200" lvl="0" marL="457200" marR="0" rtl="0" algn="l">
              <a:lnSpc>
                <a:spcPct val="115000"/>
              </a:lnSpc>
              <a:spcBef>
                <a:spcPts val="120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Removal</a:t>
            </a:r>
            <a:r>
              <a:rPr b="0" i="0" lang="en-US" sz="1600" u="none" cap="none" strike="noStrike">
                <a:solidFill>
                  <a:schemeClr val="dk1"/>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Detected outliers in the 'price' column using the Interquartile Range (IQR) method.</a:t>
            </a:r>
            <a:endParaRPr b="0"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Calculated lower and upper bounds for outlier detection.</a:t>
            </a:r>
            <a:endParaRPr b="0"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Removed outliers falling outside the defined bounds.</a:t>
            </a:r>
            <a:endParaRPr b="0"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Compared the original data size (48,895 rows) with the size after outlier removal.</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Visualization</a:t>
            </a:r>
            <a:r>
              <a:rPr b="0" i="0" lang="en-US" sz="1600" u="none" cap="none" strike="noStrike">
                <a:solidFill>
                  <a:schemeClr val="dk1"/>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Plotted a pie chart to illustrate the percentage of data remaining after outlier removal compared to the removed data.</a:t>
            </a:r>
            <a:endParaRPr b="0"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Remaining Data- 97.2%</a:t>
            </a:r>
            <a:endParaRPr b="0"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Removed Data - 2.8 %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t/>
            </a:r>
            <a:endParaRPr b="0" i="0" sz="1600" u="none" cap="none" strike="noStrike">
              <a:solidFill>
                <a:schemeClr val="dk1"/>
              </a:solidFill>
              <a:latin typeface="Catamaran"/>
              <a:ea typeface="Catamaran"/>
              <a:cs typeface="Catamaran"/>
              <a:sym typeface="Catamaran"/>
            </a:endParaRPr>
          </a:p>
        </p:txBody>
      </p:sp>
      <p:sp>
        <p:nvSpPr>
          <p:cNvPr id="244" name="Google Shape;244;p11"/>
          <p:cNvSpPr/>
          <p:nvPr/>
        </p:nvSpPr>
        <p:spPr>
          <a:xfrm>
            <a:off x="264152" y="277385"/>
            <a:ext cx="360000" cy="285696"/>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5" name="Google Shape;245;p11"/>
          <p:cNvSpPr txBox="1"/>
          <p:nvPr/>
        </p:nvSpPr>
        <p:spPr>
          <a:xfrm>
            <a:off x="780300" y="664142"/>
            <a:ext cx="10745700" cy="4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i="0" lang="en-US" sz="3600" u="none" cap="none" strike="noStrike">
                <a:solidFill>
                  <a:schemeClr val="accent1"/>
                </a:solidFill>
                <a:latin typeface="Catamaran"/>
                <a:ea typeface="Catamaran"/>
                <a:cs typeface="Catamaran"/>
                <a:sym typeface="Catamaran"/>
              </a:rPr>
              <a:t>Distribution of features and identification of patterns</a:t>
            </a:r>
            <a:endParaRPr b="1" i="0" sz="3600" u="none" cap="none" strike="noStrike">
              <a:solidFill>
                <a:schemeClr val="accent1"/>
              </a:solidFill>
              <a:latin typeface="Catamaran"/>
              <a:ea typeface="Catamaran"/>
              <a:cs typeface="Catamaran"/>
              <a:sym typeface="Catamaran"/>
            </a:endParaRPr>
          </a:p>
        </p:txBody>
      </p:sp>
      <p:pic>
        <p:nvPicPr>
          <p:cNvPr id="246" name="Google Shape;246;p11"/>
          <p:cNvPicPr preferRelativeResize="0"/>
          <p:nvPr/>
        </p:nvPicPr>
        <p:blipFill rotWithShape="1">
          <a:blip r:embed="rId4">
            <a:alphaModFix/>
          </a:blip>
          <a:srcRect b="0" l="1512" r="1512" t="0"/>
          <a:stretch/>
        </p:blipFill>
        <p:spPr>
          <a:xfrm>
            <a:off x="1042225" y="2140207"/>
            <a:ext cx="3634424" cy="342916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g2c857750e6b_0_6"/>
          <p:cNvPicPr preferRelativeResize="0"/>
          <p:nvPr/>
        </p:nvPicPr>
        <p:blipFill rotWithShape="1">
          <a:blip r:embed="rId3">
            <a:alphaModFix/>
          </a:blip>
          <a:srcRect b="0" l="0" r="0" t="0"/>
          <a:stretch/>
        </p:blipFill>
        <p:spPr>
          <a:xfrm>
            <a:off x="1763950" y="113975"/>
            <a:ext cx="3598774" cy="3148925"/>
          </a:xfrm>
          <a:prstGeom prst="rect">
            <a:avLst/>
          </a:prstGeom>
          <a:noFill/>
          <a:ln>
            <a:noFill/>
          </a:ln>
        </p:spPr>
      </p:pic>
      <p:pic>
        <p:nvPicPr>
          <p:cNvPr id="252" name="Google Shape;252;g2c857750e6b_0_6"/>
          <p:cNvPicPr preferRelativeResize="0"/>
          <p:nvPr/>
        </p:nvPicPr>
        <p:blipFill rotWithShape="1">
          <a:blip r:embed="rId4">
            <a:alphaModFix/>
          </a:blip>
          <a:srcRect b="0" l="0" r="0" t="0"/>
          <a:stretch/>
        </p:blipFill>
        <p:spPr>
          <a:xfrm>
            <a:off x="5552775" y="69863"/>
            <a:ext cx="3792075" cy="3237150"/>
          </a:xfrm>
          <a:prstGeom prst="rect">
            <a:avLst/>
          </a:prstGeom>
          <a:noFill/>
          <a:ln>
            <a:noFill/>
          </a:ln>
        </p:spPr>
      </p:pic>
      <p:pic>
        <p:nvPicPr>
          <p:cNvPr id="253" name="Google Shape;253;g2c857750e6b_0_6"/>
          <p:cNvPicPr preferRelativeResize="0"/>
          <p:nvPr/>
        </p:nvPicPr>
        <p:blipFill rotWithShape="1">
          <a:blip r:embed="rId5">
            <a:alphaModFix/>
          </a:blip>
          <a:srcRect b="0" l="0" r="0" t="0"/>
          <a:stretch/>
        </p:blipFill>
        <p:spPr>
          <a:xfrm>
            <a:off x="1713550" y="3351125"/>
            <a:ext cx="3699583" cy="3237150"/>
          </a:xfrm>
          <a:prstGeom prst="rect">
            <a:avLst/>
          </a:prstGeom>
          <a:noFill/>
          <a:ln>
            <a:noFill/>
          </a:ln>
        </p:spPr>
      </p:pic>
      <p:pic>
        <p:nvPicPr>
          <p:cNvPr id="254" name="Google Shape;254;g2c857750e6b_0_6"/>
          <p:cNvPicPr preferRelativeResize="0"/>
          <p:nvPr/>
        </p:nvPicPr>
        <p:blipFill rotWithShape="1">
          <a:blip r:embed="rId6">
            <a:alphaModFix/>
          </a:blip>
          <a:srcRect b="0" l="0" r="0" t="0"/>
          <a:stretch/>
        </p:blipFill>
        <p:spPr>
          <a:xfrm>
            <a:off x="5552775" y="3351125"/>
            <a:ext cx="3792075" cy="3318036"/>
          </a:xfrm>
          <a:prstGeom prst="rect">
            <a:avLst/>
          </a:prstGeom>
          <a:noFill/>
          <a:ln>
            <a:noFill/>
          </a:ln>
        </p:spPr>
      </p:pic>
      <p:sp>
        <p:nvSpPr>
          <p:cNvPr id="255" name="Google Shape;255;g2c857750e6b_0_6"/>
          <p:cNvSpPr/>
          <p:nvPr/>
        </p:nvSpPr>
        <p:spPr>
          <a:xfrm>
            <a:off x="264152" y="277385"/>
            <a:ext cx="360094" cy="285770"/>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3921"/>
          </a:schemeClr>
        </a:solidFill>
      </p:bgPr>
    </p:bg>
    <p:spTree>
      <p:nvGrpSpPr>
        <p:cNvPr id="259" name="Shape 259"/>
        <p:cNvGrpSpPr/>
        <p:nvPr/>
      </p:nvGrpSpPr>
      <p:grpSpPr>
        <a:xfrm>
          <a:off x="0" y="0"/>
          <a:ext cx="0" cy="0"/>
          <a:chOff x="0" y="0"/>
          <a:chExt cx="0" cy="0"/>
        </a:xfrm>
      </p:grpSpPr>
      <p:sp>
        <p:nvSpPr>
          <p:cNvPr id="260" name="Google Shape;260;p32"/>
          <p:cNvSpPr txBox="1"/>
          <p:nvPr/>
        </p:nvSpPr>
        <p:spPr>
          <a:xfrm>
            <a:off x="0" y="0"/>
            <a:ext cx="12306300" cy="699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61" name="Google Shape;261;p32"/>
          <p:cNvPicPr preferRelativeResize="0"/>
          <p:nvPr/>
        </p:nvPicPr>
        <p:blipFill rotWithShape="1">
          <a:blip r:embed="rId3">
            <a:alphaModFix amt="15000"/>
          </a:blip>
          <a:srcRect b="-1" l="0" r="0" t="20071"/>
          <a:stretch/>
        </p:blipFill>
        <p:spPr>
          <a:xfrm>
            <a:off x="-381000" y="-214312"/>
            <a:ext cx="12954000" cy="7286625"/>
          </a:xfrm>
          <a:prstGeom prst="rect">
            <a:avLst/>
          </a:prstGeom>
          <a:noFill/>
          <a:ln>
            <a:noFill/>
          </a:ln>
        </p:spPr>
      </p:pic>
      <p:grpSp>
        <p:nvGrpSpPr>
          <p:cNvPr id="262" name="Google Shape;262;p32"/>
          <p:cNvGrpSpPr/>
          <p:nvPr/>
        </p:nvGrpSpPr>
        <p:grpSpPr>
          <a:xfrm>
            <a:off x="7235" y="17004"/>
            <a:ext cx="12192000" cy="6840996"/>
            <a:chOff x="7235" y="17004"/>
            <a:chExt cx="12192000" cy="6840996"/>
          </a:xfrm>
        </p:grpSpPr>
        <p:cxnSp>
          <p:nvCxnSpPr>
            <p:cNvPr id="263" name="Google Shape;263;p32"/>
            <p:cNvCxnSpPr/>
            <p:nvPr/>
          </p:nvCxnSpPr>
          <p:spPr>
            <a:xfrm>
              <a:off x="7235" y="415284"/>
              <a:ext cx="12192000" cy="1"/>
            </a:xfrm>
            <a:prstGeom prst="straightConnector1">
              <a:avLst/>
            </a:prstGeom>
            <a:noFill/>
            <a:ln cap="flat" cmpd="sng" w="12700">
              <a:solidFill>
                <a:srgbClr val="7F7F7F">
                  <a:alpha val="23921"/>
                </a:srgbClr>
              </a:solidFill>
              <a:prstDash val="solid"/>
              <a:miter lim="8000"/>
              <a:headEnd len="sm" w="sm" type="none"/>
              <a:tailEnd len="sm" w="sm" type="none"/>
            </a:ln>
          </p:spPr>
        </p:cxnSp>
        <p:cxnSp>
          <p:nvCxnSpPr>
            <p:cNvPr id="264" name="Google Shape;264;p32"/>
            <p:cNvCxnSpPr/>
            <p:nvPr/>
          </p:nvCxnSpPr>
          <p:spPr>
            <a:xfrm flipH="1" rot="10800000">
              <a:off x="11903226" y="17004"/>
              <a:ext cx="2592" cy="6840996"/>
            </a:xfrm>
            <a:prstGeom prst="straightConnector1">
              <a:avLst/>
            </a:prstGeom>
            <a:noFill/>
            <a:ln cap="flat" cmpd="sng" w="12700">
              <a:solidFill>
                <a:srgbClr val="7F7F7F">
                  <a:alpha val="23921"/>
                </a:srgbClr>
              </a:solidFill>
              <a:prstDash val="solid"/>
              <a:miter lim="8000"/>
              <a:headEnd len="sm" w="sm" type="none"/>
              <a:tailEnd len="sm" w="sm" type="none"/>
            </a:ln>
          </p:spPr>
        </p:cxnSp>
        <p:cxnSp>
          <p:nvCxnSpPr>
            <p:cNvPr id="265" name="Google Shape;265;p32"/>
            <p:cNvCxnSpPr/>
            <p:nvPr/>
          </p:nvCxnSpPr>
          <p:spPr>
            <a:xfrm>
              <a:off x="7235" y="6481744"/>
              <a:ext cx="12192000" cy="1"/>
            </a:xfrm>
            <a:prstGeom prst="straightConnector1">
              <a:avLst/>
            </a:prstGeom>
            <a:noFill/>
            <a:ln cap="flat" cmpd="sng" w="12700">
              <a:solidFill>
                <a:srgbClr val="7F7F7F">
                  <a:alpha val="23921"/>
                </a:srgbClr>
              </a:solidFill>
              <a:prstDash val="solid"/>
              <a:miter lim="8000"/>
              <a:headEnd len="sm" w="sm" type="none"/>
              <a:tailEnd len="sm" w="sm" type="none"/>
            </a:ln>
          </p:spPr>
        </p:cxnSp>
        <p:cxnSp>
          <p:nvCxnSpPr>
            <p:cNvPr id="266" name="Google Shape;266;p32"/>
            <p:cNvCxnSpPr/>
            <p:nvPr/>
          </p:nvCxnSpPr>
          <p:spPr>
            <a:xfrm flipH="1" rot="10800000">
              <a:off x="582979" y="17004"/>
              <a:ext cx="2592" cy="6840995"/>
            </a:xfrm>
            <a:prstGeom prst="straightConnector1">
              <a:avLst/>
            </a:prstGeom>
            <a:noFill/>
            <a:ln cap="flat" cmpd="sng" w="12700">
              <a:solidFill>
                <a:srgbClr val="7F7F7F">
                  <a:alpha val="23921"/>
                </a:srgbClr>
              </a:solidFill>
              <a:prstDash val="solid"/>
              <a:miter lim="8000"/>
              <a:headEnd len="sm" w="sm" type="none"/>
              <a:tailEnd len="sm" w="sm" type="none"/>
            </a:ln>
          </p:spPr>
        </p:cxnSp>
      </p:grpSp>
      <p:sp>
        <p:nvSpPr>
          <p:cNvPr id="267" name="Google Shape;267;p32"/>
          <p:cNvSpPr/>
          <p:nvPr/>
        </p:nvSpPr>
        <p:spPr>
          <a:xfrm>
            <a:off x="542793" y="420489"/>
            <a:ext cx="608776" cy="608577"/>
          </a:xfrm>
          <a:custGeom>
            <a:rect b="b" l="l" r="r" t="t"/>
            <a:pathLst>
              <a:path extrusionOk="0" h="20595" w="20596">
                <a:moveTo>
                  <a:pt x="0" y="0"/>
                </a:moveTo>
                <a:lnTo>
                  <a:pt x="0" y="11107"/>
                </a:lnTo>
                <a:lnTo>
                  <a:pt x="94" y="11107"/>
                </a:lnTo>
                <a:cubicBezTo>
                  <a:pt x="279" y="13466"/>
                  <a:pt x="1231" y="15777"/>
                  <a:pt x="3034" y="17581"/>
                </a:cubicBezTo>
                <a:cubicBezTo>
                  <a:pt x="7052" y="21600"/>
                  <a:pt x="13565" y="21600"/>
                  <a:pt x="17582" y="17581"/>
                </a:cubicBezTo>
                <a:cubicBezTo>
                  <a:pt x="21600" y="13562"/>
                  <a:pt x="21600" y="7041"/>
                  <a:pt x="17582" y="3022"/>
                </a:cubicBezTo>
                <a:cubicBezTo>
                  <a:pt x="15747" y="1186"/>
                  <a:pt x="13391" y="239"/>
                  <a:pt x="10990" y="81"/>
                </a:cubicBezTo>
                <a:lnTo>
                  <a:pt x="10990" y="0"/>
                </a:lnTo>
                <a:lnTo>
                  <a:pt x="0" y="0"/>
                </a:lnTo>
                <a:close/>
                <a:moveTo>
                  <a:pt x="4404" y="10496"/>
                </a:moveTo>
                <a:lnTo>
                  <a:pt x="16213" y="10496"/>
                </a:lnTo>
                <a:cubicBezTo>
                  <a:pt x="16214" y="12009"/>
                  <a:pt x="15634" y="13519"/>
                  <a:pt x="14481" y="14673"/>
                </a:cubicBezTo>
                <a:cubicBezTo>
                  <a:pt x="12176" y="16979"/>
                  <a:pt x="8441" y="16979"/>
                  <a:pt x="6136" y="14673"/>
                </a:cubicBezTo>
                <a:cubicBezTo>
                  <a:pt x="4982" y="13519"/>
                  <a:pt x="4403" y="12009"/>
                  <a:pt x="4404" y="10496"/>
                </a:cubicBezTo>
                <a:close/>
              </a:path>
            </a:pathLst>
          </a:cu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8" name="Google Shape;268;p32"/>
          <p:cNvSpPr txBox="1"/>
          <p:nvPr/>
        </p:nvSpPr>
        <p:spPr>
          <a:xfrm>
            <a:off x="5406224" y="2345284"/>
            <a:ext cx="5785007" cy="20307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accent1"/>
                </a:solidFill>
                <a:latin typeface="Catamaran"/>
                <a:ea typeface="Catamaran"/>
                <a:cs typeface="Catamaran"/>
                <a:sym typeface="Catamaran"/>
              </a:rPr>
              <a:t>Data Visualization</a:t>
            </a:r>
            <a:endParaRPr b="1" i="0" sz="1800" u="none" cap="none" strike="noStrike">
              <a:solidFill>
                <a:srgbClr val="000000"/>
              </a:solidFill>
              <a:latin typeface="Catamaran"/>
              <a:ea typeface="Catamaran"/>
              <a:cs typeface="Catamaran"/>
              <a:sym typeface="Catamaran"/>
            </a:endParaRPr>
          </a:p>
        </p:txBody>
      </p:sp>
      <p:sp>
        <p:nvSpPr>
          <p:cNvPr id="269" name="Google Shape;269;p32"/>
          <p:cNvSpPr txBox="1"/>
          <p:nvPr/>
        </p:nvSpPr>
        <p:spPr>
          <a:xfrm rot="-5400000">
            <a:off x="-16860" y="2756059"/>
            <a:ext cx="1185294" cy="1151569"/>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0" name="Google Shape;270;p32"/>
          <p:cNvSpPr txBox="1"/>
          <p:nvPr/>
        </p:nvSpPr>
        <p:spPr>
          <a:xfrm>
            <a:off x="2030388" y="1919063"/>
            <a:ext cx="2825563" cy="2825563"/>
          </a:xfrm>
          <a:prstGeom prst="rect">
            <a:avLst/>
          </a:prstGeom>
          <a:solidFill>
            <a:schemeClr val="accent1"/>
          </a:solidFill>
          <a:ln>
            <a:noFill/>
          </a:ln>
        </p:spPr>
        <p:txBody>
          <a:bodyPr anchorCtr="0" anchor="ctr" bIns="108000" lIns="108000" spcFirstLastPara="1" rIns="108000" wrap="square" tIns="108000">
            <a:noAutofit/>
          </a:bodyPr>
          <a:lstStyle/>
          <a:p>
            <a:pPr indent="0" lvl="0" marL="0" marR="0" rtl="0" algn="ctr">
              <a:lnSpc>
                <a:spcPct val="100000"/>
              </a:lnSpc>
              <a:spcBef>
                <a:spcPts val="0"/>
              </a:spcBef>
              <a:spcAft>
                <a:spcPts val="0"/>
              </a:spcAft>
              <a:buClr>
                <a:srgbClr val="000000"/>
              </a:buClr>
              <a:buSzPts val="7658"/>
              <a:buFont typeface="Arial"/>
              <a:buNone/>
            </a:pPr>
            <a:r>
              <a:rPr b="1" i="0" lang="en-US" sz="7658" u="none" cap="none" strike="noStrike">
                <a:solidFill>
                  <a:srgbClr val="FFFFFF"/>
                </a:solidFill>
                <a:latin typeface="Catamaran"/>
                <a:ea typeface="Catamaran"/>
                <a:cs typeface="Catamaran"/>
                <a:sym typeface="Catamaran"/>
              </a:rPr>
              <a:t>04</a:t>
            </a:r>
            <a:endParaRPr b="1" i="0" sz="1800" u="none" cap="none" strike="noStrike">
              <a:solidFill>
                <a:srgbClr val="000000"/>
              </a:solidFill>
              <a:latin typeface="Catamaran"/>
              <a:ea typeface="Catamaran"/>
              <a:cs typeface="Catamaran"/>
              <a:sym typeface="Catamaran"/>
            </a:endParaRPr>
          </a:p>
        </p:txBody>
      </p:sp>
      <p:grpSp>
        <p:nvGrpSpPr>
          <p:cNvPr id="271" name="Google Shape;271;p32"/>
          <p:cNvGrpSpPr/>
          <p:nvPr/>
        </p:nvGrpSpPr>
        <p:grpSpPr>
          <a:xfrm>
            <a:off x="2603430" y="5162498"/>
            <a:ext cx="1679478" cy="300458"/>
            <a:chOff x="2603430" y="5162498"/>
            <a:chExt cx="1679478" cy="300458"/>
          </a:xfrm>
        </p:grpSpPr>
        <p:sp>
          <p:nvSpPr>
            <p:cNvPr id="272" name="Google Shape;272;p32"/>
            <p:cNvSpPr/>
            <p:nvPr/>
          </p:nvSpPr>
          <p:spPr>
            <a:xfrm flipH="1">
              <a:off x="3139976" y="5282838"/>
              <a:ext cx="59777" cy="59777"/>
            </a:xfrm>
            <a:prstGeom prst="ellipse">
              <a:avLst/>
            </a:pr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 name="Google Shape;273;p32"/>
            <p:cNvSpPr/>
            <p:nvPr/>
          </p:nvSpPr>
          <p:spPr>
            <a:xfrm flipH="1">
              <a:off x="3276628"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 name="Google Shape;274;p32"/>
            <p:cNvSpPr/>
            <p:nvPr/>
          </p:nvSpPr>
          <p:spPr>
            <a:xfrm flipH="1">
              <a:off x="3413281"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5" name="Google Shape;275;p32"/>
            <p:cNvSpPr/>
            <p:nvPr/>
          </p:nvSpPr>
          <p:spPr>
            <a:xfrm flipH="1">
              <a:off x="3549933"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6" name="Google Shape;276;p32"/>
            <p:cNvSpPr/>
            <p:nvPr/>
          </p:nvSpPr>
          <p:spPr>
            <a:xfrm flipH="1">
              <a:off x="3686586"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7" name="Google Shape;277;p32"/>
            <p:cNvSpPr txBox="1"/>
            <p:nvPr/>
          </p:nvSpPr>
          <p:spPr>
            <a:xfrm flipH="1">
              <a:off x="3982450" y="5162498"/>
              <a:ext cx="300458" cy="30045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78" name="Google Shape;278;p32"/>
            <p:cNvCxnSpPr/>
            <p:nvPr/>
          </p:nvCxnSpPr>
          <p:spPr>
            <a:xfrm>
              <a:off x="4070609" y="5312726"/>
              <a:ext cx="124140" cy="0"/>
            </a:xfrm>
            <a:prstGeom prst="straightConnector1">
              <a:avLst/>
            </a:prstGeom>
            <a:noFill/>
            <a:ln cap="flat" cmpd="sng" w="12700">
              <a:solidFill>
                <a:srgbClr val="FFFFFF"/>
              </a:solidFill>
              <a:prstDash val="solid"/>
              <a:miter lim="8000"/>
              <a:headEnd len="sm" w="sm" type="none"/>
              <a:tailEnd len="sm" w="sm" type="none"/>
            </a:ln>
          </p:spPr>
        </p:cxnSp>
        <p:sp>
          <p:nvSpPr>
            <p:cNvPr id="279" name="Google Shape;279;p32"/>
            <p:cNvSpPr/>
            <p:nvPr/>
          </p:nvSpPr>
          <p:spPr>
            <a:xfrm rot="-2700000">
              <a:off x="4099827" y="5269352"/>
              <a:ext cx="86749" cy="86749"/>
            </a:xfrm>
            <a:custGeom>
              <a:rect b="b" l="l" r="r" t="t"/>
              <a:pathLst>
                <a:path extrusionOk="0" h="252248" w="252248">
                  <a:moveTo>
                    <a:pt x="252248" y="0"/>
                  </a:moveTo>
                  <a:lnTo>
                    <a:pt x="252248" y="252248"/>
                  </a:lnTo>
                  <a:lnTo>
                    <a:pt x="0" y="252248"/>
                  </a:lnTo>
                </a:path>
              </a:pathLst>
            </a:custGeom>
            <a:noFill/>
            <a:ln cap="flat" cmpd="sng" w="12700">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0" name="Google Shape;280;p32"/>
            <p:cNvSpPr txBox="1"/>
            <p:nvPr/>
          </p:nvSpPr>
          <p:spPr>
            <a:xfrm>
              <a:off x="2603430" y="5162498"/>
              <a:ext cx="300458" cy="300458"/>
            </a:xfrm>
            <a:prstGeom prst="rect">
              <a:avLst/>
            </a:prstGeom>
            <a:solidFill>
              <a:srgbClr val="7F7F7F">
                <a:alpha val="14117"/>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81" name="Google Shape;281;p32"/>
            <p:cNvCxnSpPr/>
            <p:nvPr/>
          </p:nvCxnSpPr>
          <p:spPr>
            <a:xfrm rot="10800000">
              <a:off x="2691590" y="5312726"/>
              <a:ext cx="124140" cy="0"/>
            </a:xfrm>
            <a:prstGeom prst="straightConnector1">
              <a:avLst/>
            </a:prstGeom>
            <a:noFill/>
            <a:ln cap="flat" cmpd="sng" w="12700">
              <a:solidFill>
                <a:schemeClr val="dk1"/>
              </a:solidFill>
              <a:prstDash val="solid"/>
              <a:miter lim="8000"/>
              <a:headEnd len="sm" w="sm" type="none"/>
              <a:tailEnd len="sm" w="sm" type="none"/>
            </a:ln>
          </p:spPr>
        </p:cxnSp>
        <p:sp>
          <p:nvSpPr>
            <p:cNvPr id="282" name="Google Shape;282;p32"/>
            <p:cNvSpPr/>
            <p:nvPr/>
          </p:nvSpPr>
          <p:spPr>
            <a:xfrm flipH="1" rot="2700000">
              <a:off x="2699763" y="5269352"/>
              <a:ext cx="86749" cy="86749"/>
            </a:xfrm>
            <a:custGeom>
              <a:rect b="b" l="l" r="r" t="t"/>
              <a:pathLst>
                <a:path extrusionOk="0" h="252248" w="252248">
                  <a:moveTo>
                    <a:pt x="252248" y="0"/>
                  </a:moveTo>
                  <a:lnTo>
                    <a:pt x="252248" y="252248"/>
                  </a:lnTo>
                  <a:lnTo>
                    <a:pt x="0" y="252248"/>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3921"/>
          </a:schemeClr>
        </a:solidFill>
      </p:bgPr>
    </p:bg>
    <p:spTree>
      <p:nvGrpSpPr>
        <p:cNvPr id="286" name="Shape 286"/>
        <p:cNvGrpSpPr/>
        <p:nvPr/>
      </p:nvGrpSpPr>
      <p:grpSpPr>
        <a:xfrm>
          <a:off x="0" y="0"/>
          <a:ext cx="0" cy="0"/>
          <a:chOff x="0" y="0"/>
          <a:chExt cx="0" cy="0"/>
        </a:xfrm>
      </p:grpSpPr>
      <p:sp>
        <p:nvSpPr>
          <p:cNvPr id="287" name="Google Shape;287;p10"/>
          <p:cNvSpPr txBox="1"/>
          <p:nvPr/>
        </p:nvSpPr>
        <p:spPr>
          <a:xfrm>
            <a:off x="0" y="0"/>
            <a:ext cx="12306300" cy="699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88" name="Google Shape;288;p10"/>
          <p:cNvPicPr preferRelativeResize="0"/>
          <p:nvPr/>
        </p:nvPicPr>
        <p:blipFill rotWithShape="1">
          <a:blip r:embed="rId3">
            <a:alphaModFix amt="15000"/>
          </a:blip>
          <a:srcRect b="-1" l="0" r="0" t="20071"/>
          <a:stretch/>
        </p:blipFill>
        <p:spPr>
          <a:xfrm>
            <a:off x="-323850" y="-736312"/>
            <a:ext cx="12954000" cy="7286625"/>
          </a:xfrm>
          <a:prstGeom prst="rect">
            <a:avLst/>
          </a:prstGeom>
          <a:noFill/>
          <a:ln>
            <a:noFill/>
          </a:ln>
        </p:spPr>
      </p:pic>
      <p:grpSp>
        <p:nvGrpSpPr>
          <p:cNvPr id="289" name="Google Shape;289;p10"/>
          <p:cNvGrpSpPr/>
          <p:nvPr/>
        </p:nvGrpSpPr>
        <p:grpSpPr>
          <a:xfrm>
            <a:off x="5797074" y="6550320"/>
            <a:ext cx="597852" cy="615360"/>
            <a:chOff x="5797074" y="6550320"/>
            <a:chExt cx="597852" cy="615360"/>
          </a:xfrm>
        </p:grpSpPr>
        <p:sp>
          <p:nvSpPr>
            <p:cNvPr id="290" name="Google Shape;290;p10"/>
            <p:cNvSpPr txBox="1"/>
            <p:nvPr/>
          </p:nvSpPr>
          <p:spPr>
            <a:xfrm rot="5400000">
              <a:off x="5788320" y="6559074"/>
              <a:ext cx="615360" cy="597852"/>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1" name="Google Shape;291;p10"/>
            <p:cNvSpPr/>
            <p:nvPr/>
          </p:nvSpPr>
          <p:spPr>
            <a:xfrm>
              <a:off x="5988050" y="6647010"/>
              <a:ext cx="215900" cy="11430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292" name="Google Shape;292;p10"/>
          <p:cNvPicPr preferRelativeResize="0"/>
          <p:nvPr/>
        </p:nvPicPr>
        <p:blipFill rotWithShape="1">
          <a:blip r:embed="rId4">
            <a:alphaModFix/>
          </a:blip>
          <a:srcRect b="0" l="0" r="0" t="0"/>
          <a:stretch/>
        </p:blipFill>
        <p:spPr>
          <a:xfrm>
            <a:off x="8206901" y="1524100"/>
            <a:ext cx="3311999" cy="2016000"/>
          </a:xfrm>
          <a:prstGeom prst="rect">
            <a:avLst/>
          </a:prstGeom>
          <a:noFill/>
          <a:ln>
            <a:noFill/>
          </a:ln>
        </p:spPr>
      </p:pic>
      <p:pic>
        <p:nvPicPr>
          <p:cNvPr id="293" name="Google Shape;293;p10"/>
          <p:cNvPicPr preferRelativeResize="0"/>
          <p:nvPr/>
        </p:nvPicPr>
        <p:blipFill rotWithShape="1">
          <a:blip r:embed="rId4">
            <a:alphaModFix/>
          </a:blip>
          <a:srcRect b="0" l="0" r="0" t="0"/>
          <a:stretch/>
        </p:blipFill>
        <p:spPr>
          <a:xfrm>
            <a:off x="8206901" y="3648100"/>
            <a:ext cx="3311999" cy="2016000"/>
          </a:xfrm>
          <a:prstGeom prst="rect">
            <a:avLst/>
          </a:prstGeom>
          <a:noFill/>
          <a:ln>
            <a:noFill/>
          </a:ln>
        </p:spPr>
      </p:pic>
      <p:sp>
        <p:nvSpPr>
          <p:cNvPr id="294" name="Google Shape;294;p10"/>
          <p:cNvSpPr txBox="1"/>
          <p:nvPr/>
        </p:nvSpPr>
        <p:spPr>
          <a:xfrm>
            <a:off x="660400" y="1524100"/>
            <a:ext cx="4436700" cy="4140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95" name="Google Shape;295;p10"/>
          <p:cNvCxnSpPr/>
          <p:nvPr/>
        </p:nvCxnSpPr>
        <p:spPr>
          <a:xfrm>
            <a:off x="876399" y="1899500"/>
            <a:ext cx="2880000" cy="0"/>
          </a:xfrm>
          <a:prstGeom prst="straightConnector1">
            <a:avLst/>
          </a:prstGeom>
          <a:noFill/>
          <a:ln cap="sq" cmpd="sng" w="12700">
            <a:solidFill>
              <a:schemeClr val="lt1"/>
            </a:solidFill>
            <a:prstDash val="solid"/>
            <a:miter lim="8000"/>
            <a:headEnd len="sm" w="sm" type="none"/>
            <a:tailEnd len="sm" w="sm" type="none"/>
          </a:ln>
        </p:spPr>
      </p:cxnSp>
      <p:sp>
        <p:nvSpPr>
          <p:cNvPr id="296" name="Google Shape;296;p10"/>
          <p:cNvSpPr txBox="1"/>
          <p:nvPr/>
        </p:nvSpPr>
        <p:spPr>
          <a:xfrm>
            <a:off x="345400" y="2070400"/>
            <a:ext cx="4436700" cy="3263400"/>
          </a:xfrm>
          <a:prstGeom prst="rect">
            <a:avLst/>
          </a:prstGeom>
          <a:noFill/>
          <a:ln>
            <a:noFill/>
          </a:ln>
        </p:spPr>
        <p:txBody>
          <a:bodyPr anchorCtr="0" anchor="t" bIns="0" lIns="0" spcFirstLastPara="1" rIns="0" wrap="square" tIns="0">
            <a:noAutofit/>
          </a:bodyPr>
          <a:lstStyle/>
          <a:p>
            <a:pPr indent="0" lvl="0" marL="457200" marR="0" rtl="0" algn="l">
              <a:lnSpc>
                <a:spcPct val="115000"/>
              </a:lnSpc>
              <a:spcBef>
                <a:spcPts val="120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Median Price Analysis</a:t>
            </a:r>
            <a:r>
              <a:rPr b="0" i="0" lang="en-US" sz="1800" u="none" cap="none" strike="noStrike">
                <a:solidFill>
                  <a:schemeClr val="lt1"/>
                </a:solidFill>
                <a:latin typeface="Arial"/>
                <a:ea typeface="Arial"/>
                <a:cs typeface="Arial"/>
                <a:sym typeface="Arial"/>
              </a:rPr>
              <a:t>:</a:t>
            </a:r>
            <a:endParaRPr b="0" i="0" sz="1800" u="none" cap="none" strike="noStrike">
              <a:solidFill>
                <a:schemeClr val="lt1"/>
              </a:solidFill>
              <a:latin typeface="Arial"/>
              <a:ea typeface="Arial"/>
              <a:cs typeface="Arial"/>
              <a:sym typeface="Arial"/>
            </a:endParaRPr>
          </a:p>
          <a:p>
            <a:pPr indent="-342900" lvl="1" marL="914400" marR="0" rtl="0" algn="l">
              <a:lnSpc>
                <a:spcPct val="115000"/>
              </a:lnSpc>
              <a:spcBef>
                <a:spcPts val="1200"/>
              </a:spcBef>
              <a:spcAft>
                <a:spcPts val="0"/>
              </a:spcAft>
              <a:buClr>
                <a:schemeClr val="lt1"/>
              </a:buClr>
              <a:buSzPts val="1800"/>
              <a:buFont typeface="Arial"/>
              <a:buAutoNum type="alphaLcPeriod"/>
            </a:pPr>
            <a:r>
              <a:rPr b="0" i="0" lang="en-US" sz="1800" u="none" cap="none" strike="noStrike">
                <a:solidFill>
                  <a:schemeClr val="lt1"/>
                </a:solidFill>
                <a:latin typeface="Arial"/>
                <a:ea typeface="Arial"/>
                <a:cs typeface="Arial"/>
                <a:sym typeface="Arial"/>
              </a:rPr>
              <a:t>Get the median price per neighborhood group for every column.</a:t>
            </a:r>
            <a:endParaRPr b="0" i="0" sz="1800" u="none" cap="none" strike="noStrike">
              <a:solidFill>
                <a:schemeClr val="lt1"/>
              </a:solidFill>
              <a:latin typeface="Arial"/>
              <a:ea typeface="Arial"/>
              <a:cs typeface="Arial"/>
              <a:sym typeface="Arial"/>
            </a:endParaRPr>
          </a:p>
          <a:p>
            <a:pPr indent="-342900" lvl="1" marL="914400" marR="0" rtl="0" algn="l">
              <a:lnSpc>
                <a:spcPct val="115000"/>
              </a:lnSpc>
              <a:spcBef>
                <a:spcPts val="0"/>
              </a:spcBef>
              <a:spcAft>
                <a:spcPts val="0"/>
              </a:spcAft>
              <a:buClr>
                <a:schemeClr val="lt1"/>
              </a:buClr>
              <a:buSzPts val="1800"/>
              <a:buFont typeface="Arial"/>
              <a:buAutoNum type="alphaLcPeriod"/>
            </a:pPr>
            <a:r>
              <a:rPr b="0" i="0" lang="en-US" sz="1800" u="none" cap="none" strike="noStrike">
                <a:solidFill>
                  <a:schemeClr val="lt1"/>
                </a:solidFill>
                <a:latin typeface="Arial"/>
                <a:ea typeface="Arial"/>
                <a:cs typeface="Arial"/>
                <a:sym typeface="Arial"/>
              </a:rPr>
              <a:t>Utilized </a:t>
            </a:r>
            <a:r>
              <a:rPr b="1" i="0" lang="en-US" sz="1800" u="none" cap="none" strike="noStrike">
                <a:solidFill>
                  <a:schemeClr val="lt1"/>
                </a:solidFill>
                <a:latin typeface="Arial"/>
                <a:ea typeface="Arial"/>
                <a:cs typeface="Arial"/>
                <a:sym typeface="Arial"/>
              </a:rPr>
              <a:t>groupby</a:t>
            </a:r>
            <a:r>
              <a:rPr b="0" i="0" lang="en-US" sz="1800" u="none" cap="none" strike="noStrike">
                <a:solidFill>
                  <a:schemeClr val="lt1"/>
                </a:solidFill>
                <a:latin typeface="Arial"/>
                <a:ea typeface="Arial"/>
                <a:cs typeface="Arial"/>
                <a:sym typeface="Arial"/>
              </a:rPr>
              <a:t> to calculate and display median prices per neighborhood group, both with and without outliers.</a:t>
            </a:r>
            <a:endParaRPr b="0" i="0" sz="1800" u="none" cap="none" strike="noStrike">
              <a:solidFill>
                <a:schemeClr val="lt1"/>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100"/>
              <a:buFont typeface="Arial"/>
              <a:buNone/>
            </a:pPr>
            <a:r>
              <a:t/>
            </a:r>
            <a:endParaRPr b="0" i="0" sz="1100" u="none" cap="none" strike="noStrike">
              <a:solidFill>
                <a:schemeClr val="dk1"/>
              </a:solidFill>
              <a:latin typeface="Roboto"/>
              <a:ea typeface="Roboto"/>
              <a:cs typeface="Roboto"/>
              <a:sym typeface="Roboto"/>
            </a:endParaRPr>
          </a:p>
        </p:txBody>
      </p:sp>
      <p:sp>
        <p:nvSpPr>
          <p:cNvPr id="297" name="Google Shape;297;p10"/>
          <p:cNvSpPr txBox="1"/>
          <p:nvPr/>
        </p:nvSpPr>
        <p:spPr>
          <a:xfrm>
            <a:off x="11334444" y="5171208"/>
            <a:ext cx="394313" cy="49289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8" name="Google Shape;298;p10"/>
          <p:cNvSpPr/>
          <p:nvPr/>
        </p:nvSpPr>
        <p:spPr>
          <a:xfrm>
            <a:off x="264152" y="277385"/>
            <a:ext cx="360000" cy="285696"/>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99" name="Google Shape;299;p10"/>
          <p:cNvPicPr preferRelativeResize="0"/>
          <p:nvPr/>
        </p:nvPicPr>
        <p:blipFill rotWithShape="1">
          <a:blip r:embed="rId5">
            <a:alphaModFix/>
          </a:blip>
          <a:srcRect b="0" l="0" r="0" t="0"/>
          <a:stretch/>
        </p:blipFill>
        <p:spPr>
          <a:xfrm>
            <a:off x="7818786" y="909600"/>
            <a:ext cx="3947639" cy="2562150"/>
          </a:xfrm>
          <a:prstGeom prst="rect">
            <a:avLst/>
          </a:prstGeom>
          <a:noFill/>
          <a:ln>
            <a:noFill/>
          </a:ln>
        </p:spPr>
      </p:pic>
      <p:sp>
        <p:nvSpPr>
          <p:cNvPr id="300" name="Google Shape;300;p10"/>
          <p:cNvSpPr txBox="1"/>
          <p:nvPr/>
        </p:nvSpPr>
        <p:spPr>
          <a:xfrm>
            <a:off x="780300" y="664142"/>
            <a:ext cx="10745700" cy="432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00000"/>
              </a:buClr>
              <a:buSzPts val="2700"/>
              <a:buFont typeface="Arial"/>
              <a:buNone/>
            </a:pPr>
            <a:r>
              <a:rPr b="1" i="0" lang="en-US" sz="2700" u="none" cap="none" strike="noStrike">
                <a:solidFill>
                  <a:schemeClr val="accent1"/>
                </a:solidFill>
                <a:latin typeface="Roboto"/>
                <a:ea typeface="Roboto"/>
                <a:cs typeface="Roboto"/>
                <a:sym typeface="Roboto"/>
              </a:rPr>
              <a:t>Find the Median price for each neighborhood</a:t>
            </a:r>
            <a:endParaRPr b="1" i="0" sz="5200" u="none" cap="none" strike="noStrike">
              <a:solidFill>
                <a:schemeClr val="accent1"/>
              </a:solidFill>
              <a:latin typeface="Catamaran"/>
              <a:ea typeface="Catamaran"/>
              <a:cs typeface="Catamaran"/>
              <a:sym typeface="Catamaran"/>
            </a:endParaRPr>
          </a:p>
        </p:txBody>
      </p:sp>
      <p:pic>
        <p:nvPicPr>
          <p:cNvPr id="301" name="Google Shape;301;p10"/>
          <p:cNvPicPr preferRelativeResize="0"/>
          <p:nvPr/>
        </p:nvPicPr>
        <p:blipFill rotWithShape="1">
          <a:blip r:embed="rId6">
            <a:alphaModFix/>
          </a:blip>
          <a:srcRect b="0" l="0" r="0" t="0"/>
          <a:stretch/>
        </p:blipFill>
        <p:spPr>
          <a:xfrm>
            <a:off x="7794350" y="3471750"/>
            <a:ext cx="3996500" cy="2562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2c83310895d_0_7"/>
          <p:cNvSpPr txBox="1"/>
          <p:nvPr/>
        </p:nvSpPr>
        <p:spPr>
          <a:xfrm>
            <a:off x="410450" y="510325"/>
            <a:ext cx="90393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4000"/>
              <a:buFont typeface="Arial"/>
              <a:buNone/>
            </a:pPr>
            <a:r>
              <a:rPr b="1" i="0" lang="en-US" sz="4000" u="none" cap="none" strike="noStrike">
                <a:solidFill>
                  <a:schemeClr val="accent1"/>
                </a:solidFill>
                <a:latin typeface="Roboto"/>
                <a:ea typeface="Roboto"/>
                <a:cs typeface="Roboto"/>
                <a:sym typeface="Roboto"/>
              </a:rPr>
              <a:t> Groupby Neighborhood box plot</a:t>
            </a:r>
            <a:endParaRPr b="1" i="0" sz="4000" u="none" cap="none" strike="noStrike">
              <a:solidFill>
                <a:schemeClr val="accent1"/>
              </a:solidFill>
              <a:latin typeface="Arial"/>
              <a:ea typeface="Arial"/>
              <a:cs typeface="Arial"/>
              <a:sym typeface="Arial"/>
            </a:endParaRPr>
          </a:p>
        </p:txBody>
      </p:sp>
      <p:sp>
        <p:nvSpPr>
          <p:cNvPr id="307" name="Google Shape;307;g2c83310895d_0_7"/>
          <p:cNvSpPr/>
          <p:nvPr/>
        </p:nvSpPr>
        <p:spPr>
          <a:xfrm>
            <a:off x="264152" y="277385"/>
            <a:ext cx="360094" cy="285770"/>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8" name="Google Shape;308;g2c83310895d_0_7"/>
          <p:cNvSpPr txBox="1"/>
          <p:nvPr/>
        </p:nvSpPr>
        <p:spPr>
          <a:xfrm>
            <a:off x="6020675" y="1761025"/>
            <a:ext cx="5218500" cy="3329400"/>
          </a:xfrm>
          <a:prstGeom prst="rect">
            <a:avLst/>
          </a:prstGeom>
          <a:noFill/>
          <a:ln>
            <a:noFill/>
          </a:ln>
        </p:spPr>
        <p:txBody>
          <a:bodyPr anchorCtr="0" anchor="t" bIns="91425" lIns="91425" spcFirstLastPara="1" rIns="91425" wrap="square" tIns="91425">
            <a:spAutoFit/>
          </a:bodyPr>
          <a:lstStyle/>
          <a:p>
            <a:pPr indent="-342900" lvl="1" marL="914400" marR="0" rtl="0" algn="l">
              <a:lnSpc>
                <a:spcPct val="115000"/>
              </a:lnSpc>
              <a:spcBef>
                <a:spcPts val="120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Price distribution across neighborhood groups using box plots.</a:t>
            </a:r>
            <a:endParaRPr b="0" i="0" sz="1800" u="none" cap="none" strike="noStrike">
              <a:solidFill>
                <a:schemeClr val="dk1"/>
              </a:solidFill>
              <a:latin typeface="Arial"/>
              <a:ea typeface="Arial"/>
              <a:cs typeface="Arial"/>
              <a:sym typeface="Arial"/>
            </a:endParaRPr>
          </a:p>
          <a:p>
            <a:pPr indent="-342900" lvl="1" marL="914400" marR="0" rtl="0" algn="l">
              <a:lnSpc>
                <a:spcPct val="11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Displayed the number of listings in each neighborhood group using count plots.</a:t>
            </a:r>
            <a:endParaRPr b="0" i="0" sz="1800" u="none" cap="none" strike="noStrike">
              <a:solidFill>
                <a:schemeClr val="dk1"/>
              </a:solidFill>
              <a:latin typeface="Arial"/>
              <a:ea typeface="Arial"/>
              <a:cs typeface="Arial"/>
              <a:sym typeface="Arial"/>
            </a:endParaRPr>
          </a:p>
          <a:p>
            <a:pPr indent="-342900" lvl="1" marL="914400" marR="0" rtl="0" algn="l">
              <a:lnSpc>
                <a:spcPct val="11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Plotted bar graphs showing the median price in each neighborhood group.</a:t>
            </a:r>
            <a:endParaRPr b="0" i="0" sz="1800" u="none" cap="none" strike="noStrike">
              <a:solidFill>
                <a:schemeClr val="dk1"/>
              </a:solidFill>
              <a:latin typeface="Arial"/>
              <a:ea typeface="Arial"/>
              <a:cs typeface="Arial"/>
              <a:sym typeface="Arial"/>
            </a:endParaRPr>
          </a:p>
          <a:p>
            <a:pPr indent="-342900" lvl="1" marL="914400" marR="0" rtl="0" algn="l">
              <a:lnSpc>
                <a:spcPct val="11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correlation relationships between 'price', 'reviews_per_month', 'calculated_host_listings_count', 'availability_365', and 'minimum_nights'.</a:t>
            </a:r>
            <a:endParaRPr b="0" i="0" sz="1800" u="none" cap="none" strike="noStrike">
              <a:solidFill>
                <a:schemeClr val="dk1"/>
              </a:solidFill>
              <a:latin typeface="Arial"/>
              <a:ea typeface="Arial"/>
              <a:cs typeface="Arial"/>
              <a:sym typeface="Arial"/>
            </a:endParaRPr>
          </a:p>
        </p:txBody>
      </p:sp>
      <p:pic>
        <p:nvPicPr>
          <p:cNvPr id="309" name="Google Shape;309;g2c83310895d_0_7"/>
          <p:cNvPicPr preferRelativeResize="0"/>
          <p:nvPr/>
        </p:nvPicPr>
        <p:blipFill rotWithShape="1">
          <a:blip r:embed="rId3">
            <a:alphaModFix/>
          </a:blip>
          <a:srcRect b="0" l="0" r="0" t="0"/>
          <a:stretch/>
        </p:blipFill>
        <p:spPr>
          <a:xfrm>
            <a:off x="410450" y="5092645"/>
            <a:ext cx="6906500" cy="1620750"/>
          </a:xfrm>
          <a:prstGeom prst="rect">
            <a:avLst/>
          </a:prstGeom>
          <a:noFill/>
          <a:ln>
            <a:noFill/>
          </a:ln>
        </p:spPr>
      </p:pic>
      <p:pic>
        <p:nvPicPr>
          <p:cNvPr id="310" name="Google Shape;310;g2c83310895d_0_7"/>
          <p:cNvPicPr preferRelativeResize="0"/>
          <p:nvPr/>
        </p:nvPicPr>
        <p:blipFill rotWithShape="1">
          <a:blip r:embed="rId4">
            <a:alphaModFix/>
          </a:blip>
          <a:srcRect b="0" l="0" r="0" t="0"/>
          <a:stretch/>
        </p:blipFill>
        <p:spPr>
          <a:xfrm>
            <a:off x="152400" y="1463125"/>
            <a:ext cx="5715875" cy="334776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3921"/>
          </a:schemeClr>
        </a:solidFill>
      </p:bgPr>
    </p:bg>
    <p:spTree>
      <p:nvGrpSpPr>
        <p:cNvPr id="314" name="Shape 314"/>
        <p:cNvGrpSpPr/>
        <p:nvPr/>
      </p:nvGrpSpPr>
      <p:grpSpPr>
        <a:xfrm>
          <a:off x="0" y="0"/>
          <a:ext cx="0" cy="0"/>
          <a:chOff x="0" y="0"/>
          <a:chExt cx="0" cy="0"/>
        </a:xfrm>
      </p:grpSpPr>
      <p:sp>
        <p:nvSpPr>
          <p:cNvPr id="315" name="Google Shape;315;p34"/>
          <p:cNvSpPr txBox="1"/>
          <p:nvPr/>
        </p:nvSpPr>
        <p:spPr>
          <a:xfrm>
            <a:off x="0" y="0"/>
            <a:ext cx="12306300" cy="699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16" name="Google Shape;316;p34"/>
          <p:cNvPicPr preferRelativeResize="0"/>
          <p:nvPr/>
        </p:nvPicPr>
        <p:blipFill rotWithShape="1">
          <a:blip r:embed="rId3">
            <a:alphaModFix amt="15000"/>
          </a:blip>
          <a:srcRect b="-1" l="0" r="0" t="20071"/>
          <a:stretch/>
        </p:blipFill>
        <p:spPr>
          <a:xfrm>
            <a:off x="-323850" y="-214325"/>
            <a:ext cx="4061976" cy="7286625"/>
          </a:xfrm>
          <a:prstGeom prst="rect">
            <a:avLst/>
          </a:prstGeom>
          <a:noFill/>
          <a:ln>
            <a:noFill/>
          </a:ln>
        </p:spPr>
      </p:pic>
      <p:grpSp>
        <p:nvGrpSpPr>
          <p:cNvPr id="317" name="Google Shape;317;p34"/>
          <p:cNvGrpSpPr/>
          <p:nvPr/>
        </p:nvGrpSpPr>
        <p:grpSpPr>
          <a:xfrm>
            <a:off x="5797074" y="6550320"/>
            <a:ext cx="597852" cy="615360"/>
            <a:chOff x="5797074" y="6550320"/>
            <a:chExt cx="597852" cy="615360"/>
          </a:xfrm>
        </p:grpSpPr>
        <p:sp>
          <p:nvSpPr>
            <p:cNvPr id="318" name="Google Shape;318;p34"/>
            <p:cNvSpPr txBox="1"/>
            <p:nvPr/>
          </p:nvSpPr>
          <p:spPr>
            <a:xfrm rot="5400000">
              <a:off x="5788320" y="6559074"/>
              <a:ext cx="615360" cy="597852"/>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 name="Google Shape;319;p34"/>
            <p:cNvSpPr/>
            <p:nvPr/>
          </p:nvSpPr>
          <p:spPr>
            <a:xfrm>
              <a:off x="5988050" y="6647010"/>
              <a:ext cx="215900" cy="11430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20" name="Google Shape;320;p34"/>
          <p:cNvSpPr txBox="1"/>
          <p:nvPr/>
        </p:nvSpPr>
        <p:spPr>
          <a:xfrm>
            <a:off x="3062901" y="2246840"/>
            <a:ext cx="1081605" cy="9955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1" name="Google Shape;321;p34"/>
          <p:cNvSpPr txBox="1"/>
          <p:nvPr/>
        </p:nvSpPr>
        <p:spPr>
          <a:xfrm>
            <a:off x="624150" y="2246850"/>
            <a:ext cx="5770800" cy="82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accent1"/>
                </a:solidFill>
                <a:latin typeface="Catamaran"/>
                <a:ea typeface="Catamaran"/>
                <a:cs typeface="Catamaran"/>
                <a:sym typeface="Catamaran"/>
              </a:rPr>
              <a:t>From the Number of Housing：</a:t>
            </a:r>
            <a:endParaRPr b="1" i="0" sz="1700" u="none" cap="none" strike="noStrike">
              <a:solidFill>
                <a:schemeClr val="accent1"/>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chemeClr val="accent1"/>
              </a:solidFill>
              <a:latin typeface="Catamaran"/>
              <a:ea typeface="Catamaran"/>
              <a:cs typeface="Catamaran"/>
              <a:sym typeface="Catamaran"/>
            </a:endParaRPr>
          </a:p>
          <a:p>
            <a:pPr indent="-336550" lvl="0" marL="457200" marR="0" rtl="0" algn="l">
              <a:lnSpc>
                <a:spcPct val="100000"/>
              </a:lnSpc>
              <a:spcBef>
                <a:spcPts val="0"/>
              </a:spcBef>
              <a:spcAft>
                <a:spcPts val="0"/>
              </a:spcAft>
              <a:buClr>
                <a:schemeClr val="accent1"/>
              </a:buClr>
              <a:buSzPts val="1700"/>
              <a:buFont typeface="Catamaran"/>
              <a:buChar char="●"/>
            </a:pPr>
            <a:r>
              <a:rPr b="0" i="0" lang="en-US" sz="1700" u="none" cap="none" strike="noStrike">
                <a:solidFill>
                  <a:srgbClr val="262626"/>
                </a:solidFill>
                <a:latin typeface="Catamaran"/>
                <a:ea typeface="Catamaran"/>
                <a:cs typeface="Catamaran"/>
                <a:sym typeface="Catamaran"/>
              </a:rPr>
              <a:t>Manhattan &amp; Brooklyn have the most housing availability and listing at NYC</a:t>
            </a:r>
            <a:endParaRPr b="0" i="0" sz="1700" u="none" cap="none" strike="noStrike">
              <a:solidFill>
                <a:srgbClr val="262626"/>
              </a:solidFill>
              <a:latin typeface="Catamaran"/>
              <a:ea typeface="Catamaran"/>
              <a:cs typeface="Catamaran"/>
              <a:sym typeface="Catamaran"/>
            </a:endParaRPr>
          </a:p>
          <a:p>
            <a:pPr indent="-336550" lvl="0" marL="457200" marR="0" rtl="0" algn="l">
              <a:lnSpc>
                <a:spcPct val="100000"/>
              </a:lnSpc>
              <a:spcBef>
                <a:spcPts val="0"/>
              </a:spcBef>
              <a:spcAft>
                <a:spcPts val="0"/>
              </a:spcAft>
              <a:buClr>
                <a:schemeClr val="accent1"/>
              </a:buClr>
              <a:buSzPts val="1700"/>
              <a:buFont typeface="Catamaran"/>
              <a:buChar char="●"/>
            </a:pPr>
            <a:r>
              <a:rPr b="0" i="0" lang="en-US" sz="1700" u="none" cap="none" strike="noStrike">
                <a:solidFill>
                  <a:srgbClr val="262626"/>
                </a:solidFill>
                <a:latin typeface="Catamaran"/>
                <a:ea typeface="Catamaran"/>
                <a:cs typeface="Catamaran"/>
                <a:sym typeface="Catamaran"/>
              </a:rPr>
              <a:t>Queens, Bronx &amp; Staten Island are less</a:t>
            </a:r>
            <a:endParaRPr b="0" i="0" sz="1700" u="none" cap="none" strike="noStrike">
              <a:solidFill>
                <a:srgbClr val="262626"/>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262626"/>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accent1"/>
                </a:solidFill>
                <a:latin typeface="Catamaran"/>
                <a:ea typeface="Catamaran"/>
                <a:cs typeface="Catamaran"/>
                <a:sym typeface="Catamaran"/>
              </a:rPr>
              <a:t>From the Median Price:</a:t>
            </a:r>
            <a:endParaRPr b="1" i="0" sz="1700" u="none" cap="none" strike="noStrike">
              <a:solidFill>
                <a:schemeClr val="accent1"/>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chemeClr val="accent1"/>
              </a:solidFill>
              <a:latin typeface="Catamaran"/>
              <a:ea typeface="Catamaran"/>
              <a:cs typeface="Catamaran"/>
              <a:sym typeface="Catamaran"/>
            </a:endParaRPr>
          </a:p>
          <a:p>
            <a:pPr indent="-336550" lvl="0" marL="457200" marR="0" rtl="0" algn="l">
              <a:lnSpc>
                <a:spcPct val="100000"/>
              </a:lnSpc>
              <a:spcBef>
                <a:spcPts val="0"/>
              </a:spcBef>
              <a:spcAft>
                <a:spcPts val="0"/>
              </a:spcAft>
              <a:buClr>
                <a:schemeClr val="accent1"/>
              </a:buClr>
              <a:buSzPts val="1700"/>
              <a:buFont typeface="Catamaran"/>
              <a:buChar char="●"/>
            </a:pPr>
            <a:r>
              <a:rPr b="0" i="0" lang="en-US" sz="1700" u="none" cap="none" strike="noStrike">
                <a:solidFill>
                  <a:srgbClr val="262626"/>
                </a:solidFill>
                <a:latin typeface="Catamaran"/>
                <a:ea typeface="Catamaran"/>
                <a:cs typeface="Catamaran"/>
                <a:sym typeface="Catamaran"/>
              </a:rPr>
              <a:t>Manhattan has the Highest Median Price</a:t>
            </a:r>
            <a:endParaRPr b="0" i="0" sz="1700" u="none" cap="none" strike="noStrike">
              <a:solidFill>
                <a:srgbClr val="262626"/>
              </a:solidFill>
              <a:latin typeface="Catamaran"/>
              <a:ea typeface="Catamaran"/>
              <a:cs typeface="Catamaran"/>
              <a:sym typeface="Catamaran"/>
            </a:endParaRPr>
          </a:p>
          <a:p>
            <a:pPr indent="-336550" lvl="0" marL="457200" marR="0" rtl="0" algn="l">
              <a:lnSpc>
                <a:spcPct val="100000"/>
              </a:lnSpc>
              <a:spcBef>
                <a:spcPts val="0"/>
              </a:spcBef>
              <a:spcAft>
                <a:spcPts val="0"/>
              </a:spcAft>
              <a:buClr>
                <a:schemeClr val="accent1"/>
              </a:buClr>
              <a:buSzPts val="1700"/>
              <a:buFont typeface="Catamaran"/>
              <a:buChar char="●"/>
            </a:pPr>
            <a:r>
              <a:rPr b="0" i="0" lang="en-US" sz="1700" u="none" cap="none" strike="noStrike">
                <a:solidFill>
                  <a:srgbClr val="262626"/>
                </a:solidFill>
                <a:latin typeface="Catamaran"/>
                <a:ea typeface="Catamaran"/>
                <a:cs typeface="Catamaran"/>
                <a:sym typeface="Catamaran"/>
              </a:rPr>
              <a:t>The other parts (Bronx, Queens, Staten Island &amp; Brooklyn) are mostly the same</a:t>
            </a:r>
            <a:endParaRPr b="0" i="0" sz="1700" u="none" cap="none" strike="noStrike">
              <a:solidFill>
                <a:srgbClr val="262626"/>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tamaran"/>
              <a:ea typeface="Catamaran"/>
              <a:cs typeface="Catamaran"/>
              <a:sym typeface="Catamaran"/>
            </a:endParaRPr>
          </a:p>
        </p:txBody>
      </p:sp>
      <p:sp>
        <p:nvSpPr>
          <p:cNvPr id="322" name="Google Shape;322;p34"/>
          <p:cNvSpPr txBox="1"/>
          <p:nvPr/>
        </p:nvSpPr>
        <p:spPr>
          <a:xfrm>
            <a:off x="1914025" y="5787431"/>
            <a:ext cx="8478300" cy="45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3" name="Google Shape;323;p34"/>
          <p:cNvSpPr/>
          <p:nvPr/>
        </p:nvSpPr>
        <p:spPr>
          <a:xfrm>
            <a:off x="264152" y="277385"/>
            <a:ext cx="360000" cy="285696"/>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24" name="Google Shape;324;p34"/>
          <p:cNvPicPr preferRelativeResize="0"/>
          <p:nvPr/>
        </p:nvPicPr>
        <p:blipFill rotWithShape="1">
          <a:blip r:embed="rId4">
            <a:alphaModFix/>
          </a:blip>
          <a:srcRect b="0" l="0" r="0" t="0"/>
          <a:stretch/>
        </p:blipFill>
        <p:spPr>
          <a:xfrm>
            <a:off x="6394925" y="0"/>
            <a:ext cx="5892549" cy="3519003"/>
          </a:xfrm>
          <a:prstGeom prst="rect">
            <a:avLst/>
          </a:prstGeom>
          <a:noFill/>
          <a:ln>
            <a:noFill/>
          </a:ln>
        </p:spPr>
      </p:pic>
      <p:pic>
        <p:nvPicPr>
          <p:cNvPr id="325" name="Google Shape;325;p34"/>
          <p:cNvPicPr preferRelativeResize="0"/>
          <p:nvPr/>
        </p:nvPicPr>
        <p:blipFill rotWithShape="1">
          <a:blip r:embed="rId5">
            <a:alphaModFix/>
          </a:blip>
          <a:srcRect b="0" l="0" r="0" t="0"/>
          <a:stretch/>
        </p:blipFill>
        <p:spPr>
          <a:xfrm>
            <a:off x="6394930" y="3572888"/>
            <a:ext cx="5892545" cy="3424824"/>
          </a:xfrm>
          <a:prstGeom prst="rect">
            <a:avLst/>
          </a:prstGeom>
          <a:noFill/>
          <a:ln>
            <a:noFill/>
          </a:ln>
        </p:spPr>
      </p:pic>
      <p:sp>
        <p:nvSpPr>
          <p:cNvPr id="326" name="Google Shape;326;p34"/>
          <p:cNvSpPr txBox="1"/>
          <p:nvPr/>
        </p:nvSpPr>
        <p:spPr>
          <a:xfrm>
            <a:off x="780300" y="664159"/>
            <a:ext cx="10745700" cy="93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accent1"/>
                </a:solidFill>
                <a:latin typeface="Catamaran"/>
                <a:ea typeface="Catamaran"/>
                <a:cs typeface="Catamaran"/>
                <a:sym typeface="Catamaran"/>
              </a:rPr>
              <a:t>Median Price + Housing </a:t>
            </a:r>
            <a:endParaRPr b="1" i="0" sz="3600" u="none" cap="none" strike="noStrike">
              <a:solidFill>
                <a:schemeClr val="accent1"/>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accent1"/>
                </a:solidFill>
                <a:latin typeface="Catamaran"/>
                <a:ea typeface="Catamaran"/>
                <a:cs typeface="Catamaran"/>
                <a:sym typeface="Catamaran"/>
              </a:rPr>
              <a:t>Numbers</a:t>
            </a:r>
            <a:endParaRPr b="1" i="0" sz="3600" u="none" cap="none" strike="noStrike">
              <a:solidFill>
                <a:schemeClr val="accent1"/>
              </a:solidFill>
              <a:latin typeface="Catamaran"/>
              <a:ea typeface="Catamaran"/>
              <a:cs typeface="Catamaran"/>
              <a:sym typeface="Catamar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3921"/>
          </a:schemeClr>
        </a:solidFill>
      </p:bgPr>
    </p:bg>
    <p:spTree>
      <p:nvGrpSpPr>
        <p:cNvPr id="330" name="Shape 330"/>
        <p:cNvGrpSpPr/>
        <p:nvPr/>
      </p:nvGrpSpPr>
      <p:grpSpPr>
        <a:xfrm>
          <a:off x="0" y="0"/>
          <a:ext cx="0" cy="0"/>
          <a:chOff x="0" y="0"/>
          <a:chExt cx="0" cy="0"/>
        </a:xfrm>
      </p:grpSpPr>
      <p:sp>
        <p:nvSpPr>
          <p:cNvPr id="331" name="Google Shape;331;p35"/>
          <p:cNvSpPr txBox="1"/>
          <p:nvPr/>
        </p:nvSpPr>
        <p:spPr>
          <a:xfrm>
            <a:off x="-6685450" y="848250"/>
            <a:ext cx="12306300" cy="6997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32" name="Google Shape;332;p35"/>
          <p:cNvGrpSpPr/>
          <p:nvPr/>
        </p:nvGrpSpPr>
        <p:grpSpPr>
          <a:xfrm>
            <a:off x="5797074" y="6550320"/>
            <a:ext cx="597852" cy="615360"/>
            <a:chOff x="5797074" y="6550320"/>
            <a:chExt cx="597852" cy="615360"/>
          </a:xfrm>
        </p:grpSpPr>
        <p:sp>
          <p:nvSpPr>
            <p:cNvPr id="333" name="Google Shape;333;p35"/>
            <p:cNvSpPr txBox="1"/>
            <p:nvPr/>
          </p:nvSpPr>
          <p:spPr>
            <a:xfrm rot="5400000">
              <a:off x="5788320" y="6559074"/>
              <a:ext cx="615360" cy="597852"/>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 name="Google Shape;334;p35"/>
            <p:cNvSpPr/>
            <p:nvPr/>
          </p:nvSpPr>
          <p:spPr>
            <a:xfrm>
              <a:off x="5988050" y="6647010"/>
              <a:ext cx="215900" cy="11430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35" name="Google Shape;335;p35"/>
          <p:cNvSpPr txBox="1"/>
          <p:nvPr/>
        </p:nvSpPr>
        <p:spPr>
          <a:xfrm>
            <a:off x="624148" y="4336225"/>
            <a:ext cx="6379200" cy="96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chemeClr val="accent1"/>
                </a:solidFill>
                <a:latin typeface="Arial"/>
                <a:ea typeface="Arial"/>
                <a:cs typeface="Arial"/>
                <a:sym typeface="Arial"/>
              </a:rPr>
              <a:t>The Median Value of NYC will be at the range (0&lt;x&lt;200)</a:t>
            </a:r>
            <a:endParaRPr b="0" i="0" sz="1300" u="none" cap="none" strike="noStrike">
              <a:solidFill>
                <a:srgbClr val="000000"/>
              </a:solidFill>
              <a:latin typeface="Arial"/>
              <a:ea typeface="Arial"/>
              <a:cs typeface="Arial"/>
              <a:sym typeface="Arial"/>
            </a:endParaRPr>
          </a:p>
        </p:txBody>
      </p:sp>
      <p:sp>
        <p:nvSpPr>
          <p:cNvPr id="336" name="Google Shape;336;p35"/>
          <p:cNvSpPr/>
          <p:nvPr/>
        </p:nvSpPr>
        <p:spPr>
          <a:xfrm>
            <a:off x="264152" y="277385"/>
            <a:ext cx="360000" cy="285696"/>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7" name="Google Shape;337;p35"/>
          <p:cNvSpPr txBox="1"/>
          <p:nvPr/>
        </p:nvSpPr>
        <p:spPr>
          <a:xfrm>
            <a:off x="-1304425" y="1181717"/>
            <a:ext cx="10745700" cy="4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accent1"/>
                </a:solidFill>
                <a:latin typeface="Catamaran"/>
                <a:ea typeface="Catamaran"/>
                <a:cs typeface="Catamaran"/>
                <a:sym typeface="Catamaran"/>
              </a:rPr>
              <a:t>Median Value of Airbnb</a:t>
            </a:r>
            <a:endParaRPr b="1" i="0" sz="3600" u="none" cap="none" strike="noStrike">
              <a:solidFill>
                <a:schemeClr val="accent1"/>
              </a:solidFill>
              <a:latin typeface="Catamaran"/>
              <a:ea typeface="Catamaran"/>
              <a:cs typeface="Catamaran"/>
              <a:sym typeface="Catamaran"/>
            </a:endParaRPr>
          </a:p>
        </p:txBody>
      </p:sp>
      <p:pic>
        <p:nvPicPr>
          <p:cNvPr id="338" name="Google Shape;338;p35"/>
          <p:cNvPicPr preferRelativeResize="0"/>
          <p:nvPr/>
        </p:nvPicPr>
        <p:blipFill rotWithShape="1">
          <a:blip r:embed="rId3">
            <a:alphaModFix/>
          </a:blip>
          <a:srcRect b="0" l="0" r="0" t="0"/>
          <a:stretch/>
        </p:blipFill>
        <p:spPr>
          <a:xfrm>
            <a:off x="6727825" y="3533750"/>
            <a:ext cx="5294749" cy="3018500"/>
          </a:xfrm>
          <a:prstGeom prst="rect">
            <a:avLst/>
          </a:prstGeom>
          <a:noFill/>
          <a:ln>
            <a:noFill/>
          </a:ln>
        </p:spPr>
      </p:pic>
      <p:pic>
        <p:nvPicPr>
          <p:cNvPr id="339" name="Google Shape;339;p35"/>
          <p:cNvPicPr preferRelativeResize="0"/>
          <p:nvPr/>
        </p:nvPicPr>
        <p:blipFill rotWithShape="1">
          <a:blip r:embed="rId4">
            <a:alphaModFix/>
          </a:blip>
          <a:srcRect b="0" l="0" r="0" t="0"/>
          <a:stretch/>
        </p:blipFill>
        <p:spPr>
          <a:xfrm>
            <a:off x="6727825" y="204100"/>
            <a:ext cx="5294750" cy="2878936"/>
          </a:xfrm>
          <a:prstGeom prst="rect">
            <a:avLst/>
          </a:prstGeom>
          <a:noFill/>
          <a:ln>
            <a:noFill/>
          </a:ln>
        </p:spPr>
      </p:pic>
      <p:sp>
        <p:nvSpPr>
          <p:cNvPr id="340" name="Google Shape;340;p35"/>
          <p:cNvSpPr txBox="1"/>
          <p:nvPr/>
        </p:nvSpPr>
        <p:spPr>
          <a:xfrm>
            <a:off x="264150" y="2081987"/>
            <a:ext cx="5868000" cy="1631700"/>
          </a:xfrm>
          <a:prstGeom prst="rect">
            <a:avLst/>
          </a:prstGeom>
          <a:solidFill>
            <a:schemeClr val="lt2"/>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chemeClr val="dk1"/>
                </a:solidFill>
                <a:latin typeface="Arial"/>
                <a:ea typeface="Arial"/>
                <a:cs typeface="Arial"/>
                <a:sym typeface="Arial"/>
              </a:rPr>
              <a:t>Target Variable Distribution</a:t>
            </a:r>
            <a:r>
              <a:rPr b="0" i="0" lang="en-US" sz="1500" u="none" cap="none" strike="noStrike">
                <a:solidFill>
                  <a:schemeClr val="dk1"/>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a:p>
            <a:pPr indent="-323850" lvl="0" marL="457200" marR="0" rtl="0" algn="l">
              <a:lnSpc>
                <a:spcPct val="115000"/>
              </a:lnSpc>
              <a:spcBef>
                <a:spcPts val="120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Visualized the distribution of the target variable 'price' using histograms with Kernel Density Estimation (KDE).</a:t>
            </a:r>
            <a:endParaRPr b="0" i="0" sz="1500" u="none" cap="none" strike="noStrike">
              <a:solidFill>
                <a:schemeClr val="dk1"/>
              </a:solidFill>
              <a:latin typeface="Arial"/>
              <a:ea typeface="Arial"/>
              <a:cs typeface="Arial"/>
              <a:sym typeface="Arial"/>
            </a:endParaRPr>
          </a:p>
          <a:p>
            <a:pPr indent="-323850" lvl="0" marL="457200" marR="0" rtl="0" algn="l">
              <a:lnSpc>
                <a:spcPct val="115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Plotted histograms and KDE plots for the entire dataset and subsets filtered for prices less than $600</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pic>
        <p:nvPicPr>
          <p:cNvPr id="345" name="Google Shape;345;g32888a004af_0_0"/>
          <p:cNvPicPr preferRelativeResize="0"/>
          <p:nvPr/>
        </p:nvPicPr>
        <p:blipFill rotWithShape="1">
          <a:blip r:embed="rId3">
            <a:alphaModFix/>
          </a:blip>
          <a:srcRect b="0" l="0" r="0" t="0"/>
          <a:stretch/>
        </p:blipFill>
        <p:spPr>
          <a:xfrm>
            <a:off x="0" y="0"/>
            <a:ext cx="4277112" cy="3398475"/>
          </a:xfrm>
          <a:prstGeom prst="rect">
            <a:avLst/>
          </a:prstGeom>
          <a:noFill/>
          <a:ln>
            <a:noFill/>
          </a:ln>
        </p:spPr>
      </p:pic>
      <p:pic>
        <p:nvPicPr>
          <p:cNvPr id="346" name="Google Shape;346;g32888a004af_0_0"/>
          <p:cNvPicPr preferRelativeResize="0"/>
          <p:nvPr/>
        </p:nvPicPr>
        <p:blipFill rotWithShape="1">
          <a:blip r:embed="rId4">
            <a:alphaModFix/>
          </a:blip>
          <a:srcRect b="0" l="0" r="0" t="0"/>
          <a:stretch/>
        </p:blipFill>
        <p:spPr>
          <a:xfrm>
            <a:off x="8538750" y="1711275"/>
            <a:ext cx="3480750" cy="2093425"/>
          </a:xfrm>
          <a:prstGeom prst="rect">
            <a:avLst/>
          </a:prstGeom>
          <a:noFill/>
          <a:ln>
            <a:noFill/>
          </a:ln>
        </p:spPr>
      </p:pic>
      <p:pic>
        <p:nvPicPr>
          <p:cNvPr id="347" name="Google Shape;347;g32888a004af_0_0"/>
          <p:cNvPicPr preferRelativeResize="0"/>
          <p:nvPr/>
        </p:nvPicPr>
        <p:blipFill rotWithShape="1">
          <a:blip r:embed="rId5">
            <a:alphaModFix/>
          </a:blip>
          <a:srcRect b="0" l="0" r="0" t="0"/>
          <a:stretch/>
        </p:blipFill>
        <p:spPr>
          <a:xfrm>
            <a:off x="8538750" y="134650"/>
            <a:ext cx="1703092" cy="1576621"/>
          </a:xfrm>
          <a:prstGeom prst="rect">
            <a:avLst/>
          </a:prstGeom>
          <a:noFill/>
          <a:ln>
            <a:noFill/>
          </a:ln>
        </p:spPr>
      </p:pic>
      <p:pic>
        <p:nvPicPr>
          <p:cNvPr id="348" name="Google Shape;348;g32888a004af_0_0"/>
          <p:cNvPicPr preferRelativeResize="0"/>
          <p:nvPr/>
        </p:nvPicPr>
        <p:blipFill rotWithShape="1">
          <a:blip r:embed="rId6">
            <a:alphaModFix/>
          </a:blip>
          <a:srcRect b="0" l="0" r="0" t="0"/>
          <a:stretch/>
        </p:blipFill>
        <p:spPr>
          <a:xfrm>
            <a:off x="10289564" y="134654"/>
            <a:ext cx="1729936" cy="1576621"/>
          </a:xfrm>
          <a:prstGeom prst="rect">
            <a:avLst/>
          </a:prstGeom>
          <a:noFill/>
          <a:ln>
            <a:noFill/>
          </a:ln>
        </p:spPr>
      </p:pic>
      <p:pic>
        <p:nvPicPr>
          <p:cNvPr id="349" name="Google Shape;349;g32888a004af_0_0"/>
          <p:cNvPicPr preferRelativeResize="0"/>
          <p:nvPr/>
        </p:nvPicPr>
        <p:blipFill rotWithShape="1">
          <a:blip r:embed="rId7">
            <a:alphaModFix/>
          </a:blip>
          <a:srcRect b="0" l="0" r="0" t="0"/>
          <a:stretch/>
        </p:blipFill>
        <p:spPr>
          <a:xfrm>
            <a:off x="8620925" y="3917698"/>
            <a:ext cx="1675631" cy="1271202"/>
          </a:xfrm>
          <a:prstGeom prst="rect">
            <a:avLst/>
          </a:prstGeom>
          <a:noFill/>
          <a:ln>
            <a:noFill/>
          </a:ln>
        </p:spPr>
      </p:pic>
      <p:pic>
        <p:nvPicPr>
          <p:cNvPr id="350" name="Google Shape;350;g32888a004af_0_0"/>
          <p:cNvPicPr preferRelativeResize="0"/>
          <p:nvPr/>
        </p:nvPicPr>
        <p:blipFill rotWithShape="1">
          <a:blip r:embed="rId8">
            <a:alphaModFix/>
          </a:blip>
          <a:srcRect b="0" l="0" r="0" t="0"/>
          <a:stretch/>
        </p:blipFill>
        <p:spPr>
          <a:xfrm>
            <a:off x="10408799" y="3898750"/>
            <a:ext cx="1692876" cy="1271202"/>
          </a:xfrm>
          <a:prstGeom prst="rect">
            <a:avLst/>
          </a:prstGeom>
          <a:noFill/>
          <a:ln>
            <a:noFill/>
          </a:ln>
        </p:spPr>
      </p:pic>
      <p:pic>
        <p:nvPicPr>
          <p:cNvPr id="351" name="Google Shape;351;g32888a004af_0_0"/>
          <p:cNvPicPr preferRelativeResize="0"/>
          <p:nvPr/>
        </p:nvPicPr>
        <p:blipFill rotWithShape="1">
          <a:blip r:embed="rId9">
            <a:alphaModFix/>
          </a:blip>
          <a:srcRect b="0" l="0" r="0" t="0"/>
          <a:stretch/>
        </p:blipFill>
        <p:spPr>
          <a:xfrm>
            <a:off x="4485747" y="71900"/>
            <a:ext cx="3664925" cy="2186378"/>
          </a:xfrm>
          <a:prstGeom prst="rect">
            <a:avLst/>
          </a:prstGeom>
          <a:noFill/>
          <a:ln>
            <a:noFill/>
          </a:ln>
        </p:spPr>
      </p:pic>
      <p:pic>
        <p:nvPicPr>
          <p:cNvPr id="352" name="Google Shape;352;g32888a004af_0_0"/>
          <p:cNvPicPr preferRelativeResize="0"/>
          <p:nvPr/>
        </p:nvPicPr>
        <p:blipFill rotWithShape="1">
          <a:blip r:embed="rId10">
            <a:alphaModFix/>
          </a:blip>
          <a:srcRect b="0" l="0" r="0" t="0"/>
          <a:stretch/>
        </p:blipFill>
        <p:spPr>
          <a:xfrm>
            <a:off x="8558788" y="5301905"/>
            <a:ext cx="1799900" cy="1247745"/>
          </a:xfrm>
          <a:prstGeom prst="rect">
            <a:avLst/>
          </a:prstGeom>
          <a:noFill/>
          <a:ln>
            <a:noFill/>
          </a:ln>
        </p:spPr>
      </p:pic>
      <p:pic>
        <p:nvPicPr>
          <p:cNvPr id="353" name="Google Shape;353;g32888a004af_0_0"/>
          <p:cNvPicPr preferRelativeResize="0"/>
          <p:nvPr/>
        </p:nvPicPr>
        <p:blipFill rotWithShape="1">
          <a:blip r:embed="rId11">
            <a:alphaModFix/>
          </a:blip>
          <a:srcRect b="0" l="0" r="0" t="0"/>
          <a:stretch/>
        </p:blipFill>
        <p:spPr>
          <a:xfrm>
            <a:off x="10462100" y="5330150"/>
            <a:ext cx="1729924" cy="1224455"/>
          </a:xfrm>
          <a:prstGeom prst="rect">
            <a:avLst/>
          </a:prstGeom>
          <a:noFill/>
          <a:ln>
            <a:noFill/>
          </a:ln>
        </p:spPr>
      </p:pic>
      <p:pic>
        <p:nvPicPr>
          <p:cNvPr id="354" name="Google Shape;354;g32888a004af_0_0"/>
          <p:cNvPicPr preferRelativeResize="0"/>
          <p:nvPr/>
        </p:nvPicPr>
        <p:blipFill rotWithShape="1">
          <a:blip r:embed="rId12">
            <a:alphaModFix/>
          </a:blip>
          <a:srcRect b="0" l="0" r="0" t="0"/>
          <a:stretch/>
        </p:blipFill>
        <p:spPr>
          <a:xfrm>
            <a:off x="4582825" y="2258275"/>
            <a:ext cx="2020525" cy="1250313"/>
          </a:xfrm>
          <a:prstGeom prst="rect">
            <a:avLst/>
          </a:prstGeom>
          <a:noFill/>
          <a:ln>
            <a:noFill/>
          </a:ln>
        </p:spPr>
      </p:pic>
      <p:pic>
        <p:nvPicPr>
          <p:cNvPr id="355" name="Google Shape;355;g32888a004af_0_0"/>
          <p:cNvPicPr preferRelativeResize="0"/>
          <p:nvPr/>
        </p:nvPicPr>
        <p:blipFill rotWithShape="1">
          <a:blip r:embed="rId13">
            <a:alphaModFix/>
          </a:blip>
          <a:srcRect b="2051" l="1288" r="2548" t="1618"/>
          <a:stretch/>
        </p:blipFill>
        <p:spPr>
          <a:xfrm>
            <a:off x="6641300" y="2234750"/>
            <a:ext cx="1897449" cy="1221051"/>
          </a:xfrm>
          <a:prstGeom prst="rect">
            <a:avLst/>
          </a:prstGeom>
          <a:noFill/>
          <a:ln>
            <a:noFill/>
          </a:ln>
        </p:spPr>
      </p:pic>
      <p:pic>
        <p:nvPicPr>
          <p:cNvPr id="356" name="Google Shape;356;g32888a004af_0_0"/>
          <p:cNvPicPr preferRelativeResize="0"/>
          <p:nvPr/>
        </p:nvPicPr>
        <p:blipFill rotWithShape="1">
          <a:blip r:embed="rId14">
            <a:alphaModFix/>
          </a:blip>
          <a:srcRect b="0" l="0" r="0" t="0"/>
          <a:stretch/>
        </p:blipFill>
        <p:spPr>
          <a:xfrm>
            <a:off x="2451792" y="3404875"/>
            <a:ext cx="2093082" cy="1247750"/>
          </a:xfrm>
          <a:prstGeom prst="rect">
            <a:avLst/>
          </a:prstGeom>
          <a:noFill/>
          <a:ln>
            <a:noFill/>
          </a:ln>
        </p:spPr>
      </p:pic>
      <p:pic>
        <p:nvPicPr>
          <p:cNvPr id="357" name="Google Shape;357;g32888a004af_0_0"/>
          <p:cNvPicPr preferRelativeResize="0"/>
          <p:nvPr/>
        </p:nvPicPr>
        <p:blipFill rotWithShape="1">
          <a:blip r:embed="rId15">
            <a:alphaModFix/>
          </a:blip>
          <a:srcRect b="0" l="0" r="0" t="0"/>
          <a:stretch/>
        </p:blipFill>
        <p:spPr>
          <a:xfrm>
            <a:off x="111800" y="3432584"/>
            <a:ext cx="2093072" cy="1192326"/>
          </a:xfrm>
          <a:prstGeom prst="rect">
            <a:avLst/>
          </a:prstGeom>
          <a:noFill/>
          <a:ln>
            <a:noFill/>
          </a:ln>
        </p:spPr>
      </p:pic>
      <p:pic>
        <p:nvPicPr>
          <p:cNvPr id="358" name="Google Shape;358;g32888a004af_0_0"/>
          <p:cNvPicPr preferRelativeResize="0"/>
          <p:nvPr/>
        </p:nvPicPr>
        <p:blipFill rotWithShape="1">
          <a:blip r:embed="rId16">
            <a:alphaModFix/>
          </a:blip>
          <a:srcRect b="0" l="0" r="0" t="0"/>
          <a:stretch/>
        </p:blipFill>
        <p:spPr>
          <a:xfrm>
            <a:off x="111800" y="4708800"/>
            <a:ext cx="2141826" cy="1935951"/>
          </a:xfrm>
          <a:prstGeom prst="rect">
            <a:avLst/>
          </a:prstGeom>
          <a:noFill/>
          <a:ln>
            <a:noFill/>
          </a:ln>
        </p:spPr>
      </p:pic>
      <p:pic>
        <p:nvPicPr>
          <p:cNvPr id="359" name="Google Shape;359;g32888a004af_0_0"/>
          <p:cNvPicPr preferRelativeResize="0"/>
          <p:nvPr/>
        </p:nvPicPr>
        <p:blipFill rotWithShape="1">
          <a:blip r:embed="rId17">
            <a:alphaModFix/>
          </a:blip>
          <a:srcRect b="-65430" l="-100000" r="100000" t="65430"/>
          <a:stretch/>
        </p:blipFill>
        <p:spPr>
          <a:xfrm>
            <a:off x="7182805" y="704843"/>
            <a:ext cx="2141818" cy="1164575"/>
          </a:xfrm>
          <a:prstGeom prst="rect">
            <a:avLst/>
          </a:prstGeom>
          <a:noFill/>
          <a:ln>
            <a:noFill/>
          </a:ln>
        </p:spPr>
      </p:pic>
      <p:pic>
        <p:nvPicPr>
          <p:cNvPr id="360" name="Google Shape;360;g32888a004af_0_0"/>
          <p:cNvPicPr preferRelativeResize="0"/>
          <p:nvPr/>
        </p:nvPicPr>
        <p:blipFill rotWithShape="1">
          <a:blip r:embed="rId18">
            <a:alphaModFix/>
          </a:blip>
          <a:srcRect b="0" l="0" r="0" t="0"/>
          <a:stretch/>
        </p:blipFill>
        <p:spPr>
          <a:xfrm>
            <a:off x="6547888" y="5564300"/>
            <a:ext cx="2020526" cy="1151881"/>
          </a:xfrm>
          <a:prstGeom prst="rect">
            <a:avLst/>
          </a:prstGeom>
          <a:noFill/>
          <a:ln>
            <a:noFill/>
          </a:ln>
        </p:spPr>
      </p:pic>
      <p:pic>
        <p:nvPicPr>
          <p:cNvPr id="361" name="Google Shape;361;g32888a004af_0_0"/>
          <p:cNvPicPr preferRelativeResize="0"/>
          <p:nvPr/>
        </p:nvPicPr>
        <p:blipFill rotWithShape="1">
          <a:blip r:embed="rId19">
            <a:alphaModFix/>
          </a:blip>
          <a:srcRect b="0" l="0" r="0" t="0"/>
          <a:stretch/>
        </p:blipFill>
        <p:spPr>
          <a:xfrm>
            <a:off x="6689342" y="3608731"/>
            <a:ext cx="1849409" cy="1100069"/>
          </a:xfrm>
          <a:prstGeom prst="rect">
            <a:avLst/>
          </a:prstGeom>
          <a:noFill/>
          <a:ln>
            <a:noFill/>
          </a:ln>
        </p:spPr>
      </p:pic>
      <p:pic>
        <p:nvPicPr>
          <p:cNvPr id="362" name="Google Shape;362;g32888a004af_0_0"/>
          <p:cNvPicPr preferRelativeResize="0"/>
          <p:nvPr/>
        </p:nvPicPr>
        <p:blipFill rotWithShape="1">
          <a:blip r:embed="rId20">
            <a:alphaModFix/>
          </a:blip>
          <a:srcRect b="0" l="0" r="0" t="0"/>
          <a:stretch/>
        </p:blipFill>
        <p:spPr>
          <a:xfrm>
            <a:off x="4756175" y="3608725"/>
            <a:ext cx="1799910" cy="1100071"/>
          </a:xfrm>
          <a:prstGeom prst="rect">
            <a:avLst/>
          </a:prstGeom>
          <a:noFill/>
          <a:ln>
            <a:noFill/>
          </a:ln>
        </p:spPr>
      </p:pic>
      <p:pic>
        <p:nvPicPr>
          <p:cNvPr id="363" name="Google Shape;363;g32888a004af_0_0"/>
          <p:cNvPicPr preferRelativeResize="0"/>
          <p:nvPr/>
        </p:nvPicPr>
        <p:blipFill rotWithShape="1">
          <a:blip r:embed="rId21">
            <a:alphaModFix/>
          </a:blip>
          <a:srcRect b="0" l="0" r="0" t="0"/>
          <a:stretch/>
        </p:blipFill>
        <p:spPr>
          <a:xfrm>
            <a:off x="4704911" y="4760400"/>
            <a:ext cx="3865313" cy="752300"/>
          </a:xfrm>
          <a:prstGeom prst="rect">
            <a:avLst/>
          </a:prstGeom>
          <a:noFill/>
          <a:ln>
            <a:noFill/>
          </a:ln>
        </p:spPr>
      </p:pic>
      <p:pic>
        <p:nvPicPr>
          <p:cNvPr id="364" name="Google Shape;364;g32888a004af_0_0"/>
          <p:cNvPicPr preferRelativeResize="0"/>
          <p:nvPr/>
        </p:nvPicPr>
        <p:blipFill rotWithShape="1">
          <a:blip r:embed="rId22">
            <a:alphaModFix/>
          </a:blip>
          <a:srcRect b="0" l="0" r="0" t="0"/>
          <a:stretch/>
        </p:blipFill>
        <p:spPr>
          <a:xfrm>
            <a:off x="2812225" y="5921668"/>
            <a:ext cx="1598676" cy="936325"/>
          </a:xfrm>
          <a:prstGeom prst="rect">
            <a:avLst/>
          </a:prstGeom>
          <a:noFill/>
          <a:ln>
            <a:noFill/>
          </a:ln>
        </p:spPr>
      </p:pic>
      <p:pic>
        <p:nvPicPr>
          <p:cNvPr id="365" name="Google Shape;365;g32888a004af_0_0"/>
          <p:cNvPicPr preferRelativeResize="0"/>
          <p:nvPr/>
        </p:nvPicPr>
        <p:blipFill rotWithShape="1">
          <a:blip r:embed="rId23">
            <a:alphaModFix/>
          </a:blip>
          <a:srcRect b="0" l="0" r="0" t="0"/>
          <a:stretch/>
        </p:blipFill>
        <p:spPr>
          <a:xfrm>
            <a:off x="2312332" y="4760391"/>
            <a:ext cx="1111727" cy="752304"/>
          </a:xfrm>
          <a:prstGeom prst="rect">
            <a:avLst/>
          </a:prstGeom>
          <a:noFill/>
          <a:ln>
            <a:noFill/>
          </a:ln>
        </p:spPr>
      </p:pic>
      <p:pic>
        <p:nvPicPr>
          <p:cNvPr id="366" name="Google Shape;366;g32888a004af_0_0"/>
          <p:cNvPicPr preferRelativeResize="0"/>
          <p:nvPr/>
        </p:nvPicPr>
        <p:blipFill rotWithShape="1">
          <a:blip r:embed="rId24">
            <a:alphaModFix/>
          </a:blip>
          <a:srcRect b="0" l="0" r="0" t="0"/>
          <a:stretch/>
        </p:blipFill>
        <p:spPr>
          <a:xfrm>
            <a:off x="3482770" y="4749852"/>
            <a:ext cx="1171442" cy="773381"/>
          </a:xfrm>
          <a:prstGeom prst="rect">
            <a:avLst/>
          </a:prstGeom>
          <a:noFill/>
          <a:ln>
            <a:noFill/>
          </a:ln>
        </p:spPr>
      </p:pic>
      <p:pic>
        <p:nvPicPr>
          <p:cNvPr id="367" name="Google Shape;367;g32888a004af_0_0"/>
          <p:cNvPicPr preferRelativeResize="0"/>
          <p:nvPr/>
        </p:nvPicPr>
        <p:blipFill rotWithShape="1">
          <a:blip r:embed="rId25">
            <a:alphaModFix/>
          </a:blip>
          <a:srcRect b="0" l="0" r="0" t="0"/>
          <a:stretch/>
        </p:blipFill>
        <p:spPr>
          <a:xfrm>
            <a:off x="2296763" y="5533772"/>
            <a:ext cx="1142870" cy="773381"/>
          </a:xfrm>
          <a:prstGeom prst="rect">
            <a:avLst/>
          </a:prstGeom>
          <a:noFill/>
          <a:ln>
            <a:noFill/>
          </a:ln>
        </p:spPr>
      </p:pic>
      <p:pic>
        <p:nvPicPr>
          <p:cNvPr id="368" name="Google Shape;368;g32888a004af_0_0"/>
          <p:cNvPicPr preferRelativeResize="0"/>
          <p:nvPr/>
        </p:nvPicPr>
        <p:blipFill rotWithShape="1">
          <a:blip r:embed="rId26">
            <a:alphaModFix/>
          </a:blip>
          <a:srcRect b="0" l="0" r="0" t="0"/>
          <a:stretch/>
        </p:blipFill>
        <p:spPr>
          <a:xfrm>
            <a:off x="3482770" y="5533772"/>
            <a:ext cx="1171442" cy="792706"/>
          </a:xfrm>
          <a:prstGeom prst="rect">
            <a:avLst/>
          </a:prstGeom>
          <a:noFill/>
          <a:ln>
            <a:noFill/>
          </a:ln>
        </p:spPr>
      </p:pic>
      <p:pic>
        <p:nvPicPr>
          <p:cNvPr id="369" name="Google Shape;369;g32888a004af_0_0"/>
          <p:cNvPicPr preferRelativeResize="0"/>
          <p:nvPr/>
        </p:nvPicPr>
        <p:blipFill rotWithShape="1">
          <a:blip r:embed="rId17">
            <a:alphaModFix/>
          </a:blip>
          <a:srcRect b="0" l="0" r="0" t="0"/>
          <a:stretch/>
        </p:blipFill>
        <p:spPr>
          <a:xfrm>
            <a:off x="4671075" y="5613050"/>
            <a:ext cx="1897449" cy="103170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3921"/>
          </a:schemeClr>
        </a:solidFill>
      </p:bgPr>
    </p:bg>
    <p:spTree>
      <p:nvGrpSpPr>
        <p:cNvPr id="373" name="Shape 373"/>
        <p:cNvGrpSpPr/>
        <p:nvPr/>
      </p:nvGrpSpPr>
      <p:grpSpPr>
        <a:xfrm>
          <a:off x="0" y="0"/>
          <a:ext cx="0" cy="0"/>
          <a:chOff x="0" y="0"/>
          <a:chExt cx="0" cy="0"/>
        </a:xfrm>
      </p:grpSpPr>
      <p:sp>
        <p:nvSpPr>
          <p:cNvPr id="374" name="Google Shape;374;p16"/>
          <p:cNvSpPr txBox="1"/>
          <p:nvPr/>
        </p:nvSpPr>
        <p:spPr>
          <a:xfrm>
            <a:off x="0" y="0"/>
            <a:ext cx="12306300" cy="699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75" name="Google Shape;375;p16"/>
          <p:cNvPicPr preferRelativeResize="0"/>
          <p:nvPr/>
        </p:nvPicPr>
        <p:blipFill rotWithShape="1">
          <a:blip r:embed="rId3">
            <a:alphaModFix amt="15000"/>
          </a:blip>
          <a:srcRect b="-1" l="0" r="0" t="20071"/>
          <a:stretch/>
        </p:blipFill>
        <p:spPr>
          <a:xfrm>
            <a:off x="-381000" y="-214312"/>
            <a:ext cx="12954000" cy="7286625"/>
          </a:xfrm>
          <a:prstGeom prst="rect">
            <a:avLst/>
          </a:prstGeom>
          <a:noFill/>
          <a:ln>
            <a:noFill/>
          </a:ln>
        </p:spPr>
      </p:pic>
      <p:grpSp>
        <p:nvGrpSpPr>
          <p:cNvPr id="376" name="Google Shape;376;p16"/>
          <p:cNvGrpSpPr/>
          <p:nvPr/>
        </p:nvGrpSpPr>
        <p:grpSpPr>
          <a:xfrm>
            <a:off x="5797074" y="6550320"/>
            <a:ext cx="597852" cy="615360"/>
            <a:chOff x="5797074" y="6550320"/>
            <a:chExt cx="597852" cy="615360"/>
          </a:xfrm>
        </p:grpSpPr>
        <p:sp>
          <p:nvSpPr>
            <p:cNvPr id="377" name="Google Shape;377;p16"/>
            <p:cNvSpPr txBox="1"/>
            <p:nvPr/>
          </p:nvSpPr>
          <p:spPr>
            <a:xfrm rot="5400000">
              <a:off x="5788320" y="6559074"/>
              <a:ext cx="615360" cy="597852"/>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 name="Google Shape;378;p16"/>
            <p:cNvSpPr/>
            <p:nvPr/>
          </p:nvSpPr>
          <p:spPr>
            <a:xfrm>
              <a:off x="5988050" y="6647010"/>
              <a:ext cx="215900" cy="11430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79" name="Google Shape;379;p16"/>
          <p:cNvSpPr/>
          <p:nvPr/>
        </p:nvSpPr>
        <p:spPr>
          <a:xfrm>
            <a:off x="3186029" y="1804737"/>
            <a:ext cx="5807242" cy="2707106"/>
          </a:xfrm>
          <a:prstGeom prst="roundRect">
            <a:avLst>
              <a:gd fmla="val 5152" name="adj"/>
            </a:avLst>
          </a:prstGeom>
          <a:noFill/>
          <a:ln cap="sq"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 name="Google Shape;380;p16"/>
          <p:cNvSpPr/>
          <p:nvPr/>
        </p:nvSpPr>
        <p:spPr>
          <a:xfrm>
            <a:off x="5532186" y="1231232"/>
            <a:ext cx="1114928" cy="1114926"/>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1" name="Google Shape;381;p16"/>
          <p:cNvSpPr/>
          <p:nvPr/>
        </p:nvSpPr>
        <p:spPr>
          <a:xfrm>
            <a:off x="5840996" y="1558673"/>
            <a:ext cx="497308" cy="460044"/>
          </a:xfrm>
          <a:custGeom>
            <a:rect b="b" l="l" r="r" t="t"/>
            <a:pathLst>
              <a:path extrusionOk="0" h="720001" w="778320">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2" name="Google Shape;382;p16"/>
          <p:cNvSpPr/>
          <p:nvPr/>
        </p:nvSpPr>
        <p:spPr>
          <a:xfrm>
            <a:off x="372250" y="2405300"/>
            <a:ext cx="11668800" cy="4592400"/>
          </a:xfrm>
          <a:prstGeom prst="roundRect">
            <a:avLst>
              <a:gd fmla="val 5152"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3" name="Google Shape;383;p16"/>
          <p:cNvSpPr/>
          <p:nvPr/>
        </p:nvSpPr>
        <p:spPr>
          <a:xfrm>
            <a:off x="558375" y="2553350"/>
            <a:ext cx="11296500" cy="4304700"/>
          </a:xfrm>
          <a:prstGeom prst="roundRect">
            <a:avLst>
              <a:gd fmla="val 5152" name="adj"/>
            </a:avLst>
          </a:prstGeom>
          <a:solidFill>
            <a:schemeClr val="accent1"/>
          </a:solidFill>
          <a:ln cap="sq"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 name="Google Shape;384;p16"/>
          <p:cNvSpPr txBox="1"/>
          <p:nvPr/>
        </p:nvSpPr>
        <p:spPr>
          <a:xfrm>
            <a:off x="2521954" y="2995864"/>
            <a:ext cx="7135394" cy="173655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5" name="Google Shape;385;p16"/>
          <p:cNvSpPr/>
          <p:nvPr/>
        </p:nvSpPr>
        <p:spPr>
          <a:xfrm>
            <a:off x="264152" y="277385"/>
            <a:ext cx="360000" cy="285696"/>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 name="Google Shape;386;p16"/>
          <p:cNvSpPr txBox="1"/>
          <p:nvPr/>
        </p:nvSpPr>
        <p:spPr>
          <a:xfrm>
            <a:off x="780300" y="664157"/>
            <a:ext cx="10745700" cy="82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i="0" lang="en-US" sz="3600" u="none" cap="none" strike="noStrike">
                <a:solidFill>
                  <a:schemeClr val="accent1"/>
                </a:solidFill>
                <a:latin typeface="Catamaran"/>
                <a:ea typeface="Catamaran"/>
                <a:cs typeface="Catamaran"/>
                <a:sym typeface="Catamaran"/>
              </a:rPr>
              <a:t>Data Transformation</a:t>
            </a:r>
            <a:endParaRPr b="1" i="0" sz="3600" u="none" cap="none" strike="noStrike">
              <a:solidFill>
                <a:schemeClr val="accent1"/>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accent1"/>
              </a:solidFill>
              <a:latin typeface="Catamaran"/>
              <a:ea typeface="Catamaran"/>
              <a:cs typeface="Catamaran"/>
              <a:sym typeface="Catamaran"/>
            </a:endParaRPr>
          </a:p>
        </p:txBody>
      </p:sp>
      <p:sp>
        <p:nvSpPr>
          <p:cNvPr id="387" name="Google Shape;387;p16"/>
          <p:cNvSpPr txBox="1"/>
          <p:nvPr/>
        </p:nvSpPr>
        <p:spPr>
          <a:xfrm>
            <a:off x="973575" y="2734600"/>
            <a:ext cx="9821700" cy="3867300"/>
          </a:xfrm>
          <a:prstGeom prst="rect">
            <a:avLst/>
          </a:prstGeom>
          <a:noFill/>
          <a:ln>
            <a:noFill/>
          </a:ln>
        </p:spPr>
        <p:txBody>
          <a:bodyPr anchorCtr="0" anchor="t" bIns="91425" lIns="91425" spcFirstLastPara="1" rIns="91425" wrap="square" tIns="91425">
            <a:spAutoFit/>
          </a:bodyPr>
          <a:lstStyle/>
          <a:p>
            <a:pPr indent="-323850" lvl="1" marL="914400" marR="0" rtl="0" algn="l">
              <a:lnSpc>
                <a:spcPct val="115000"/>
              </a:lnSpc>
              <a:spcBef>
                <a:spcPts val="1200"/>
              </a:spcBef>
              <a:spcAft>
                <a:spcPts val="0"/>
              </a:spcAft>
              <a:buClr>
                <a:schemeClr val="lt1"/>
              </a:buClr>
              <a:buSzPts val="1500"/>
              <a:buFont typeface="Arial"/>
              <a:buChar char="●"/>
            </a:pPr>
            <a:r>
              <a:rPr b="1" i="0" lang="en-US" sz="1500" u="sng" cap="none" strike="noStrike">
                <a:solidFill>
                  <a:schemeClr val="lt1"/>
                </a:solidFill>
                <a:latin typeface="Arial"/>
                <a:ea typeface="Arial"/>
                <a:cs typeface="Arial"/>
                <a:sym typeface="Arial"/>
              </a:rPr>
              <a:t>Data Transformation</a:t>
            </a:r>
            <a:r>
              <a:rPr b="0" i="0" lang="en-US" sz="1500" u="sng" cap="none" strike="noStrike">
                <a:solidFill>
                  <a:schemeClr val="lt1"/>
                </a:solidFill>
                <a:latin typeface="Arial"/>
                <a:ea typeface="Arial"/>
                <a:cs typeface="Arial"/>
                <a:sym typeface="Arial"/>
              </a:rPr>
              <a:t>:</a:t>
            </a:r>
            <a:endParaRPr b="0" i="0" sz="1500" u="sng" cap="none" strike="noStrike">
              <a:solidFill>
                <a:schemeClr val="lt1"/>
              </a:solidFill>
              <a:latin typeface="Arial"/>
              <a:ea typeface="Arial"/>
              <a:cs typeface="Arial"/>
              <a:sym typeface="Arial"/>
            </a:endParaRPr>
          </a:p>
          <a:p>
            <a:pPr indent="-323850" lvl="2" marL="1371600" marR="0" rtl="0" algn="l">
              <a:lnSpc>
                <a:spcPct val="115000"/>
              </a:lnSpc>
              <a:spcBef>
                <a:spcPts val="0"/>
              </a:spcBef>
              <a:spcAft>
                <a:spcPts val="0"/>
              </a:spcAft>
              <a:buClr>
                <a:schemeClr val="lt1"/>
              </a:buClr>
              <a:buSzPts val="1500"/>
              <a:buFont typeface="Arial"/>
              <a:buAutoNum type="romanLcPeriod"/>
            </a:pPr>
            <a:r>
              <a:rPr b="0" i="0" lang="en-US" sz="1500" u="none" cap="none" strike="noStrike">
                <a:solidFill>
                  <a:schemeClr val="lt1"/>
                </a:solidFill>
                <a:latin typeface="Arial"/>
                <a:ea typeface="Arial"/>
                <a:cs typeface="Arial"/>
                <a:sym typeface="Arial"/>
              </a:rPr>
              <a:t>Created the list named room_type containing the possible values for the 'room_type' column: </a:t>
            </a:r>
            <a:r>
              <a:rPr b="1" i="0" lang="en-US" sz="1500" u="none" cap="none" strike="noStrike">
                <a:solidFill>
                  <a:schemeClr val="lt1"/>
                </a:solidFill>
                <a:latin typeface="Arial"/>
                <a:ea typeface="Arial"/>
                <a:cs typeface="Arial"/>
                <a:sym typeface="Arial"/>
              </a:rPr>
              <a:t>'Entire home/apt', 'Private room', and 'Shared room</a:t>
            </a:r>
            <a:r>
              <a:rPr b="0" i="0" lang="en-US" sz="1500" u="none" cap="none" strike="noStrike">
                <a:solidFill>
                  <a:schemeClr val="lt1"/>
                </a:solidFill>
                <a:latin typeface="Arial"/>
                <a:ea typeface="Arial"/>
                <a:cs typeface="Arial"/>
                <a:sym typeface="Arial"/>
              </a:rPr>
              <a:t>'.</a:t>
            </a:r>
            <a:endParaRPr b="0" i="0" sz="1500" u="none" cap="none" strike="noStrike">
              <a:solidFill>
                <a:schemeClr val="lt1"/>
              </a:solidFill>
              <a:latin typeface="Arial"/>
              <a:ea typeface="Arial"/>
              <a:cs typeface="Arial"/>
              <a:sym typeface="Arial"/>
            </a:endParaRPr>
          </a:p>
          <a:p>
            <a:pPr indent="-323850" lvl="1" marL="914400" marR="0" rtl="0" algn="l">
              <a:lnSpc>
                <a:spcPct val="115000"/>
              </a:lnSpc>
              <a:spcBef>
                <a:spcPts val="0"/>
              </a:spcBef>
              <a:spcAft>
                <a:spcPts val="0"/>
              </a:spcAft>
              <a:buClr>
                <a:schemeClr val="lt1"/>
              </a:buClr>
              <a:buSzPts val="1500"/>
              <a:buFont typeface="Arial"/>
              <a:buChar char="●"/>
            </a:pPr>
            <a:r>
              <a:rPr b="1" i="0" lang="en-US" sz="1500" u="sng" cap="none" strike="noStrike">
                <a:solidFill>
                  <a:schemeClr val="lt1"/>
                </a:solidFill>
                <a:latin typeface="Arial"/>
                <a:ea typeface="Arial"/>
                <a:cs typeface="Arial"/>
                <a:sym typeface="Arial"/>
              </a:rPr>
              <a:t>Encoding to Dummy Variables</a:t>
            </a:r>
            <a:r>
              <a:rPr b="0" i="0" lang="en-US" sz="1500" u="sng" cap="none" strike="noStrike">
                <a:solidFill>
                  <a:schemeClr val="lt1"/>
                </a:solidFill>
                <a:latin typeface="Arial"/>
                <a:ea typeface="Arial"/>
                <a:cs typeface="Arial"/>
                <a:sym typeface="Arial"/>
              </a:rPr>
              <a:t>:</a:t>
            </a:r>
            <a:endParaRPr b="0" i="0" sz="1500" u="sng" cap="none" strike="noStrike">
              <a:solidFill>
                <a:schemeClr val="lt1"/>
              </a:solidFill>
              <a:latin typeface="Arial"/>
              <a:ea typeface="Arial"/>
              <a:cs typeface="Arial"/>
              <a:sym typeface="Arial"/>
            </a:endParaRPr>
          </a:p>
          <a:p>
            <a:pPr indent="-323850" lvl="2" marL="1371600" marR="0" rtl="0" algn="l">
              <a:lnSpc>
                <a:spcPct val="115000"/>
              </a:lnSpc>
              <a:spcBef>
                <a:spcPts val="0"/>
              </a:spcBef>
              <a:spcAft>
                <a:spcPts val="0"/>
              </a:spcAft>
              <a:buClr>
                <a:schemeClr val="lt1"/>
              </a:buClr>
              <a:buSzPts val="1500"/>
              <a:buFont typeface="Arial"/>
              <a:buAutoNum type="romanLcPeriod"/>
            </a:pPr>
            <a:r>
              <a:rPr b="0" i="0" lang="en-US" sz="1500" u="none" cap="none" strike="noStrike">
                <a:solidFill>
                  <a:schemeClr val="lt1"/>
                </a:solidFill>
                <a:latin typeface="Arial"/>
                <a:ea typeface="Arial"/>
                <a:cs typeface="Arial"/>
                <a:sym typeface="Arial"/>
              </a:rPr>
              <a:t>Room type and neighborhood group are both strings, and they both have to be dummy variables before you can see how they relate to price.</a:t>
            </a:r>
            <a:endParaRPr b="0" i="0" sz="1500" u="none" cap="none" strike="noStrike">
              <a:solidFill>
                <a:schemeClr val="lt1"/>
              </a:solidFill>
              <a:latin typeface="Arial"/>
              <a:ea typeface="Arial"/>
              <a:cs typeface="Arial"/>
              <a:sym typeface="Arial"/>
            </a:endParaRPr>
          </a:p>
          <a:p>
            <a:pPr indent="-323850" lvl="2" marL="1371600" marR="0" rtl="0" algn="l">
              <a:lnSpc>
                <a:spcPct val="115000"/>
              </a:lnSpc>
              <a:spcBef>
                <a:spcPts val="0"/>
              </a:spcBef>
              <a:spcAft>
                <a:spcPts val="0"/>
              </a:spcAft>
              <a:buClr>
                <a:schemeClr val="lt1"/>
              </a:buClr>
              <a:buSzPts val="1500"/>
              <a:buFont typeface="Arial"/>
              <a:buAutoNum type="romanLcPeriod"/>
            </a:pPr>
            <a:r>
              <a:rPr b="0" i="0" lang="en-US" sz="1500" u="none" cap="none" strike="noStrike">
                <a:solidFill>
                  <a:schemeClr val="lt1"/>
                </a:solidFill>
                <a:latin typeface="Arial"/>
                <a:ea typeface="Arial"/>
                <a:cs typeface="Arial"/>
                <a:sym typeface="Arial"/>
              </a:rPr>
              <a:t>Used pd.get_dummies() function to encode the 'room_type' column into dummy variables.</a:t>
            </a:r>
            <a:endParaRPr b="0" i="0" sz="1500" u="none" cap="none" strike="noStrike">
              <a:solidFill>
                <a:schemeClr val="lt1"/>
              </a:solidFill>
              <a:latin typeface="Arial"/>
              <a:ea typeface="Arial"/>
              <a:cs typeface="Arial"/>
              <a:sym typeface="Arial"/>
            </a:endParaRPr>
          </a:p>
          <a:p>
            <a:pPr indent="-323850" lvl="2" marL="1371600" marR="0" rtl="0" algn="l">
              <a:lnSpc>
                <a:spcPct val="115000"/>
              </a:lnSpc>
              <a:spcBef>
                <a:spcPts val="0"/>
              </a:spcBef>
              <a:spcAft>
                <a:spcPts val="0"/>
              </a:spcAft>
              <a:buClr>
                <a:schemeClr val="lt1"/>
              </a:buClr>
              <a:buSzPts val="1500"/>
              <a:buFont typeface="Arial"/>
              <a:buAutoNum type="romanLcPeriod"/>
            </a:pPr>
            <a:r>
              <a:rPr b="0" i="0" lang="en-US" sz="1500" u="none" cap="none" strike="noStrike">
                <a:solidFill>
                  <a:schemeClr val="lt1"/>
                </a:solidFill>
                <a:latin typeface="Arial"/>
                <a:ea typeface="Arial"/>
                <a:cs typeface="Arial"/>
                <a:sym typeface="Arial"/>
              </a:rPr>
              <a:t>Specified the columns parameter as ['room_type'] to indicate the column to be encoded.</a:t>
            </a:r>
            <a:endParaRPr b="0" i="0" sz="1500" u="none" cap="none" strike="noStrike">
              <a:solidFill>
                <a:schemeClr val="lt1"/>
              </a:solidFill>
              <a:latin typeface="Arial"/>
              <a:ea typeface="Arial"/>
              <a:cs typeface="Arial"/>
              <a:sym typeface="Arial"/>
            </a:endParaRPr>
          </a:p>
          <a:p>
            <a:pPr indent="-323850" lvl="2" marL="1371600" marR="0" rtl="0" algn="l">
              <a:lnSpc>
                <a:spcPct val="115000"/>
              </a:lnSpc>
              <a:spcBef>
                <a:spcPts val="0"/>
              </a:spcBef>
              <a:spcAft>
                <a:spcPts val="0"/>
              </a:spcAft>
              <a:buClr>
                <a:schemeClr val="lt1"/>
              </a:buClr>
              <a:buSzPts val="1500"/>
              <a:buFont typeface="Arial"/>
              <a:buAutoNum type="romanLcPeriod"/>
            </a:pPr>
            <a:r>
              <a:rPr b="0" i="0" lang="en-US" sz="1500" u="none" cap="none" strike="noStrike">
                <a:solidFill>
                  <a:schemeClr val="lt1"/>
                </a:solidFill>
                <a:latin typeface="Arial"/>
                <a:ea typeface="Arial"/>
                <a:cs typeface="Arial"/>
                <a:sym typeface="Arial"/>
              </a:rPr>
              <a:t>Set the dummy_na parameter to False to avoid creating dummy variables for any potential missing values.</a:t>
            </a:r>
            <a:endParaRPr b="0" i="0" sz="1500" u="none" cap="none" strike="noStrike">
              <a:solidFill>
                <a:schemeClr val="lt1"/>
              </a:solidFill>
              <a:latin typeface="Arial"/>
              <a:ea typeface="Arial"/>
              <a:cs typeface="Arial"/>
              <a:sym typeface="Arial"/>
            </a:endParaRPr>
          </a:p>
          <a:p>
            <a:pPr indent="-323850" lvl="2" marL="1371600" marR="0" rtl="0" algn="l">
              <a:lnSpc>
                <a:spcPct val="115000"/>
              </a:lnSpc>
              <a:spcBef>
                <a:spcPts val="0"/>
              </a:spcBef>
              <a:spcAft>
                <a:spcPts val="0"/>
              </a:spcAft>
              <a:buClr>
                <a:schemeClr val="lt1"/>
              </a:buClr>
              <a:buSzPts val="1500"/>
              <a:buFont typeface="Arial"/>
              <a:buAutoNum type="romanLcPeriod"/>
            </a:pPr>
            <a:r>
              <a:rPr b="0" i="0" lang="en-US" sz="1500" u="none" cap="none" strike="noStrike">
                <a:solidFill>
                  <a:schemeClr val="lt1"/>
                </a:solidFill>
                <a:latin typeface="Arial"/>
                <a:ea typeface="Arial"/>
                <a:cs typeface="Arial"/>
                <a:sym typeface="Arial"/>
              </a:rPr>
              <a:t>Assigned the resulting DataFrame to df_encoded.</a:t>
            </a:r>
            <a:endParaRPr b="0" i="0" sz="1500" u="none" cap="none" strike="noStrike">
              <a:solidFill>
                <a:schemeClr val="lt1"/>
              </a:solidFill>
              <a:latin typeface="Arial"/>
              <a:ea typeface="Arial"/>
              <a:cs typeface="Arial"/>
              <a:sym typeface="Arial"/>
            </a:endParaRPr>
          </a:p>
          <a:p>
            <a:pPr indent="-323850" lvl="1" marL="914400" marR="0" rtl="0" algn="l">
              <a:lnSpc>
                <a:spcPct val="115000"/>
              </a:lnSpc>
              <a:spcBef>
                <a:spcPts val="0"/>
              </a:spcBef>
              <a:spcAft>
                <a:spcPts val="0"/>
              </a:spcAft>
              <a:buClr>
                <a:schemeClr val="lt1"/>
              </a:buClr>
              <a:buSzPts val="1500"/>
              <a:buFont typeface="Arial"/>
              <a:buChar char="●"/>
            </a:pPr>
            <a:r>
              <a:rPr b="1" i="0" lang="en-US" sz="1500" u="sng" cap="none" strike="noStrike">
                <a:solidFill>
                  <a:schemeClr val="lt1"/>
                </a:solidFill>
                <a:latin typeface="Arial"/>
                <a:ea typeface="Arial"/>
                <a:cs typeface="Arial"/>
                <a:sym typeface="Arial"/>
              </a:rPr>
              <a:t>Output Display</a:t>
            </a:r>
            <a:r>
              <a:rPr b="0" i="0" lang="en-US" sz="1500" u="sng" cap="none" strike="noStrike">
                <a:solidFill>
                  <a:schemeClr val="lt1"/>
                </a:solidFill>
                <a:latin typeface="Arial"/>
                <a:ea typeface="Arial"/>
                <a:cs typeface="Arial"/>
                <a:sym typeface="Arial"/>
              </a:rPr>
              <a:t>:</a:t>
            </a:r>
            <a:endParaRPr b="0" i="0" sz="1500" u="sng" cap="none" strike="noStrike">
              <a:solidFill>
                <a:schemeClr val="lt1"/>
              </a:solidFill>
              <a:latin typeface="Arial"/>
              <a:ea typeface="Arial"/>
              <a:cs typeface="Arial"/>
              <a:sym typeface="Arial"/>
            </a:endParaRPr>
          </a:p>
          <a:p>
            <a:pPr indent="-323850" lvl="2" marL="1371600" marR="0" rtl="0" algn="l">
              <a:lnSpc>
                <a:spcPct val="115000"/>
              </a:lnSpc>
              <a:spcBef>
                <a:spcPts val="0"/>
              </a:spcBef>
              <a:spcAft>
                <a:spcPts val="0"/>
              </a:spcAft>
              <a:buClr>
                <a:schemeClr val="lt1"/>
              </a:buClr>
              <a:buSzPts val="1500"/>
              <a:buFont typeface="Arial"/>
              <a:buAutoNum type="romanLcPeriod"/>
            </a:pPr>
            <a:r>
              <a:rPr b="0" i="0" lang="en-US" sz="1500" u="none" cap="none" strike="noStrike">
                <a:solidFill>
                  <a:schemeClr val="lt1"/>
                </a:solidFill>
                <a:latin typeface="Arial"/>
                <a:ea typeface="Arial"/>
                <a:cs typeface="Arial"/>
                <a:sym typeface="Arial"/>
              </a:rPr>
              <a:t>Printed the DataFrame df_encoded to show the encoded representation of the 'room_type' column using dummy variables.</a:t>
            </a:r>
            <a:endParaRPr b="0" i="0" sz="1500" u="none" cap="none" strike="noStrike">
              <a:solidFill>
                <a:schemeClr val="lt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id="392" name="Google Shape;392;g2c86ab906a8_0_0"/>
          <p:cNvPicPr preferRelativeResize="0"/>
          <p:nvPr/>
        </p:nvPicPr>
        <p:blipFill rotWithShape="1">
          <a:blip r:embed="rId3">
            <a:alphaModFix/>
          </a:blip>
          <a:srcRect b="0" l="0" r="0" t="0"/>
          <a:stretch/>
        </p:blipFill>
        <p:spPr>
          <a:xfrm>
            <a:off x="2107854" y="-2"/>
            <a:ext cx="7803214" cy="68579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id="397" name="Google Shape;397;g2c86ab906a8_7_1"/>
          <p:cNvPicPr preferRelativeResize="0"/>
          <p:nvPr/>
        </p:nvPicPr>
        <p:blipFill rotWithShape="1">
          <a:blip r:embed="rId3">
            <a:alphaModFix/>
          </a:blip>
          <a:srcRect b="0" l="0" r="0" t="0"/>
          <a:stretch/>
        </p:blipFill>
        <p:spPr>
          <a:xfrm>
            <a:off x="5803700" y="815938"/>
            <a:ext cx="6100575" cy="5226119"/>
          </a:xfrm>
          <a:prstGeom prst="rect">
            <a:avLst/>
          </a:prstGeom>
          <a:noFill/>
          <a:ln>
            <a:noFill/>
          </a:ln>
        </p:spPr>
      </p:pic>
      <p:pic>
        <p:nvPicPr>
          <p:cNvPr id="398" name="Google Shape;398;g2c86ab906a8_7_1"/>
          <p:cNvPicPr preferRelativeResize="0"/>
          <p:nvPr/>
        </p:nvPicPr>
        <p:blipFill rotWithShape="1">
          <a:blip r:embed="rId4">
            <a:alphaModFix/>
          </a:blip>
          <a:srcRect b="0" l="0" r="0" t="0"/>
          <a:stretch/>
        </p:blipFill>
        <p:spPr>
          <a:xfrm>
            <a:off x="278225" y="1101200"/>
            <a:ext cx="5416450" cy="4433950"/>
          </a:xfrm>
          <a:prstGeom prst="rect">
            <a:avLst/>
          </a:prstGeom>
          <a:noFill/>
          <a:ln>
            <a:noFill/>
          </a:ln>
        </p:spPr>
      </p:pic>
      <p:sp>
        <p:nvSpPr>
          <p:cNvPr id="399" name="Google Shape;399;g2c86ab906a8_7_1"/>
          <p:cNvSpPr txBox="1"/>
          <p:nvPr/>
        </p:nvSpPr>
        <p:spPr>
          <a:xfrm>
            <a:off x="475450" y="259325"/>
            <a:ext cx="5863800" cy="59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00000"/>
                </a:solidFill>
                <a:latin typeface="Arial"/>
                <a:ea typeface="Arial"/>
                <a:cs typeface="Arial"/>
                <a:sym typeface="Arial"/>
              </a:rPr>
              <a:t>Correlations</a:t>
            </a:r>
            <a:endParaRPr b="1" i="0" sz="27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pic>
        <p:nvPicPr>
          <p:cNvPr id="404" name="Google Shape;404;g2d0c9c23082_2_57"/>
          <p:cNvPicPr preferRelativeResize="0"/>
          <p:nvPr/>
        </p:nvPicPr>
        <p:blipFill rotWithShape="1">
          <a:blip r:embed="rId3">
            <a:alphaModFix/>
          </a:blip>
          <a:srcRect b="0" l="0" r="0" t="0"/>
          <a:stretch/>
        </p:blipFill>
        <p:spPr>
          <a:xfrm>
            <a:off x="1883050" y="436575"/>
            <a:ext cx="7532174" cy="59848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4313"/>
          </a:schemeClr>
        </a:solidFill>
      </p:bgPr>
    </p:bg>
    <p:spTree>
      <p:nvGrpSpPr>
        <p:cNvPr id="408" name="Shape 408"/>
        <p:cNvGrpSpPr/>
        <p:nvPr/>
      </p:nvGrpSpPr>
      <p:grpSpPr>
        <a:xfrm>
          <a:off x="0" y="0"/>
          <a:ext cx="0" cy="0"/>
          <a:chOff x="0" y="0"/>
          <a:chExt cx="0" cy="0"/>
        </a:xfrm>
      </p:grpSpPr>
      <p:sp>
        <p:nvSpPr>
          <p:cNvPr id="409" name="Google Shape;409;g2d0c9c23082_4_0"/>
          <p:cNvSpPr txBox="1"/>
          <p:nvPr/>
        </p:nvSpPr>
        <p:spPr>
          <a:xfrm>
            <a:off x="0" y="0"/>
            <a:ext cx="12306300" cy="6997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10" name="Google Shape;410;g2d0c9c23082_4_0"/>
          <p:cNvPicPr preferRelativeResize="0"/>
          <p:nvPr/>
        </p:nvPicPr>
        <p:blipFill rotWithShape="1">
          <a:blip r:embed="rId3">
            <a:alphaModFix amt="15000"/>
          </a:blip>
          <a:srcRect b="0" l="0" r="0" t="20070"/>
          <a:stretch/>
        </p:blipFill>
        <p:spPr>
          <a:xfrm>
            <a:off x="-381000" y="-214312"/>
            <a:ext cx="12954000" cy="7286625"/>
          </a:xfrm>
          <a:prstGeom prst="rect">
            <a:avLst/>
          </a:prstGeom>
          <a:noFill/>
          <a:ln>
            <a:noFill/>
          </a:ln>
        </p:spPr>
      </p:pic>
      <p:grpSp>
        <p:nvGrpSpPr>
          <p:cNvPr id="411" name="Google Shape;411;g2d0c9c23082_4_0"/>
          <p:cNvGrpSpPr/>
          <p:nvPr/>
        </p:nvGrpSpPr>
        <p:grpSpPr>
          <a:xfrm>
            <a:off x="7235" y="17099"/>
            <a:ext cx="12192000" cy="6840901"/>
            <a:chOff x="7235" y="17099"/>
            <a:chExt cx="12192000" cy="6840901"/>
          </a:xfrm>
        </p:grpSpPr>
        <p:cxnSp>
          <p:nvCxnSpPr>
            <p:cNvPr id="412" name="Google Shape;412;g2d0c9c23082_4_0"/>
            <p:cNvCxnSpPr/>
            <p:nvPr/>
          </p:nvCxnSpPr>
          <p:spPr>
            <a:xfrm>
              <a:off x="7235" y="415284"/>
              <a:ext cx="12192000" cy="0"/>
            </a:xfrm>
            <a:prstGeom prst="straightConnector1">
              <a:avLst/>
            </a:prstGeom>
            <a:noFill/>
            <a:ln cap="flat" cmpd="sng" w="12700">
              <a:solidFill>
                <a:srgbClr val="7F7F7F">
                  <a:alpha val="24313"/>
                </a:srgbClr>
              </a:solidFill>
              <a:prstDash val="solid"/>
              <a:miter lim="8000"/>
              <a:headEnd len="sm" w="sm" type="none"/>
              <a:tailEnd len="sm" w="sm" type="none"/>
            </a:ln>
          </p:spPr>
        </p:cxnSp>
        <p:cxnSp>
          <p:nvCxnSpPr>
            <p:cNvPr id="413" name="Google Shape;413;g2d0c9c23082_4_0"/>
            <p:cNvCxnSpPr/>
            <p:nvPr/>
          </p:nvCxnSpPr>
          <p:spPr>
            <a:xfrm flipH="1" rot="10800000">
              <a:off x="11903226" y="17100"/>
              <a:ext cx="2700" cy="6840900"/>
            </a:xfrm>
            <a:prstGeom prst="straightConnector1">
              <a:avLst/>
            </a:prstGeom>
            <a:noFill/>
            <a:ln cap="flat" cmpd="sng" w="12700">
              <a:solidFill>
                <a:srgbClr val="7F7F7F">
                  <a:alpha val="24313"/>
                </a:srgbClr>
              </a:solidFill>
              <a:prstDash val="solid"/>
              <a:miter lim="8000"/>
              <a:headEnd len="sm" w="sm" type="none"/>
              <a:tailEnd len="sm" w="sm" type="none"/>
            </a:ln>
          </p:spPr>
        </p:cxnSp>
        <p:cxnSp>
          <p:nvCxnSpPr>
            <p:cNvPr id="414" name="Google Shape;414;g2d0c9c23082_4_0"/>
            <p:cNvCxnSpPr/>
            <p:nvPr/>
          </p:nvCxnSpPr>
          <p:spPr>
            <a:xfrm>
              <a:off x="7235" y="6481744"/>
              <a:ext cx="12192000" cy="0"/>
            </a:xfrm>
            <a:prstGeom prst="straightConnector1">
              <a:avLst/>
            </a:prstGeom>
            <a:noFill/>
            <a:ln cap="flat" cmpd="sng" w="12700">
              <a:solidFill>
                <a:srgbClr val="7F7F7F">
                  <a:alpha val="24313"/>
                </a:srgbClr>
              </a:solidFill>
              <a:prstDash val="solid"/>
              <a:miter lim="8000"/>
              <a:headEnd len="sm" w="sm" type="none"/>
              <a:tailEnd len="sm" w="sm" type="none"/>
            </a:ln>
          </p:spPr>
        </p:cxnSp>
        <p:cxnSp>
          <p:nvCxnSpPr>
            <p:cNvPr id="415" name="Google Shape;415;g2d0c9c23082_4_0"/>
            <p:cNvCxnSpPr/>
            <p:nvPr/>
          </p:nvCxnSpPr>
          <p:spPr>
            <a:xfrm flipH="1" rot="10800000">
              <a:off x="582979" y="17099"/>
              <a:ext cx="2700" cy="6840900"/>
            </a:xfrm>
            <a:prstGeom prst="straightConnector1">
              <a:avLst/>
            </a:prstGeom>
            <a:noFill/>
            <a:ln cap="flat" cmpd="sng" w="12700">
              <a:solidFill>
                <a:srgbClr val="7F7F7F">
                  <a:alpha val="24313"/>
                </a:srgbClr>
              </a:solidFill>
              <a:prstDash val="solid"/>
              <a:miter lim="8000"/>
              <a:headEnd len="sm" w="sm" type="none"/>
              <a:tailEnd len="sm" w="sm" type="none"/>
            </a:ln>
          </p:spPr>
        </p:cxnSp>
      </p:grpSp>
      <p:sp>
        <p:nvSpPr>
          <p:cNvPr id="416" name="Google Shape;416;g2d0c9c23082_4_0"/>
          <p:cNvSpPr/>
          <p:nvPr/>
        </p:nvSpPr>
        <p:spPr>
          <a:xfrm>
            <a:off x="542793" y="420489"/>
            <a:ext cx="608766" cy="608582"/>
          </a:xfrm>
          <a:custGeom>
            <a:rect b="b" l="l" r="r" t="t"/>
            <a:pathLst>
              <a:path extrusionOk="0" h="20595" w="20596">
                <a:moveTo>
                  <a:pt x="0" y="0"/>
                </a:moveTo>
                <a:lnTo>
                  <a:pt x="0" y="11107"/>
                </a:lnTo>
                <a:lnTo>
                  <a:pt x="94" y="11107"/>
                </a:lnTo>
                <a:cubicBezTo>
                  <a:pt x="279" y="13466"/>
                  <a:pt x="1231" y="15777"/>
                  <a:pt x="3034" y="17581"/>
                </a:cubicBezTo>
                <a:cubicBezTo>
                  <a:pt x="7052" y="21600"/>
                  <a:pt x="13565" y="21600"/>
                  <a:pt x="17582" y="17581"/>
                </a:cubicBezTo>
                <a:cubicBezTo>
                  <a:pt x="21600" y="13562"/>
                  <a:pt x="21600" y="7041"/>
                  <a:pt x="17582" y="3022"/>
                </a:cubicBezTo>
                <a:cubicBezTo>
                  <a:pt x="15747" y="1186"/>
                  <a:pt x="13391" y="239"/>
                  <a:pt x="10990" y="81"/>
                </a:cubicBezTo>
                <a:lnTo>
                  <a:pt x="10990" y="0"/>
                </a:lnTo>
                <a:lnTo>
                  <a:pt x="0" y="0"/>
                </a:lnTo>
                <a:close/>
                <a:moveTo>
                  <a:pt x="4404" y="10496"/>
                </a:moveTo>
                <a:lnTo>
                  <a:pt x="16213" y="10496"/>
                </a:lnTo>
                <a:cubicBezTo>
                  <a:pt x="16214" y="12009"/>
                  <a:pt x="15634" y="13519"/>
                  <a:pt x="14481" y="14673"/>
                </a:cubicBezTo>
                <a:cubicBezTo>
                  <a:pt x="12176" y="16979"/>
                  <a:pt x="8441" y="16979"/>
                  <a:pt x="6136" y="14673"/>
                </a:cubicBezTo>
                <a:cubicBezTo>
                  <a:pt x="4982" y="13519"/>
                  <a:pt x="4403" y="12009"/>
                  <a:pt x="4404" y="10496"/>
                </a:cubicBezTo>
                <a:close/>
              </a:path>
            </a:pathLst>
          </a:cu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7" name="Google Shape;417;g2d0c9c23082_4_0"/>
          <p:cNvSpPr txBox="1"/>
          <p:nvPr/>
        </p:nvSpPr>
        <p:spPr>
          <a:xfrm>
            <a:off x="5406224" y="2345284"/>
            <a:ext cx="5784900" cy="203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accent1"/>
                </a:solidFill>
                <a:latin typeface="Catamaran"/>
                <a:ea typeface="Catamaran"/>
                <a:cs typeface="Catamaran"/>
                <a:sym typeface="Catamaran"/>
              </a:rPr>
              <a:t>Model Selection</a:t>
            </a:r>
            <a:endParaRPr b="1" i="0" sz="1800" u="none" cap="none" strike="noStrike">
              <a:solidFill>
                <a:srgbClr val="000000"/>
              </a:solidFill>
              <a:latin typeface="Catamaran"/>
              <a:ea typeface="Catamaran"/>
              <a:cs typeface="Catamaran"/>
              <a:sym typeface="Catamaran"/>
            </a:endParaRPr>
          </a:p>
        </p:txBody>
      </p:sp>
      <p:sp>
        <p:nvSpPr>
          <p:cNvPr id="418" name="Google Shape;418;g2d0c9c23082_4_0"/>
          <p:cNvSpPr txBox="1"/>
          <p:nvPr/>
        </p:nvSpPr>
        <p:spPr>
          <a:xfrm rot="-5400000">
            <a:off x="-16798" y="2755991"/>
            <a:ext cx="1185300" cy="1151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9" name="Google Shape;419;g2d0c9c23082_4_0"/>
          <p:cNvSpPr txBox="1"/>
          <p:nvPr/>
        </p:nvSpPr>
        <p:spPr>
          <a:xfrm>
            <a:off x="2030388" y="1919063"/>
            <a:ext cx="2825700" cy="2825700"/>
          </a:xfrm>
          <a:prstGeom prst="rect">
            <a:avLst/>
          </a:prstGeom>
          <a:solidFill>
            <a:schemeClr val="accent1"/>
          </a:solidFill>
          <a:ln>
            <a:noFill/>
          </a:ln>
        </p:spPr>
        <p:txBody>
          <a:bodyPr anchorCtr="0" anchor="ctr" bIns="108000" lIns="108000" spcFirstLastPara="1" rIns="108000" wrap="square" tIns="108000">
            <a:noAutofit/>
          </a:bodyPr>
          <a:lstStyle/>
          <a:p>
            <a:pPr indent="0" lvl="0" marL="0" marR="0" rtl="0" algn="ctr">
              <a:lnSpc>
                <a:spcPct val="100000"/>
              </a:lnSpc>
              <a:spcBef>
                <a:spcPts val="0"/>
              </a:spcBef>
              <a:spcAft>
                <a:spcPts val="0"/>
              </a:spcAft>
              <a:buClr>
                <a:srgbClr val="000000"/>
              </a:buClr>
              <a:buSzPts val="7658"/>
              <a:buFont typeface="Arial"/>
              <a:buNone/>
            </a:pPr>
            <a:r>
              <a:rPr b="1" i="0" lang="en-US" sz="7658" u="none" cap="none" strike="noStrike">
                <a:solidFill>
                  <a:srgbClr val="FFFFFF"/>
                </a:solidFill>
                <a:latin typeface="Catamaran"/>
                <a:ea typeface="Catamaran"/>
                <a:cs typeface="Catamaran"/>
                <a:sym typeface="Catamaran"/>
              </a:rPr>
              <a:t>05</a:t>
            </a:r>
            <a:endParaRPr b="1" i="0" sz="1800" u="none" cap="none" strike="noStrike">
              <a:solidFill>
                <a:srgbClr val="000000"/>
              </a:solidFill>
              <a:latin typeface="Catamaran"/>
              <a:ea typeface="Catamaran"/>
              <a:cs typeface="Catamaran"/>
              <a:sym typeface="Catamaran"/>
            </a:endParaRPr>
          </a:p>
        </p:txBody>
      </p:sp>
      <p:grpSp>
        <p:nvGrpSpPr>
          <p:cNvPr id="420" name="Google Shape;420;g2d0c9c23082_4_0"/>
          <p:cNvGrpSpPr/>
          <p:nvPr/>
        </p:nvGrpSpPr>
        <p:grpSpPr>
          <a:xfrm>
            <a:off x="2603430" y="5162498"/>
            <a:ext cx="1679478" cy="300600"/>
            <a:chOff x="2603430" y="5162498"/>
            <a:chExt cx="1679478" cy="300600"/>
          </a:xfrm>
        </p:grpSpPr>
        <p:sp>
          <p:nvSpPr>
            <p:cNvPr id="421" name="Google Shape;421;g2d0c9c23082_4_0"/>
            <p:cNvSpPr/>
            <p:nvPr/>
          </p:nvSpPr>
          <p:spPr>
            <a:xfrm flipH="1">
              <a:off x="3140053" y="5282838"/>
              <a:ext cx="59700" cy="59700"/>
            </a:xfrm>
            <a:prstGeom prst="ellipse">
              <a:avLst/>
            </a:pr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2" name="Google Shape;422;g2d0c9c23082_4_0"/>
            <p:cNvSpPr/>
            <p:nvPr/>
          </p:nvSpPr>
          <p:spPr>
            <a:xfrm flipH="1">
              <a:off x="3276705" y="5282838"/>
              <a:ext cx="59700" cy="59700"/>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3" name="Google Shape;423;g2d0c9c23082_4_0"/>
            <p:cNvSpPr/>
            <p:nvPr/>
          </p:nvSpPr>
          <p:spPr>
            <a:xfrm flipH="1">
              <a:off x="3413358" y="5282838"/>
              <a:ext cx="59700" cy="59700"/>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4" name="Google Shape;424;g2d0c9c23082_4_0"/>
            <p:cNvSpPr/>
            <p:nvPr/>
          </p:nvSpPr>
          <p:spPr>
            <a:xfrm flipH="1">
              <a:off x="3550010" y="5282838"/>
              <a:ext cx="59700" cy="59700"/>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5" name="Google Shape;425;g2d0c9c23082_4_0"/>
            <p:cNvSpPr/>
            <p:nvPr/>
          </p:nvSpPr>
          <p:spPr>
            <a:xfrm flipH="1">
              <a:off x="3686663" y="5282838"/>
              <a:ext cx="59700" cy="59700"/>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6" name="Google Shape;426;g2d0c9c23082_4_0"/>
            <p:cNvSpPr txBox="1"/>
            <p:nvPr/>
          </p:nvSpPr>
          <p:spPr>
            <a:xfrm flipH="1">
              <a:off x="3982308" y="5162498"/>
              <a:ext cx="300600" cy="300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27" name="Google Shape;427;g2d0c9c23082_4_0"/>
            <p:cNvCxnSpPr/>
            <p:nvPr/>
          </p:nvCxnSpPr>
          <p:spPr>
            <a:xfrm>
              <a:off x="4070609" y="5312726"/>
              <a:ext cx="124200" cy="0"/>
            </a:xfrm>
            <a:prstGeom prst="straightConnector1">
              <a:avLst/>
            </a:prstGeom>
            <a:noFill/>
            <a:ln cap="flat" cmpd="sng" w="12700">
              <a:solidFill>
                <a:srgbClr val="FFFFFF"/>
              </a:solidFill>
              <a:prstDash val="solid"/>
              <a:miter lim="8000"/>
              <a:headEnd len="sm" w="sm" type="none"/>
              <a:tailEnd len="sm" w="sm" type="none"/>
            </a:ln>
          </p:spPr>
        </p:cxnSp>
        <p:sp>
          <p:nvSpPr>
            <p:cNvPr id="428" name="Google Shape;428;g2d0c9c23082_4_0"/>
            <p:cNvSpPr/>
            <p:nvPr/>
          </p:nvSpPr>
          <p:spPr>
            <a:xfrm rot="-2700000">
              <a:off x="4099777" y="5269473"/>
              <a:ext cx="86508" cy="86508"/>
            </a:xfrm>
            <a:custGeom>
              <a:rect b="b" l="l" r="r" t="t"/>
              <a:pathLst>
                <a:path extrusionOk="0" h="252248" w="252248">
                  <a:moveTo>
                    <a:pt x="252248" y="0"/>
                  </a:moveTo>
                  <a:lnTo>
                    <a:pt x="252248" y="252248"/>
                  </a:lnTo>
                  <a:lnTo>
                    <a:pt x="0" y="252248"/>
                  </a:lnTo>
                </a:path>
              </a:pathLst>
            </a:custGeom>
            <a:noFill/>
            <a:ln cap="flat" cmpd="sng" w="12700">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9" name="Google Shape;429;g2d0c9c23082_4_0"/>
            <p:cNvSpPr txBox="1"/>
            <p:nvPr/>
          </p:nvSpPr>
          <p:spPr>
            <a:xfrm>
              <a:off x="2603430" y="5162498"/>
              <a:ext cx="300600" cy="300600"/>
            </a:xfrm>
            <a:prstGeom prst="rect">
              <a:avLst/>
            </a:prstGeom>
            <a:solidFill>
              <a:srgbClr val="7F7F7F">
                <a:alpha val="14117"/>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30" name="Google Shape;430;g2d0c9c23082_4_0"/>
            <p:cNvCxnSpPr/>
            <p:nvPr/>
          </p:nvCxnSpPr>
          <p:spPr>
            <a:xfrm rot="10800000">
              <a:off x="2691530" y="5312726"/>
              <a:ext cx="124200" cy="0"/>
            </a:xfrm>
            <a:prstGeom prst="straightConnector1">
              <a:avLst/>
            </a:prstGeom>
            <a:noFill/>
            <a:ln cap="flat" cmpd="sng" w="12700">
              <a:solidFill>
                <a:schemeClr val="dk1"/>
              </a:solidFill>
              <a:prstDash val="solid"/>
              <a:miter lim="8000"/>
              <a:headEnd len="sm" w="sm" type="none"/>
              <a:tailEnd len="sm" w="sm" type="none"/>
            </a:ln>
          </p:spPr>
        </p:cxnSp>
        <p:sp>
          <p:nvSpPr>
            <p:cNvPr id="431" name="Google Shape;431;g2d0c9c23082_4_0"/>
            <p:cNvSpPr/>
            <p:nvPr/>
          </p:nvSpPr>
          <p:spPr>
            <a:xfrm flipH="1" rot="2700000">
              <a:off x="2700054" y="5269473"/>
              <a:ext cx="86508" cy="86508"/>
            </a:xfrm>
            <a:custGeom>
              <a:rect b="b" l="l" r="r" t="t"/>
              <a:pathLst>
                <a:path extrusionOk="0" h="252248" w="252248">
                  <a:moveTo>
                    <a:pt x="252248" y="0"/>
                  </a:moveTo>
                  <a:lnTo>
                    <a:pt x="252248" y="252248"/>
                  </a:lnTo>
                  <a:lnTo>
                    <a:pt x="0" y="252248"/>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2d0c9c23082_2_98"/>
          <p:cNvSpPr txBox="1"/>
          <p:nvPr/>
        </p:nvSpPr>
        <p:spPr>
          <a:xfrm>
            <a:off x="1203150" y="498450"/>
            <a:ext cx="9401700" cy="5689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n-US" sz="4000" u="none" cap="none" strike="noStrike">
                <a:solidFill>
                  <a:schemeClr val="accent1"/>
                </a:solidFill>
                <a:latin typeface="Catamaran"/>
                <a:ea typeface="Catamaran"/>
                <a:cs typeface="Catamaran"/>
                <a:sym typeface="Catamaran"/>
              </a:rPr>
              <a:t>Features Used:</a:t>
            </a:r>
            <a:endParaRPr b="1" i="0" sz="4000" u="none" cap="none" strike="noStrike">
              <a:solidFill>
                <a:schemeClr val="accent1"/>
              </a:solidFill>
              <a:latin typeface="Catamaran"/>
              <a:ea typeface="Catamaran"/>
              <a:cs typeface="Catamaran"/>
              <a:sym typeface="Catamaran"/>
            </a:endParaRPr>
          </a:p>
          <a:p>
            <a:pPr indent="-304800" lvl="0" marL="457200" marR="0" rtl="0" algn="l">
              <a:lnSpc>
                <a:spcPct val="115000"/>
              </a:lnSpc>
              <a:spcBef>
                <a:spcPts val="1200"/>
              </a:spcBef>
              <a:spcAft>
                <a:spcPts val="0"/>
              </a:spcAft>
              <a:buClr>
                <a:srgbClr val="0D0D0D"/>
              </a:buClr>
              <a:buSzPts val="1200"/>
              <a:buFont typeface="Roboto"/>
              <a:buChar char="●"/>
            </a:pPr>
            <a:r>
              <a:rPr b="0" i="0" lang="en-US" sz="1950" u="none" cap="none" strike="noStrike">
                <a:solidFill>
                  <a:srgbClr val="0D0D0D"/>
                </a:solidFill>
                <a:highlight>
                  <a:srgbClr val="FFFFFF"/>
                </a:highlight>
                <a:latin typeface="Arial"/>
                <a:ea typeface="Arial"/>
                <a:cs typeface="Arial"/>
                <a:sym typeface="Arial"/>
              </a:rPr>
              <a:t>neighbourhood_group</a:t>
            </a:r>
            <a:r>
              <a:rPr b="0" i="0" lang="en-US" sz="2100" u="none" cap="none" strike="noStrike">
                <a:solidFill>
                  <a:srgbClr val="0D0D0D"/>
                </a:solidFill>
                <a:highlight>
                  <a:srgbClr val="FFFFFF"/>
                </a:highlight>
                <a:latin typeface="Arial"/>
                <a:ea typeface="Arial"/>
                <a:cs typeface="Arial"/>
                <a:sym typeface="Arial"/>
              </a:rPr>
              <a:t>, </a:t>
            </a:r>
            <a:r>
              <a:rPr b="0" i="0" lang="en-US" sz="1950" u="none" cap="none" strike="noStrike">
                <a:solidFill>
                  <a:srgbClr val="0D0D0D"/>
                </a:solidFill>
                <a:highlight>
                  <a:srgbClr val="FFFFFF"/>
                </a:highlight>
                <a:latin typeface="Arial"/>
                <a:ea typeface="Arial"/>
                <a:cs typeface="Arial"/>
                <a:sym typeface="Arial"/>
              </a:rPr>
              <a:t>neighbourhood</a:t>
            </a:r>
            <a:r>
              <a:rPr b="0" i="0" lang="en-US" sz="2100" u="none" cap="none" strike="noStrike">
                <a:solidFill>
                  <a:srgbClr val="0D0D0D"/>
                </a:solidFill>
                <a:highlight>
                  <a:srgbClr val="FFFFFF"/>
                </a:highlight>
                <a:latin typeface="Arial"/>
                <a:ea typeface="Arial"/>
                <a:cs typeface="Arial"/>
                <a:sym typeface="Arial"/>
              </a:rPr>
              <a:t>, </a:t>
            </a:r>
            <a:r>
              <a:rPr b="0" i="0" lang="en-US" sz="1950" u="none" cap="none" strike="noStrike">
                <a:solidFill>
                  <a:srgbClr val="0D0D0D"/>
                </a:solidFill>
                <a:highlight>
                  <a:srgbClr val="FFFFFF"/>
                </a:highlight>
                <a:latin typeface="Arial"/>
                <a:ea typeface="Arial"/>
                <a:cs typeface="Arial"/>
                <a:sym typeface="Arial"/>
              </a:rPr>
              <a:t>room_type</a:t>
            </a:r>
            <a:r>
              <a:rPr b="0" i="0" lang="en-US" sz="2100" u="none" cap="none" strike="noStrike">
                <a:solidFill>
                  <a:srgbClr val="0D0D0D"/>
                </a:solidFill>
                <a:highlight>
                  <a:srgbClr val="FFFFFF"/>
                </a:highlight>
                <a:latin typeface="Arial"/>
                <a:ea typeface="Arial"/>
                <a:cs typeface="Arial"/>
                <a:sym typeface="Arial"/>
              </a:rPr>
              <a:t>: Categorical features that categorize the listings. These are key determinants of pricing dynamics in the rental market.</a:t>
            </a:r>
            <a:endParaRPr b="0" i="0" sz="2100" u="none" cap="none" strike="noStrike">
              <a:solidFill>
                <a:srgbClr val="0D0D0D"/>
              </a:solidFill>
              <a:highlight>
                <a:srgbClr val="FFFFFF"/>
              </a:highlight>
              <a:latin typeface="Arial"/>
              <a:ea typeface="Arial"/>
              <a:cs typeface="Arial"/>
              <a:sym typeface="Arial"/>
            </a:endParaRPr>
          </a:p>
          <a:p>
            <a:pPr indent="-304800" lvl="0" marL="457200" marR="0" rtl="0" algn="l">
              <a:lnSpc>
                <a:spcPct val="115000"/>
              </a:lnSpc>
              <a:spcBef>
                <a:spcPts val="0"/>
              </a:spcBef>
              <a:spcAft>
                <a:spcPts val="0"/>
              </a:spcAft>
              <a:buClr>
                <a:srgbClr val="0D0D0D"/>
              </a:buClr>
              <a:buSzPts val="1200"/>
              <a:buFont typeface="Roboto"/>
              <a:buChar char="●"/>
            </a:pPr>
            <a:r>
              <a:rPr b="0" i="0" lang="en-US" sz="1950" u="none" cap="none" strike="noStrike">
                <a:solidFill>
                  <a:srgbClr val="0D0D0D"/>
                </a:solidFill>
                <a:highlight>
                  <a:srgbClr val="FFFFFF"/>
                </a:highlight>
                <a:latin typeface="Arial"/>
                <a:ea typeface="Arial"/>
                <a:cs typeface="Arial"/>
                <a:sym typeface="Arial"/>
              </a:rPr>
              <a:t>latitude</a:t>
            </a:r>
            <a:r>
              <a:rPr b="0" i="0" lang="en-US" sz="2100" u="none" cap="none" strike="noStrike">
                <a:solidFill>
                  <a:srgbClr val="0D0D0D"/>
                </a:solidFill>
                <a:highlight>
                  <a:srgbClr val="FFFFFF"/>
                </a:highlight>
                <a:latin typeface="Arial"/>
                <a:ea typeface="Arial"/>
                <a:cs typeface="Arial"/>
                <a:sym typeface="Arial"/>
              </a:rPr>
              <a:t>, </a:t>
            </a:r>
            <a:r>
              <a:rPr b="0" i="0" lang="en-US" sz="1950" u="none" cap="none" strike="noStrike">
                <a:solidFill>
                  <a:srgbClr val="0D0D0D"/>
                </a:solidFill>
                <a:highlight>
                  <a:srgbClr val="FFFFFF"/>
                </a:highlight>
                <a:latin typeface="Arial"/>
                <a:ea typeface="Arial"/>
                <a:cs typeface="Arial"/>
                <a:sym typeface="Arial"/>
              </a:rPr>
              <a:t>longitude</a:t>
            </a:r>
            <a:r>
              <a:rPr b="0" i="0" lang="en-US" sz="2100" u="none" cap="none" strike="noStrike">
                <a:solidFill>
                  <a:srgbClr val="0D0D0D"/>
                </a:solidFill>
                <a:highlight>
                  <a:srgbClr val="FFFFFF"/>
                </a:highlight>
                <a:latin typeface="Arial"/>
                <a:ea typeface="Arial"/>
                <a:cs typeface="Arial"/>
                <a:sym typeface="Arial"/>
              </a:rPr>
              <a:t>: Location coordinates that capture the geographical nuances of pricing.</a:t>
            </a:r>
            <a:endParaRPr b="0" i="0" sz="2100" u="none" cap="none" strike="noStrike">
              <a:solidFill>
                <a:srgbClr val="0D0D0D"/>
              </a:solidFill>
              <a:highlight>
                <a:srgbClr val="FFFFFF"/>
              </a:highlight>
              <a:latin typeface="Arial"/>
              <a:ea typeface="Arial"/>
              <a:cs typeface="Arial"/>
              <a:sym typeface="Arial"/>
            </a:endParaRPr>
          </a:p>
          <a:p>
            <a:pPr indent="-304800" lvl="0" marL="457200" marR="0" rtl="0" algn="l">
              <a:lnSpc>
                <a:spcPct val="115000"/>
              </a:lnSpc>
              <a:spcBef>
                <a:spcPts val="0"/>
              </a:spcBef>
              <a:spcAft>
                <a:spcPts val="0"/>
              </a:spcAft>
              <a:buClr>
                <a:srgbClr val="0D0D0D"/>
              </a:buClr>
              <a:buSzPts val="1200"/>
              <a:buFont typeface="Roboto"/>
              <a:buChar char="●"/>
            </a:pPr>
            <a:r>
              <a:rPr b="0" i="0" lang="en-US" sz="1950" u="none" cap="none" strike="noStrike">
                <a:solidFill>
                  <a:srgbClr val="0D0D0D"/>
                </a:solidFill>
                <a:highlight>
                  <a:srgbClr val="FFFFFF"/>
                </a:highlight>
                <a:latin typeface="Arial"/>
                <a:ea typeface="Arial"/>
                <a:cs typeface="Arial"/>
                <a:sym typeface="Arial"/>
              </a:rPr>
              <a:t>minimum_nights</a:t>
            </a:r>
            <a:r>
              <a:rPr b="0" i="0" lang="en-US" sz="2100" u="none" cap="none" strike="noStrike">
                <a:solidFill>
                  <a:srgbClr val="0D0D0D"/>
                </a:solidFill>
                <a:highlight>
                  <a:srgbClr val="FFFFFF"/>
                </a:highlight>
                <a:latin typeface="Arial"/>
                <a:ea typeface="Arial"/>
                <a:cs typeface="Arial"/>
                <a:sym typeface="Arial"/>
              </a:rPr>
              <a:t>, </a:t>
            </a:r>
            <a:r>
              <a:rPr b="0" i="0" lang="en-US" sz="1950" u="none" cap="none" strike="noStrike">
                <a:solidFill>
                  <a:srgbClr val="0D0D0D"/>
                </a:solidFill>
                <a:highlight>
                  <a:srgbClr val="FFFFFF"/>
                </a:highlight>
                <a:latin typeface="Arial"/>
                <a:ea typeface="Arial"/>
                <a:cs typeface="Arial"/>
                <a:sym typeface="Arial"/>
              </a:rPr>
              <a:t>number_of_reviews</a:t>
            </a:r>
            <a:r>
              <a:rPr b="0" i="0" lang="en-US" sz="2100" u="none" cap="none" strike="noStrike">
                <a:solidFill>
                  <a:srgbClr val="0D0D0D"/>
                </a:solidFill>
                <a:highlight>
                  <a:srgbClr val="FFFFFF"/>
                </a:highlight>
                <a:latin typeface="Arial"/>
                <a:ea typeface="Arial"/>
                <a:cs typeface="Arial"/>
                <a:sym typeface="Arial"/>
              </a:rPr>
              <a:t>, </a:t>
            </a:r>
            <a:r>
              <a:rPr b="0" i="0" lang="en-US" sz="1950" u="none" cap="none" strike="noStrike">
                <a:solidFill>
                  <a:srgbClr val="0D0D0D"/>
                </a:solidFill>
                <a:highlight>
                  <a:srgbClr val="FFFFFF"/>
                </a:highlight>
                <a:latin typeface="Arial"/>
                <a:ea typeface="Arial"/>
                <a:cs typeface="Arial"/>
                <a:sym typeface="Arial"/>
              </a:rPr>
              <a:t>reviews_per_month</a:t>
            </a:r>
            <a:r>
              <a:rPr b="0" i="0" lang="en-US" sz="2100" u="none" cap="none" strike="noStrike">
                <a:solidFill>
                  <a:srgbClr val="0D0D0D"/>
                </a:solidFill>
                <a:highlight>
                  <a:srgbClr val="FFFFFF"/>
                </a:highlight>
                <a:latin typeface="Arial"/>
                <a:ea typeface="Arial"/>
                <a:cs typeface="Arial"/>
                <a:sym typeface="Arial"/>
              </a:rPr>
              <a:t>, </a:t>
            </a:r>
            <a:r>
              <a:rPr b="0" i="0" lang="en-US" sz="1950" u="none" cap="none" strike="noStrike">
                <a:solidFill>
                  <a:srgbClr val="0D0D0D"/>
                </a:solidFill>
                <a:highlight>
                  <a:srgbClr val="FFFFFF"/>
                </a:highlight>
                <a:latin typeface="Arial"/>
                <a:ea typeface="Arial"/>
                <a:cs typeface="Arial"/>
                <a:sym typeface="Arial"/>
              </a:rPr>
              <a:t>availability_365</a:t>
            </a:r>
            <a:r>
              <a:rPr b="0" i="0" lang="en-US" sz="2100" u="none" cap="none" strike="noStrike">
                <a:solidFill>
                  <a:srgbClr val="0D0D0D"/>
                </a:solidFill>
                <a:highlight>
                  <a:srgbClr val="FFFFFF"/>
                </a:highlight>
                <a:latin typeface="Arial"/>
                <a:ea typeface="Arial"/>
                <a:cs typeface="Arial"/>
                <a:sym typeface="Arial"/>
              </a:rPr>
              <a:t>, </a:t>
            </a:r>
            <a:r>
              <a:rPr b="0" i="0" lang="en-US" sz="1950" u="none" cap="none" strike="noStrike">
                <a:solidFill>
                  <a:srgbClr val="0D0D0D"/>
                </a:solidFill>
                <a:highlight>
                  <a:srgbClr val="FFFFFF"/>
                </a:highlight>
                <a:latin typeface="Arial"/>
                <a:ea typeface="Arial"/>
                <a:cs typeface="Arial"/>
                <a:sym typeface="Arial"/>
              </a:rPr>
              <a:t>calculated_host_listings_count</a:t>
            </a:r>
            <a:r>
              <a:rPr b="0" i="0" lang="en-US" sz="2100" u="none" cap="none" strike="noStrike">
                <a:solidFill>
                  <a:srgbClr val="0D0D0D"/>
                </a:solidFill>
                <a:highlight>
                  <a:srgbClr val="FFFFFF"/>
                </a:highlight>
                <a:latin typeface="Arial"/>
                <a:ea typeface="Arial"/>
                <a:cs typeface="Arial"/>
                <a:sym typeface="Arial"/>
              </a:rPr>
              <a:t>: Numeric features that describe the listing’s popularity, demand, and operational metrics which can influence price.</a:t>
            </a:r>
            <a:endParaRPr b="0" i="0" sz="2100" u="none" cap="none" strike="noStrike">
              <a:solidFill>
                <a:srgbClr val="0D0D0D"/>
              </a:solidFill>
              <a:highlight>
                <a:srgbClr val="FFFFFF"/>
              </a:highlight>
              <a:latin typeface="Arial"/>
              <a:ea typeface="Arial"/>
              <a:cs typeface="Arial"/>
              <a:sym typeface="Arial"/>
            </a:endParaRPr>
          </a:p>
          <a:p>
            <a:pPr indent="0" lvl="0" marL="0" marR="0" rtl="0" algn="l">
              <a:lnSpc>
                <a:spcPct val="115000"/>
              </a:lnSpc>
              <a:spcBef>
                <a:spcPts val="1200"/>
              </a:spcBef>
              <a:spcAft>
                <a:spcPts val="0"/>
              </a:spcAft>
              <a:buClr>
                <a:srgbClr val="000000"/>
              </a:buClr>
              <a:buSzPts val="1200"/>
              <a:buFont typeface="Arial"/>
              <a:buNone/>
            </a:pPr>
            <a:r>
              <a:t/>
            </a:r>
            <a:endParaRPr b="0" i="0" sz="1200" u="none" cap="none" strike="noStrike">
              <a:solidFill>
                <a:srgbClr val="0D0D0D"/>
              </a:solidFill>
              <a:highlight>
                <a:srgbClr val="FFFFFF"/>
              </a:highlight>
              <a:latin typeface="Roboto"/>
              <a:ea typeface="Roboto"/>
              <a:cs typeface="Roboto"/>
              <a:sym typeface="Roboto"/>
            </a:endParaRPr>
          </a:p>
          <a:p>
            <a:pPr indent="0" lvl="0" marL="0" marR="0" rtl="0" algn="l">
              <a:lnSpc>
                <a:spcPct val="100000"/>
              </a:lnSpc>
              <a:spcBef>
                <a:spcPts val="120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pic>
        <p:nvPicPr>
          <p:cNvPr id="441" name="Google Shape;441;g2d0c9c23082_4_26"/>
          <p:cNvPicPr preferRelativeResize="0"/>
          <p:nvPr/>
        </p:nvPicPr>
        <p:blipFill rotWithShape="1">
          <a:blip r:embed="rId3">
            <a:alphaModFix/>
          </a:blip>
          <a:srcRect b="0" l="0" r="0" t="0"/>
          <a:stretch/>
        </p:blipFill>
        <p:spPr>
          <a:xfrm>
            <a:off x="1951750" y="1465200"/>
            <a:ext cx="5984257" cy="1737050"/>
          </a:xfrm>
          <a:prstGeom prst="rect">
            <a:avLst/>
          </a:prstGeom>
          <a:noFill/>
          <a:ln>
            <a:noFill/>
          </a:ln>
        </p:spPr>
      </p:pic>
      <p:sp>
        <p:nvSpPr>
          <p:cNvPr id="442" name="Google Shape;442;g2d0c9c23082_4_26"/>
          <p:cNvSpPr txBox="1"/>
          <p:nvPr/>
        </p:nvSpPr>
        <p:spPr>
          <a:xfrm>
            <a:off x="848750" y="118850"/>
            <a:ext cx="9845400" cy="1231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chemeClr val="accent1"/>
                </a:solidFill>
                <a:latin typeface="Catamaran"/>
                <a:ea typeface="Catamaran"/>
                <a:cs typeface="Catamaran"/>
                <a:sym typeface="Catamaran"/>
              </a:rPr>
              <a:t>Linear Regression only for neighbourhood_group and room_type</a:t>
            </a:r>
            <a:endParaRPr b="0" i="0" sz="1200" u="none" cap="none" strike="noStrike">
              <a:solidFill>
                <a:srgbClr val="000000"/>
              </a:solidFill>
              <a:latin typeface="Arial"/>
              <a:ea typeface="Arial"/>
              <a:cs typeface="Arial"/>
              <a:sym typeface="Arial"/>
            </a:endParaRPr>
          </a:p>
        </p:txBody>
      </p:sp>
      <p:sp>
        <p:nvSpPr>
          <p:cNvPr id="443" name="Google Shape;443;g2d0c9c23082_4_26"/>
          <p:cNvSpPr txBox="1"/>
          <p:nvPr/>
        </p:nvSpPr>
        <p:spPr>
          <a:xfrm>
            <a:off x="848750" y="1188275"/>
            <a:ext cx="3378000" cy="73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44" name="Google Shape;444;g2d0c9c23082_4_26"/>
          <p:cNvPicPr preferRelativeResize="0"/>
          <p:nvPr/>
        </p:nvPicPr>
        <p:blipFill rotWithShape="1">
          <a:blip r:embed="rId4">
            <a:alphaModFix/>
          </a:blip>
          <a:srcRect b="0" l="0" r="0" t="0"/>
          <a:stretch/>
        </p:blipFill>
        <p:spPr>
          <a:xfrm>
            <a:off x="1951750" y="3317100"/>
            <a:ext cx="3616125" cy="1051200"/>
          </a:xfrm>
          <a:prstGeom prst="rect">
            <a:avLst/>
          </a:prstGeom>
          <a:noFill/>
          <a:ln>
            <a:noFill/>
          </a:ln>
        </p:spPr>
      </p:pic>
      <p:sp>
        <p:nvSpPr>
          <p:cNvPr id="445" name="Google Shape;445;g2d0c9c23082_4_26"/>
          <p:cNvSpPr txBox="1"/>
          <p:nvPr/>
        </p:nvSpPr>
        <p:spPr>
          <a:xfrm>
            <a:off x="1951750" y="4664675"/>
            <a:ext cx="4341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50"/>
              <a:buFont typeface="Arial"/>
              <a:buNone/>
            </a:pPr>
            <a:r>
              <a:rPr b="1" i="0" lang="en-US" sz="1750" u="none" cap="none" strike="noStrike">
                <a:solidFill>
                  <a:srgbClr val="212121"/>
                </a:solidFill>
                <a:highlight>
                  <a:srgbClr val="FFFFFF"/>
                </a:highlight>
                <a:latin typeface="Arial"/>
                <a:ea typeface="Arial"/>
                <a:cs typeface="Arial"/>
                <a:sym typeface="Arial"/>
              </a:rPr>
              <a:t>mean_squared_error: 7177.255675589521</a:t>
            </a:r>
            <a:endParaRPr b="1" i="0" sz="2100" u="none" cap="none" strike="noStrike">
              <a:solidFill>
                <a:srgbClr val="000000"/>
              </a:solidFill>
              <a:latin typeface="Arial"/>
              <a:ea typeface="Arial"/>
              <a:cs typeface="Arial"/>
              <a:sym typeface="Arial"/>
            </a:endParaRPr>
          </a:p>
        </p:txBody>
      </p:sp>
      <p:sp>
        <p:nvSpPr>
          <p:cNvPr id="446" name="Google Shape;446;g2d0c9c23082_4_26"/>
          <p:cNvSpPr txBox="1"/>
          <p:nvPr/>
        </p:nvSpPr>
        <p:spPr>
          <a:xfrm>
            <a:off x="7376050" y="4699475"/>
            <a:ext cx="3170100" cy="653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need to update and change our model</a:t>
            </a:r>
            <a:endParaRPr b="1" i="0" sz="1600" u="none" cap="none" strike="noStrike">
              <a:solidFill>
                <a:srgbClr val="000000"/>
              </a:solidFill>
              <a:latin typeface="Arial"/>
              <a:ea typeface="Arial"/>
              <a:cs typeface="Arial"/>
              <a:sym typeface="Arial"/>
            </a:endParaRPr>
          </a:p>
        </p:txBody>
      </p:sp>
      <p:sp>
        <p:nvSpPr>
          <p:cNvPr id="447" name="Google Shape;447;g2d0c9c23082_4_26"/>
          <p:cNvSpPr txBox="1"/>
          <p:nvPr/>
        </p:nvSpPr>
        <p:spPr>
          <a:xfrm>
            <a:off x="5180500" y="4835150"/>
            <a:ext cx="2331300" cy="105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 —-------- &gt;</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2d0c9c23082_5_8"/>
          <p:cNvSpPr txBox="1"/>
          <p:nvPr/>
        </p:nvSpPr>
        <p:spPr>
          <a:xfrm>
            <a:off x="531525" y="72025"/>
            <a:ext cx="12192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accent1"/>
                </a:solidFill>
                <a:latin typeface="Catamaran"/>
                <a:ea typeface="Catamaran"/>
                <a:cs typeface="Catamaran"/>
                <a:sym typeface="Catamaran"/>
              </a:rPr>
              <a:t>Linear Regression for all features</a:t>
            </a:r>
            <a:endParaRPr b="0" i="0" sz="1400" u="none" cap="none" strike="noStrike">
              <a:solidFill>
                <a:schemeClr val="dk1"/>
              </a:solidFill>
              <a:latin typeface="Arial"/>
              <a:ea typeface="Arial"/>
              <a:cs typeface="Arial"/>
              <a:sym typeface="Arial"/>
            </a:endParaRPr>
          </a:p>
        </p:txBody>
      </p:sp>
      <p:pic>
        <p:nvPicPr>
          <p:cNvPr id="453" name="Google Shape;453;g2d0c9c23082_5_8"/>
          <p:cNvPicPr preferRelativeResize="0"/>
          <p:nvPr/>
        </p:nvPicPr>
        <p:blipFill rotWithShape="1">
          <a:blip r:embed="rId3">
            <a:alphaModFix/>
          </a:blip>
          <a:srcRect b="0" l="0" r="0" t="0"/>
          <a:stretch/>
        </p:blipFill>
        <p:spPr>
          <a:xfrm>
            <a:off x="1176175" y="1127900"/>
            <a:ext cx="7122202" cy="2677775"/>
          </a:xfrm>
          <a:prstGeom prst="rect">
            <a:avLst/>
          </a:prstGeom>
          <a:noFill/>
          <a:ln>
            <a:noFill/>
          </a:ln>
        </p:spPr>
      </p:pic>
      <p:pic>
        <p:nvPicPr>
          <p:cNvPr id="454" name="Google Shape;454;g2d0c9c23082_5_8"/>
          <p:cNvPicPr preferRelativeResize="0"/>
          <p:nvPr/>
        </p:nvPicPr>
        <p:blipFill rotWithShape="1">
          <a:blip r:embed="rId4">
            <a:alphaModFix/>
          </a:blip>
          <a:srcRect b="0" l="0" r="0" t="0"/>
          <a:stretch/>
        </p:blipFill>
        <p:spPr>
          <a:xfrm>
            <a:off x="1176175" y="3914025"/>
            <a:ext cx="7122201" cy="2382396"/>
          </a:xfrm>
          <a:prstGeom prst="rect">
            <a:avLst/>
          </a:prstGeom>
          <a:noFill/>
          <a:ln>
            <a:noFill/>
          </a:ln>
        </p:spPr>
      </p:pic>
      <p:sp>
        <p:nvSpPr>
          <p:cNvPr id="455" name="Google Shape;455;g2d0c9c23082_5_8"/>
          <p:cNvSpPr txBox="1"/>
          <p:nvPr/>
        </p:nvSpPr>
        <p:spPr>
          <a:xfrm>
            <a:off x="8671175" y="3064675"/>
            <a:ext cx="2972700" cy="561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50"/>
              <a:buFont typeface="Arial"/>
              <a:buNone/>
            </a:pPr>
            <a:r>
              <a:rPr b="1" i="0" lang="en-US" sz="1450" u="none" cap="none" strike="noStrike">
                <a:solidFill>
                  <a:srgbClr val="212121"/>
                </a:solidFill>
                <a:highlight>
                  <a:srgbClr val="FFFFFF"/>
                </a:highlight>
                <a:latin typeface="Arial"/>
                <a:ea typeface="Arial"/>
                <a:cs typeface="Arial"/>
                <a:sym typeface="Arial"/>
              </a:rPr>
              <a:t>MSE: 6281.556536958027</a:t>
            </a:r>
            <a:endParaRPr b="1" i="0" sz="1450" u="none" cap="none" strike="noStrike">
              <a:solidFill>
                <a:srgbClr val="212121"/>
              </a:solidFill>
              <a:highlight>
                <a:srgbClr val="FFFFFF"/>
              </a:highlight>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1" i="0" lang="en-US" sz="1450" u="none" cap="none" strike="noStrike">
                <a:solidFill>
                  <a:srgbClr val="212121"/>
                </a:solidFill>
                <a:highlight>
                  <a:srgbClr val="FFFFFF"/>
                </a:highlight>
                <a:latin typeface="Arial"/>
                <a:ea typeface="Arial"/>
                <a:cs typeface="Arial"/>
                <a:sym typeface="Arial"/>
              </a:rPr>
              <a:t>R^2: 0.406597060546814</a:t>
            </a:r>
            <a:endParaRPr b="1" i="0" sz="1450" u="none" cap="none" strike="noStrike">
              <a:solidFill>
                <a:srgbClr val="21212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g2d0c9c23082_2_30"/>
          <p:cNvSpPr txBox="1"/>
          <p:nvPr/>
        </p:nvSpPr>
        <p:spPr>
          <a:xfrm>
            <a:off x="619925" y="426200"/>
            <a:ext cx="7426200" cy="72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4000" u="none" cap="none" strike="noStrike">
                <a:solidFill>
                  <a:schemeClr val="accent1"/>
                </a:solidFill>
                <a:latin typeface="Catamaran"/>
                <a:ea typeface="Catamaran"/>
                <a:cs typeface="Catamaran"/>
                <a:sym typeface="Catamaran"/>
              </a:rPr>
              <a:t>Linear Regression Accuracy </a:t>
            </a:r>
            <a:endParaRPr b="0" i="0" sz="1400" u="none" cap="none" strike="noStrike">
              <a:solidFill>
                <a:srgbClr val="000000"/>
              </a:solidFill>
              <a:latin typeface="Arial"/>
              <a:ea typeface="Arial"/>
              <a:cs typeface="Arial"/>
              <a:sym typeface="Arial"/>
            </a:endParaRPr>
          </a:p>
        </p:txBody>
      </p:sp>
      <p:pic>
        <p:nvPicPr>
          <p:cNvPr id="461" name="Google Shape;461;g2d0c9c23082_2_30"/>
          <p:cNvPicPr preferRelativeResize="0"/>
          <p:nvPr/>
        </p:nvPicPr>
        <p:blipFill rotWithShape="1">
          <a:blip r:embed="rId3">
            <a:alphaModFix/>
          </a:blip>
          <a:srcRect b="0" l="0" r="0" t="0"/>
          <a:stretch/>
        </p:blipFill>
        <p:spPr>
          <a:xfrm>
            <a:off x="1776650" y="1149500"/>
            <a:ext cx="8096250" cy="5210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2d0c9c23082_2_34"/>
          <p:cNvSpPr txBox="1"/>
          <p:nvPr/>
        </p:nvSpPr>
        <p:spPr>
          <a:xfrm>
            <a:off x="568275" y="607025"/>
            <a:ext cx="6909600" cy="116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4000"/>
              <a:buFont typeface="Arial"/>
              <a:buNone/>
            </a:pPr>
            <a:r>
              <a:rPr b="1" i="0" lang="en-US" sz="4000" u="none" cap="none" strike="noStrike">
                <a:solidFill>
                  <a:schemeClr val="accent1"/>
                </a:solidFill>
                <a:latin typeface="Catamaran"/>
                <a:ea typeface="Catamaran"/>
                <a:cs typeface="Catamaran"/>
                <a:sym typeface="Catamaran"/>
              </a:rPr>
              <a:t>Random Forest</a:t>
            </a:r>
            <a:endParaRPr b="0" i="0" sz="1400" u="none" cap="none" strike="noStrike">
              <a:solidFill>
                <a:srgbClr val="000000"/>
              </a:solidFill>
              <a:latin typeface="Arial"/>
              <a:ea typeface="Arial"/>
              <a:cs typeface="Arial"/>
              <a:sym typeface="Arial"/>
            </a:endParaRPr>
          </a:p>
        </p:txBody>
      </p:sp>
      <p:sp>
        <p:nvSpPr>
          <p:cNvPr id="467" name="Google Shape;467;g2d0c9c23082_2_34"/>
          <p:cNvSpPr txBox="1"/>
          <p:nvPr/>
        </p:nvSpPr>
        <p:spPr>
          <a:xfrm>
            <a:off x="762000" y="1549825"/>
            <a:ext cx="10371000" cy="439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68" name="Google Shape;468;g2d0c9c23082_2_34"/>
          <p:cNvPicPr preferRelativeResize="0"/>
          <p:nvPr/>
        </p:nvPicPr>
        <p:blipFill rotWithShape="1">
          <a:blip r:embed="rId3">
            <a:alphaModFix/>
          </a:blip>
          <a:srcRect b="0" l="0" r="0" t="0"/>
          <a:stretch/>
        </p:blipFill>
        <p:spPr>
          <a:xfrm>
            <a:off x="2315773" y="1666200"/>
            <a:ext cx="7675856" cy="4579126"/>
          </a:xfrm>
          <a:prstGeom prst="rect">
            <a:avLst/>
          </a:prstGeom>
          <a:noFill/>
          <a:ln>
            <a:noFill/>
          </a:ln>
        </p:spPr>
      </p:pic>
      <p:sp>
        <p:nvSpPr>
          <p:cNvPr id="469" name="Google Shape;469;g2d0c9c23082_2_34"/>
          <p:cNvSpPr txBox="1"/>
          <p:nvPr/>
        </p:nvSpPr>
        <p:spPr>
          <a:xfrm>
            <a:off x="5173575" y="704700"/>
            <a:ext cx="6222300" cy="5328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rgbClr val="0D0D0D"/>
              </a:buClr>
              <a:buSzPts val="2000"/>
              <a:buFont typeface="Roboto"/>
              <a:buChar char="●"/>
            </a:pPr>
            <a:r>
              <a:rPr b="0" i="0" lang="en-US" sz="2000" u="none" cap="none" strike="noStrike">
                <a:solidFill>
                  <a:srgbClr val="0D0D0D"/>
                </a:solidFill>
                <a:highlight>
                  <a:srgbClr val="FFFFFF"/>
                </a:highlight>
                <a:latin typeface="Roboto"/>
                <a:ea typeface="Roboto"/>
                <a:cs typeface="Roboto"/>
                <a:sym typeface="Roboto"/>
              </a:rPr>
              <a:t>Random Forest: R² = 0.47, MSE = 5,576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pic>
        <p:nvPicPr>
          <p:cNvPr id="474" name="Google Shape;474;g2d0c9c23082_2_42"/>
          <p:cNvPicPr preferRelativeResize="0"/>
          <p:nvPr/>
        </p:nvPicPr>
        <p:blipFill rotWithShape="1">
          <a:blip r:embed="rId3">
            <a:alphaModFix/>
          </a:blip>
          <a:srcRect b="0" l="0" r="0" t="0"/>
          <a:stretch/>
        </p:blipFill>
        <p:spPr>
          <a:xfrm>
            <a:off x="178225" y="1392275"/>
            <a:ext cx="5553075" cy="4333875"/>
          </a:xfrm>
          <a:prstGeom prst="rect">
            <a:avLst/>
          </a:prstGeom>
          <a:noFill/>
          <a:ln>
            <a:noFill/>
          </a:ln>
        </p:spPr>
      </p:pic>
      <p:pic>
        <p:nvPicPr>
          <p:cNvPr id="475" name="Google Shape;475;g2d0c9c23082_2_42"/>
          <p:cNvPicPr preferRelativeResize="0"/>
          <p:nvPr/>
        </p:nvPicPr>
        <p:blipFill rotWithShape="1">
          <a:blip r:embed="rId4">
            <a:alphaModFix/>
          </a:blip>
          <a:srcRect b="0" l="0" r="0" t="0"/>
          <a:stretch/>
        </p:blipFill>
        <p:spPr>
          <a:xfrm>
            <a:off x="6103275" y="1327675"/>
            <a:ext cx="5610225" cy="43338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pic>
        <p:nvPicPr>
          <p:cNvPr id="480" name="Google Shape;480;g2d0c9c23082_2_47"/>
          <p:cNvPicPr preferRelativeResize="0"/>
          <p:nvPr/>
        </p:nvPicPr>
        <p:blipFill rotWithShape="1">
          <a:blip r:embed="rId3">
            <a:alphaModFix/>
          </a:blip>
          <a:srcRect b="0" l="0" r="0" t="0"/>
          <a:stretch/>
        </p:blipFill>
        <p:spPr>
          <a:xfrm>
            <a:off x="501125" y="952088"/>
            <a:ext cx="5438775" cy="4333875"/>
          </a:xfrm>
          <a:prstGeom prst="rect">
            <a:avLst/>
          </a:prstGeom>
          <a:noFill/>
          <a:ln>
            <a:noFill/>
          </a:ln>
        </p:spPr>
      </p:pic>
      <p:pic>
        <p:nvPicPr>
          <p:cNvPr id="481" name="Google Shape;481;g2d0c9c23082_2_47"/>
          <p:cNvPicPr preferRelativeResize="0"/>
          <p:nvPr/>
        </p:nvPicPr>
        <p:blipFill rotWithShape="1">
          <a:blip r:embed="rId4">
            <a:alphaModFix/>
          </a:blip>
          <a:srcRect b="0" l="0" r="0" t="0"/>
          <a:stretch/>
        </p:blipFill>
        <p:spPr>
          <a:xfrm>
            <a:off x="6092300" y="952100"/>
            <a:ext cx="5524500" cy="43338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g2d0c9c23082_2_52"/>
          <p:cNvSpPr txBox="1"/>
          <p:nvPr/>
        </p:nvSpPr>
        <p:spPr>
          <a:xfrm>
            <a:off x="490775" y="206650"/>
            <a:ext cx="9441000" cy="78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accent1"/>
                </a:solidFill>
                <a:latin typeface="Catamaran"/>
                <a:ea typeface="Catamaran"/>
                <a:cs typeface="Catamaran"/>
                <a:sym typeface="Catamaran"/>
              </a:rPr>
              <a:t>Gradient Boosting Regressor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87" name="Google Shape;487;g2d0c9c23082_2_52"/>
          <p:cNvPicPr preferRelativeResize="0"/>
          <p:nvPr/>
        </p:nvPicPr>
        <p:blipFill rotWithShape="1">
          <a:blip r:embed="rId3">
            <a:alphaModFix/>
          </a:blip>
          <a:srcRect b="0" l="0" r="0" t="0"/>
          <a:stretch/>
        </p:blipFill>
        <p:spPr>
          <a:xfrm>
            <a:off x="1327675" y="1121025"/>
            <a:ext cx="9242599" cy="5558750"/>
          </a:xfrm>
          <a:prstGeom prst="rect">
            <a:avLst/>
          </a:prstGeom>
          <a:noFill/>
          <a:ln>
            <a:noFill/>
          </a:ln>
        </p:spPr>
      </p:pic>
      <p:sp>
        <p:nvSpPr>
          <p:cNvPr id="488" name="Google Shape;488;g2d0c9c23082_2_52"/>
          <p:cNvSpPr txBox="1"/>
          <p:nvPr/>
        </p:nvSpPr>
        <p:spPr>
          <a:xfrm>
            <a:off x="6789250" y="326575"/>
            <a:ext cx="4365900" cy="6531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rgbClr val="0D0D0D"/>
              </a:buClr>
              <a:buSzPts val="2000"/>
              <a:buFont typeface="Roboto"/>
              <a:buChar char="●"/>
            </a:pPr>
            <a:r>
              <a:rPr b="0" i="0" lang="en-US" sz="2000" u="none" cap="none" strike="noStrike">
                <a:solidFill>
                  <a:srgbClr val="0D0D0D"/>
                </a:solidFill>
                <a:highlight>
                  <a:srgbClr val="FFFFFF"/>
                </a:highlight>
                <a:latin typeface="Roboto"/>
                <a:ea typeface="Roboto"/>
                <a:cs typeface="Roboto"/>
                <a:sym typeface="Roboto"/>
              </a:rPr>
              <a:t>R² = 0.46, MSE = 5,707</a:t>
            </a:r>
            <a:endParaRPr b="0" i="0" sz="2000" u="none" cap="none" strike="noStrike">
              <a:solidFill>
                <a:srgbClr val="0D0D0D"/>
              </a:solidFill>
              <a:highlight>
                <a:srgbClr val="FFFFFF"/>
              </a:highlight>
              <a:latin typeface="Roboto"/>
              <a:ea typeface="Roboto"/>
              <a:cs typeface="Roboto"/>
              <a:sym typeface="Roboto"/>
            </a:endParaRPr>
          </a:p>
          <a:p>
            <a:pPr indent="0" lvl="0" marL="457200" marR="0" rtl="0" algn="l">
              <a:lnSpc>
                <a:spcPct val="115000"/>
              </a:lnSpc>
              <a:spcBef>
                <a:spcPts val="1200"/>
              </a:spcBef>
              <a:spcAft>
                <a:spcPts val="1200"/>
              </a:spcAft>
              <a:buClr>
                <a:srgbClr val="000000"/>
              </a:buClr>
              <a:buSzPts val="2000"/>
              <a:buFont typeface="Arial"/>
              <a:buNone/>
            </a:pPr>
            <a:r>
              <a:t/>
            </a:r>
            <a:endParaRPr b="0" i="0" sz="2000" u="none" cap="none" strike="noStrike">
              <a:solidFill>
                <a:srgbClr val="0D0D0D"/>
              </a:solidFill>
              <a:highlight>
                <a:srgbClr val="FFFFFF"/>
              </a:highlight>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pic>
        <p:nvPicPr>
          <p:cNvPr id="493" name="Google Shape;493;g2d0c9c23082_2_62"/>
          <p:cNvPicPr preferRelativeResize="0"/>
          <p:nvPr/>
        </p:nvPicPr>
        <p:blipFill rotWithShape="1">
          <a:blip r:embed="rId3">
            <a:alphaModFix/>
          </a:blip>
          <a:srcRect b="0" l="0" r="0" t="0"/>
          <a:stretch/>
        </p:blipFill>
        <p:spPr>
          <a:xfrm>
            <a:off x="229875" y="1262063"/>
            <a:ext cx="5553075" cy="4333875"/>
          </a:xfrm>
          <a:prstGeom prst="rect">
            <a:avLst/>
          </a:prstGeom>
          <a:noFill/>
          <a:ln>
            <a:noFill/>
          </a:ln>
        </p:spPr>
      </p:pic>
      <p:pic>
        <p:nvPicPr>
          <p:cNvPr id="494" name="Google Shape;494;g2d0c9c23082_2_62"/>
          <p:cNvPicPr preferRelativeResize="0"/>
          <p:nvPr/>
        </p:nvPicPr>
        <p:blipFill rotWithShape="1">
          <a:blip r:embed="rId4">
            <a:alphaModFix/>
          </a:blip>
          <a:srcRect b="0" l="0" r="0" t="0"/>
          <a:stretch/>
        </p:blipFill>
        <p:spPr>
          <a:xfrm>
            <a:off x="6296975" y="1262075"/>
            <a:ext cx="5438775" cy="43338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g2d0c9c23082_2_67"/>
          <p:cNvSpPr txBox="1"/>
          <p:nvPr/>
        </p:nvSpPr>
        <p:spPr>
          <a:xfrm>
            <a:off x="619525" y="439125"/>
            <a:ext cx="8227500" cy="102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3600" u="none" cap="none" strike="noStrike">
                <a:solidFill>
                  <a:schemeClr val="accent1"/>
                </a:solidFill>
                <a:latin typeface="Catamaran"/>
                <a:ea typeface="Catamaran"/>
                <a:cs typeface="Catamaran"/>
                <a:sym typeface="Catamaran"/>
              </a:rPr>
              <a:t>GridSearchCV</a:t>
            </a:r>
            <a:endParaRPr b="0" i="0" sz="1400" u="none" cap="none" strike="noStrike">
              <a:solidFill>
                <a:srgbClr val="000000"/>
              </a:solidFill>
              <a:latin typeface="Arial"/>
              <a:ea typeface="Arial"/>
              <a:cs typeface="Arial"/>
              <a:sym typeface="Arial"/>
            </a:endParaRPr>
          </a:p>
        </p:txBody>
      </p:sp>
      <p:sp>
        <p:nvSpPr>
          <p:cNvPr id="500" name="Google Shape;500;g2d0c9c23082_2_67"/>
          <p:cNvSpPr txBox="1"/>
          <p:nvPr/>
        </p:nvSpPr>
        <p:spPr>
          <a:xfrm>
            <a:off x="464075" y="1900513"/>
            <a:ext cx="5946900" cy="226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Best parameters: {'regressor__learning_rate': 0.1, 'regressor__max_depth': 5, 'regressor__max_features': 'sqrt', 'regressor__n_estimators': 200, 'regressor__subsample': 0.9}</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Improved MSE: 5238.639461032996, Improved R²: 0.5051188289681703</a:t>
            </a:r>
            <a:endParaRPr b="0" i="0" sz="2200" u="none" cap="none" strike="noStrike">
              <a:solidFill>
                <a:srgbClr val="000000"/>
              </a:solidFill>
              <a:latin typeface="Arial"/>
              <a:ea typeface="Arial"/>
              <a:cs typeface="Arial"/>
              <a:sym typeface="Arial"/>
            </a:endParaRPr>
          </a:p>
        </p:txBody>
      </p:sp>
      <p:pic>
        <p:nvPicPr>
          <p:cNvPr id="501" name="Google Shape;501;g2d0c9c23082_2_67"/>
          <p:cNvPicPr preferRelativeResize="0"/>
          <p:nvPr/>
        </p:nvPicPr>
        <p:blipFill rotWithShape="1">
          <a:blip r:embed="rId3">
            <a:alphaModFix/>
          </a:blip>
          <a:srcRect b="0" l="0" r="0" t="0"/>
          <a:stretch/>
        </p:blipFill>
        <p:spPr>
          <a:xfrm>
            <a:off x="6308000" y="1459425"/>
            <a:ext cx="5637651" cy="3488625"/>
          </a:xfrm>
          <a:prstGeom prst="rect">
            <a:avLst/>
          </a:prstGeom>
          <a:noFill/>
          <a:ln>
            <a:noFill/>
          </a:ln>
        </p:spPr>
      </p:pic>
      <p:sp>
        <p:nvSpPr>
          <p:cNvPr id="502" name="Google Shape;502;g2d0c9c23082_2_67"/>
          <p:cNvSpPr/>
          <p:nvPr/>
        </p:nvSpPr>
        <p:spPr>
          <a:xfrm>
            <a:off x="264152" y="277385"/>
            <a:ext cx="360094" cy="285770"/>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3" name="Google Shape;503;g2d0c9c23082_2_67"/>
          <p:cNvSpPr txBox="1"/>
          <p:nvPr/>
        </p:nvSpPr>
        <p:spPr>
          <a:xfrm>
            <a:off x="5259525" y="550025"/>
            <a:ext cx="4520400" cy="4986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rgbClr val="0D0D0D"/>
              </a:buClr>
              <a:buSzPts val="1800"/>
              <a:buFont typeface="Roboto"/>
              <a:buChar char="●"/>
            </a:pPr>
            <a:r>
              <a:rPr b="0" i="0" lang="en-US" sz="2000" u="none" cap="none" strike="noStrike">
                <a:solidFill>
                  <a:srgbClr val="0D0D0D"/>
                </a:solidFill>
                <a:highlight>
                  <a:srgbClr val="FFFFFF"/>
                </a:highlight>
                <a:latin typeface="Roboto"/>
                <a:ea typeface="Roboto"/>
                <a:cs typeface="Roboto"/>
                <a:sym typeface="Roboto"/>
              </a:rPr>
              <a:t>R² = 0.51, MSE = 5,238</a:t>
            </a:r>
            <a:endParaRPr b="0" i="0" sz="2000" u="none" cap="none" strike="noStrike">
              <a:solidFill>
                <a:srgbClr val="0D0D0D"/>
              </a:solidFill>
              <a:highlight>
                <a:srgbClr val="FFFFFF"/>
              </a:highlight>
              <a:latin typeface="Roboto"/>
              <a:ea typeface="Roboto"/>
              <a:cs typeface="Roboto"/>
              <a:sym typeface="Roboto"/>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g2d0c9c23082_2_85"/>
          <p:cNvSpPr txBox="1"/>
          <p:nvPr/>
        </p:nvSpPr>
        <p:spPr>
          <a:xfrm>
            <a:off x="827800" y="396325"/>
            <a:ext cx="9229800" cy="91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3600" u="none" cap="none" strike="noStrike">
                <a:solidFill>
                  <a:schemeClr val="accent1"/>
                </a:solidFill>
                <a:latin typeface="Catamaran"/>
                <a:ea typeface="Catamaran"/>
                <a:cs typeface="Catamaran"/>
                <a:sym typeface="Catamaran"/>
              </a:rPr>
              <a:t>Deep Learning</a:t>
            </a:r>
            <a:endParaRPr b="0" i="0" sz="1400" u="none" cap="none" strike="noStrike">
              <a:solidFill>
                <a:srgbClr val="000000"/>
              </a:solidFill>
              <a:latin typeface="Arial"/>
              <a:ea typeface="Arial"/>
              <a:cs typeface="Arial"/>
              <a:sym typeface="Arial"/>
            </a:endParaRPr>
          </a:p>
        </p:txBody>
      </p:sp>
      <p:pic>
        <p:nvPicPr>
          <p:cNvPr id="509" name="Google Shape;509;g2d0c9c23082_2_85"/>
          <p:cNvPicPr preferRelativeResize="0"/>
          <p:nvPr/>
        </p:nvPicPr>
        <p:blipFill rotWithShape="1">
          <a:blip r:embed="rId3">
            <a:alphaModFix/>
          </a:blip>
          <a:srcRect b="2049" l="1288" r="2548" t="1618"/>
          <a:stretch/>
        </p:blipFill>
        <p:spPr>
          <a:xfrm>
            <a:off x="5252450" y="1469000"/>
            <a:ext cx="6750726" cy="4143451"/>
          </a:xfrm>
          <a:prstGeom prst="rect">
            <a:avLst/>
          </a:prstGeom>
          <a:noFill/>
          <a:ln>
            <a:noFill/>
          </a:ln>
        </p:spPr>
      </p:pic>
      <p:pic>
        <p:nvPicPr>
          <p:cNvPr id="510" name="Google Shape;510;g2d0c9c23082_2_85"/>
          <p:cNvPicPr preferRelativeResize="0"/>
          <p:nvPr/>
        </p:nvPicPr>
        <p:blipFill rotWithShape="1">
          <a:blip r:embed="rId4">
            <a:alphaModFix/>
          </a:blip>
          <a:srcRect b="0" l="0" r="0" t="0"/>
          <a:stretch/>
        </p:blipFill>
        <p:spPr>
          <a:xfrm>
            <a:off x="120325" y="2157249"/>
            <a:ext cx="5132124" cy="2543501"/>
          </a:xfrm>
          <a:prstGeom prst="rect">
            <a:avLst/>
          </a:prstGeom>
          <a:noFill/>
          <a:ln>
            <a:noFill/>
          </a:ln>
        </p:spPr>
      </p:pic>
      <p:sp>
        <p:nvSpPr>
          <p:cNvPr id="511" name="Google Shape;511;g2d0c9c23082_2_85"/>
          <p:cNvSpPr txBox="1"/>
          <p:nvPr/>
        </p:nvSpPr>
        <p:spPr>
          <a:xfrm>
            <a:off x="4795450" y="395325"/>
            <a:ext cx="5792400" cy="5157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rgbClr val="0D0D0D"/>
              </a:buClr>
              <a:buSzPts val="2000"/>
              <a:buFont typeface="Roboto"/>
              <a:buChar char="●"/>
            </a:pPr>
            <a:r>
              <a:rPr b="0" i="0" lang="en-US" sz="2000" u="none" cap="none" strike="noStrike">
                <a:solidFill>
                  <a:srgbClr val="0D0D0D"/>
                </a:solidFill>
                <a:highlight>
                  <a:srgbClr val="FFFFFF"/>
                </a:highlight>
                <a:latin typeface="Roboto"/>
                <a:ea typeface="Roboto"/>
                <a:cs typeface="Roboto"/>
                <a:sym typeface="Roboto"/>
              </a:rPr>
              <a:t>Deep Learning Model: R² = 0.559, MSE = 2040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g2d0f9a8d4b3_2_0"/>
          <p:cNvSpPr txBox="1"/>
          <p:nvPr/>
        </p:nvSpPr>
        <p:spPr>
          <a:xfrm>
            <a:off x="827800" y="396325"/>
            <a:ext cx="9229800" cy="91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3600" u="none" cap="none" strike="noStrike">
                <a:solidFill>
                  <a:schemeClr val="accent1"/>
                </a:solidFill>
                <a:latin typeface="Catamaran"/>
                <a:ea typeface="Catamaran"/>
                <a:cs typeface="Catamaran"/>
                <a:sym typeface="Catamaran"/>
              </a:rPr>
              <a:t>Deep Learning</a:t>
            </a:r>
            <a:endParaRPr b="0" i="0" sz="1400" u="none" cap="none" strike="noStrike">
              <a:solidFill>
                <a:srgbClr val="000000"/>
              </a:solidFill>
              <a:latin typeface="Arial"/>
              <a:ea typeface="Arial"/>
              <a:cs typeface="Arial"/>
              <a:sym typeface="Arial"/>
            </a:endParaRPr>
          </a:p>
        </p:txBody>
      </p:sp>
      <p:sp>
        <p:nvSpPr>
          <p:cNvPr id="517" name="Google Shape;517;g2d0f9a8d4b3_2_0"/>
          <p:cNvSpPr txBox="1"/>
          <p:nvPr/>
        </p:nvSpPr>
        <p:spPr>
          <a:xfrm>
            <a:off x="4795450" y="395325"/>
            <a:ext cx="5792400" cy="5157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rgbClr val="0D0D0D"/>
              </a:buClr>
              <a:buSzPts val="2000"/>
              <a:buFont typeface="Roboto"/>
              <a:buChar char="●"/>
            </a:pPr>
            <a:r>
              <a:rPr b="0" i="0" lang="en-US" sz="2000" u="none" cap="none" strike="noStrike">
                <a:solidFill>
                  <a:srgbClr val="0D0D0D"/>
                </a:solidFill>
                <a:highlight>
                  <a:srgbClr val="FFFFFF"/>
                </a:highlight>
                <a:latin typeface="Roboto"/>
                <a:ea typeface="Roboto"/>
                <a:cs typeface="Roboto"/>
                <a:sym typeface="Roboto"/>
              </a:rPr>
              <a:t>Deep Learning Model: R² = 0.564, MSE = 2019</a:t>
            </a:r>
            <a:endParaRPr b="0" i="0" sz="1400" u="none" cap="none" strike="noStrike">
              <a:solidFill>
                <a:srgbClr val="000000"/>
              </a:solidFill>
              <a:latin typeface="Arial"/>
              <a:ea typeface="Arial"/>
              <a:cs typeface="Arial"/>
              <a:sym typeface="Arial"/>
            </a:endParaRPr>
          </a:p>
        </p:txBody>
      </p:sp>
      <p:pic>
        <p:nvPicPr>
          <p:cNvPr id="518" name="Google Shape;518;g2d0f9a8d4b3_2_0"/>
          <p:cNvPicPr preferRelativeResize="0"/>
          <p:nvPr/>
        </p:nvPicPr>
        <p:blipFill rotWithShape="1">
          <a:blip r:embed="rId3">
            <a:alphaModFix/>
          </a:blip>
          <a:srcRect b="0" l="0" r="0" t="0"/>
          <a:stretch/>
        </p:blipFill>
        <p:spPr>
          <a:xfrm>
            <a:off x="8239751" y="4391725"/>
            <a:ext cx="3688223" cy="2158524"/>
          </a:xfrm>
          <a:prstGeom prst="rect">
            <a:avLst/>
          </a:prstGeom>
          <a:noFill/>
          <a:ln>
            <a:noFill/>
          </a:ln>
        </p:spPr>
      </p:pic>
      <p:pic>
        <p:nvPicPr>
          <p:cNvPr id="519" name="Google Shape;519;g2d0f9a8d4b3_2_0"/>
          <p:cNvPicPr preferRelativeResize="0"/>
          <p:nvPr/>
        </p:nvPicPr>
        <p:blipFill rotWithShape="1">
          <a:blip r:embed="rId4">
            <a:alphaModFix/>
          </a:blip>
          <a:srcRect b="0" l="0" r="17584" t="0"/>
          <a:stretch/>
        </p:blipFill>
        <p:spPr>
          <a:xfrm>
            <a:off x="614750" y="2964700"/>
            <a:ext cx="5414750" cy="3774801"/>
          </a:xfrm>
          <a:prstGeom prst="rect">
            <a:avLst/>
          </a:prstGeom>
          <a:noFill/>
          <a:ln>
            <a:noFill/>
          </a:ln>
        </p:spPr>
      </p:pic>
      <p:pic>
        <p:nvPicPr>
          <p:cNvPr id="520" name="Google Shape;520;g2d0f9a8d4b3_2_0"/>
          <p:cNvPicPr preferRelativeResize="0"/>
          <p:nvPr/>
        </p:nvPicPr>
        <p:blipFill rotWithShape="1">
          <a:blip r:embed="rId5">
            <a:alphaModFix/>
          </a:blip>
          <a:srcRect b="0" l="0" r="0" t="0"/>
          <a:stretch/>
        </p:blipFill>
        <p:spPr>
          <a:xfrm>
            <a:off x="6425375" y="1261625"/>
            <a:ext cx="4418072" cy="277950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3921"/>
          </a:schemeClr>
        </a:solidFill>
      </p:bgPr>
    </p:bg>
    <p:spTree>
      <p:nvGrpSpPr>
        <p:cNvPr id="524" name="Shape 524"/>
        <p:cNvGrpSpPr/>
        <p:nvPr/>
      </p:nvGrpSpPr>
      <p:grpSpPr>
        <a:xfrm>
          <a:off x="0" y="0"/>
          <a:ext cx="0" cy="0"/>
          <a:chOff x="0" y="0"/>
          <a:chExt cx="0" cy="0"/>
        </a:xfrm>
      </p:grpSpPr>
      <p:sp>
        <p:nvSpPr>
          <p:cNvPr id="525" name="Google Shape;525;p36"/>
          <p:cNvSpPr txBox="1"/>
          <p:nvPr/>
        </p:nvSpPr>
        <p:spPr>
          <a:xfrm>
            <a:off x="0" y="0"/>
            <a:ext cx="12306300" cy="699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26" name="Google Shape;526;p36"/>
          <p:cNvPicPr preferRelativeResize="0"/>
          <p:nvPr/>
        </p:nvPicPr>
        <p:blipFill rotWithShape="1">
          <a:blip r:embed="rId3">
            <a:alphaModFix amt="15000"/>
          </a:blip>
          <a:srcRect b="-1" l="0" r="0" t="20071"/>
          <a:stretch/>
        </p:blipFill>
        <p:spPr>
          <a:xfrm>
            <a:off x="-381000" y="-214312"/>
            <a:ext cx="12954000" cy="7286625"/>
          </a:xfrm>
          <a:prstGeom prst="rect">
            <a:avLst/>
          </a:prstGeom>
          <a:noFill/>
          <a:ln>
            <a:noFill/>
          </a:ln>
        </p:spPr>
      </p:pic>
      <p:grpSp>
        <p:nvGrpSpPr>
          <p:cNvPr id="527" name="Google Shape;527;p36"/>
          <p:cNvGrpSpPr/>
          <p:nvPr/>
        </p:nvGrpSpPr>
        <p:grpSpPr>
          <a:xfrm>
            <a:off x="7235" y="17004"/>
            <a:ext cx="12192000" cy="6840996"/>
            <a:chOff x="7235" y="17004"/>
            <a:chExt cx="12192000" cy="6840996"/>
          </a:xfrm>
        </p:grpSpPr>
        <p:cxnSp>
          <p:nvCxnSpPr>
            <p:cNvPr id="528" name="Google Shape;528;p36"/>
            <p:cNvCxnSpPr/>
            <p:nvPr/>
          </p:nvCxnSpPr>
          <p:spPr>
            <a:xfrm>
              <a:off x="7235" y="415284"/>
              <a:ext cx="12192000" cy="1"/>
            </a:xfrm>
            <a:prstGeom prst="straightConnector1">
              <a:avLst/>
            </a:prstGeom>
            <a:noFill/>
            <a:ln cap="flat" cmpd="sng" w="12700">
              <a:solidFill>
                <a:srgbClr val="7F7F7F">
                  <a:alpha val="23921"/>
                </a:srgbClr>
              </a:solidFill>
              <a:prstDash val="solid"/>
              <a:miter lim="8000"/>
              <a:headEnd len="sm" w="sm" type="none"/>
              <a:tailEnd len="sm" w="sm" type="none"/>
            </a:ln>
          </p:spPr>
        </p:cxnSp>
        <p:cxnSp>
          <p:nvCxnSpPr>
            <p:cNvPr id="529" name="Google Shape;529;p36"/>
            <p:cNvCxnSpPr/>
            <p:nvPr/>
          </p:nvCxnSpPr>
          <p:spPr>
            <a:xfrm flipH="1" rot="10800000">
              <a:off x="11903226" y="17004"/>
              <a:ext cx="2592" cy="6840996"/>
            </a:xfrm>
            <a:prstGeom prst="straightConnector1">
              <a:avLst/>
            </a:prstGeom>
            <a:noFill/>
            <a:ln cap="flat" cmpd="sng" w="12700">
              <a:solidFill>
                <a:srgbClr val="7F7F7F">
                  <a:alpha val="23921"/>
                </a:srgbClr>
              </a:solidFill>
              <a:prstDash val="solid"/>
              <a:miter lim="8000"/>
              <a:headEnd len="sm" w="sm" type="none"/>
              <a:tailEnd len="sm" w="sm" type="none"/>
            </a:ln>
          </p:spPr>
        </p:cxnSp>
        <p:cxnSp>
          <p:nvCxnSpPr>
            <p:cNvPr id="530" name="Google Shape;530;p36"/>
            <p:cNvCxnSpPr/>
            <p:nvPr/>
          </p:nvCxnSpPr>
          <p:spPr>
            <a:xfrm>
              <a:off x="7235" y="6481744"/>
              <a:ext cx="12192000" cy="1"/>
            </a:xfrm>
            <a:prstGeom prst="straightConnector1">
              <a:avLst/>
            </a:prstGeom>
            <a:noFill/>
            <a:ln cap="flat" cmpd="sng" w="12700">
              <a:solidFill>
                <a:srgbClr val="7F7F7F">
                  <a:alpha val="23921"/>
                </a:srgbClr>
              </a:solidFill>
              <a:prstDash val="solid"/>
              <a:miter lim="8000"/>
              <a:headEnd len="sm" w="sm" type="none"/>
              <a:tailEnd len="sm" w="sm" type="none"/>
            </a:ln>
          </p:spPr>
        </p:cxnSp>
        <p:cxnSp>
          <p:nvCxnSpPr>
            <p:cNvPr id="531" name="Google Shape;531;p36"/>
            <p:cNvCxnSpPr/>
            <p:nvPr/>
          </p:nvCxnSpPr>
          <p:spPr>
            <a:xfrm flipH="1" rot="10800000">
              <a:off x="582979" y="17004"/>
              <a:ext cx="2592" cy="6840995"/>
            </a:xfrm>
            <a:prstGeom prst="straightConnector1">
              <a:avLst/>
            </a:prstGeom>
            <a:noFill/>
            <a:ln cap="flat" cmpd="sng" w="12700">
              <a:solidFill>
                <a:srgbClr val="7F7F7F">
                  <a:alpha val="23921"/>
                </a:srgbClr>
              </a:solidFill>
              <a:prstDash val="solid"/>
              <a:miter lim="8000"/>
              <a:headEnd len="sm" w="sm" type="none"/>
              <a:tailEnd len="sm" w="sm" type="none"/>
            </a:ln>
          </p:spPr>
        </p:cxnSp>
      </p:grpSp>
      <p:sp>
        <p:nvSpPr>
          <p:cNvPr id="532" name="Google Shape;532;p36"/>
          <p:cNvSpPr/>
          <p:nvPr/>
        </p:nvSpPr>
        <p:spPr>
          <a:xfrm>
            <a:off x="542793" y="420489"/>
            <a:ext cx="608776" cy="608577"/>
          </a:xfrm>
          <a:custGeom>
            <a:rect b="b" l="l" r="r" t="t"/>
            <a:pathLst>
              <a:path extrusionOk="0" h="20595" w="20596">
                <a:moveTo>
                  <a:pt x="0" y="0"/>
                </a:moveTo>
                <a:lnTo>
                  <a:pt x="0" y="11107"/>
                </a:lnTo>
                <a:lnTo>
                  <a:pt x="94" y="11107"/>
                </a:lnTo>
                <a:cubicBezTo>
                  <a:pt x="279" y="13466"/>
                  <a:pt x="1231" y="15777"/>
                  <a:pt x="3034" y="17581"/>
                </a:cubicBezTo>
                <a:cubicBezTo>
                  <a:pt x="7052" y="21600"/>
                  <a:pt x="13565" y="21600"/>
                  <a:pt x="17582" y="17581"/>
                </a:cubicBezTo>
                <a:cubicBezTo>
                  <a:pt x="21600" y="13562"/>
                  <a:pt x="21600" y="7041"/>
                  <a:pt x="17582" y="3022"/>
                </a:cubicBezTo>
                <a:cubicBezTo>
                  <a:pt x="15747" y="1186"/>
                  <a:pt x="13391" y="239"/>
                  <a:pt x="10990" y="81"/>
                </a:cubicBezTo>
                <a:lnTo>
                  <a:pt x="10990" y="0"/>
                </a:lnTo>
                <a:lnTo>
                  <a:pt x="0" y="0"/>
                </a:lnTo>
                <a:close/>
                <a:moveTo>
                  <a:pt x="4404" y="10496"/>
                </a:moveTo>
                <a:lnTo>
                  <a:pt x="16213" y="10496"/>
                </a:lnTo>
                <a:cubicBezTo>
                  <a:pt x="16214" y="12009"/>
                  <a:pt x="15634" y="13519"/>
                  <a:pt x="14481" y="14673"/>
                </a:cubicBezTo>
                <a:cubicBezTo>
                  <a:pt x="12176" y="16979"/>
                  <a:pt x="8441" y="16979"/>
                  <a:pt x="6136" y="14673"/>
                </a:cubicBezTo>
                <a:cubicBezTo>
                  <a:pt x="4982" y="13519"/>
                  <a:pt x="4403" y="12009"/>
                  <a:pt x="4404" y="10496"/>
                </a:cubicBezTo>
                <a:close/>
              </a:path>
            </a:pathLst>
          </a:cu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3" name="Google Shape;533;p36"/>
          <p:cNvSpPr txBox="1"/>
          <p:nvPr/>
        </p:nvSpPr>
        <p:spPr>
          <a:xfrm>
            <a:off x="5406224" y="2345284"/>
            <a:ext cx="5785007" cy="20307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accent1"/>
                </a:solidFill>
                <a:latin typeface="Catamaran"/>
                <a:ea typeface="Catamaran"/>
                <a:cs typeface="Catamaran"/>
                <a:sym typeface="Catamaran"/>
              </a:rPr>
              <a:t>Conclusion &amp; Limitation</a:t>
            </a:r>
            <a:endParaRPr b="1" i="0" sz="1800" u="none" cap="none" strike="noStrike">
              <a:solidFill>
                <a:srgbClr val="000000"/>
              </a:solidFill>
              <a:latin typeface="Catamaran"/>
              <a:ea typeface="Catamaran"/>
              <a:cs typeface="Catamaran"/>
              <a:sym typeface="Catamaran"/>
            </a:endParaRPr>
          </a:p>
        </p:txBody>
      </p:sp>
      <p:sp>
        <p:nvSpPr>
          <p:cNvPr id="534" name="Google Shape;534;p36"/>
          <p:cNvSpPr txBox="1"/>
          <p:nvPr/>
        </p:nvSpPr>
        <p:spPr>
          <a:xfrm rot="-5400000">
            <a:off x="-16860" y="2756059"/>
            <a:ext cx="1185294" cy="1151569"/>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5" name="Google Shape;535;p36"/>
          <p:cNvSpPr txBox="1"/>
          <p:nvPr/>
        </p:nvSpPr>
        <p:spPr>
          <a:xfrm>
            <a:off x="2030388" y="1919063"/>
            <a:ext cx="2825563" cy="2825563"/>
          </a:xfrm>
          <a:prstGeom prst="rect">
            <a:avLst/>
          </a:prstGeom>
          <a:solidFill>
            <a:schemeClr val="accent1"/>
          </a:solidFill>
          <a:ln>
            <a:noFill/>
          </a:ln>
        </p:spPr>
        <p:txBody>
          <a:bodyPr anchorCtr="0" anchor="ctr" bIns="108000" lIns="108000" spcFirstLastPara="1" rIns="108000" wrap="square" tIns="108000">
            <a:noAutofit/>
          </a:bodyPr>
          <a:lstStyle/>
          <a:p>
            <a:pPr indent="0" lvl="0" marL="0" marR="0" rtl="0" algn="ctr">
              <a:lnSpc>
                <a:spcPct val="100000"/>
              </a:lnSpc>
              <a:spcBef>
                <a:spcPts val="0"/>
              </a:spcBef>
              <a:spcAft>
                <a:spcPts val="0"/>
              </a:spcAft>
              <a:buClr>
                <a:srgbClr val="000000"/>
              </a:buClr>
              <a:buSzPts val="7658"/>
              <a:buFont typeface="Arial"/>
              <a:buNone/>
            </a:pPr>
            <a:r>
              <a:rPr b="1" i="0" lang="en-US" sz="7658" u="none" cap="none" strike="noStrike">
                <a:solidFill>
                  <a:srgbClr val="FFFFFF"/>
                </a:solidFill>
                <a:latin typeface="Catamaran"/>
                <a:ea typeface="Catamaran"/>
                <a:cs typeface="Catamaran"/>
                <a:sym typeface="Catamaran"/>
              </a:rPr>
              <a:t>06</a:t>
            </a:r>
            <a:endParaRPr b="1" i="0" sz="1800" u="none" cap="none" strike="noStrike">
              <a:solidFill>
                <a:srgbClr val="000000"/>
              </a:solidFill>
              <a:latin typeface="Catamaran"/>
              <a:ea typeface="Catamaran"/>
              <a:cs typeface="Catamaran"/>
              <a:sym typeface="Catamaran"/>
            </a:endParaRPr>
          </a:p>
        </p:txBody>
      </p:sp>
      <p:grpSp>
        <p:nvGrpSpPr>
          <p:cNvPr id="536" name="Google Shape;536;p36"/>
          <p:cNvGrpSpPr/>
          <p:nvPr/>
        </p:nvGrpSpPr>
        <p:grpSpPr>
          <a:xfrm>
            <a:off x="2603430" y="5162498"/>
            <a:ext cx="1679478" cy="300458"/>
            <a:chOff x="2603430" y="5162498"/>
            <a:chExt cx="1679478" cy="300458"/>
          </a:xfrm>
        </p:grpSpPr>
        <p:sp>
          <p:nvSpPr>
            <p:cNvPr id="537" name="Google Shape;537;p36"/>
            <p:cNvSpPr/>
            <p:nvPr/>
          </p:nvSpPr>
          <p:spPr>
            <a:xfrm flipH="1">
              <a:off x="3139976" y="5282838"/>
              <a:ext cx="59777" cy="59777"/>
            </a:xfrm>
            <a:prstGeom prst="ellipse">
              <a:avLst/>
            </a:pr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8" name="Google Shape;538;p36"/>
            <p:cNvSpPr/>
            <p:nvPr/>
          </p:nvSpPr>
          <p:spPr>
            <a:xfrm flipH="1">
              <a:off x="3276628"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9" name="Google Shape;539;p36"/>
            <p:cNvSpPr/>
            <p:nvPr/>
          </p:nvSpPr>
          <p:spPr>
            <a:xfrm flipH="1">
              <a:off x="3413281"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0" name="Google Shape;540;p36"/>
            <p:cNvSpPr/>
            <p:nvPr/>
          </p:nvSpPr>
          <p:spPr>
            <a:xfrm flipH="1">
              <a:off x="3549933"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1" name="Google Shape;541;p36"/>
            <p:cNvSpPr/>
            <p:nvPr/>
          </p:nvSpPr>
          <p:spPr>
            <a:xfrm flipH="1">
              <a:off x="3686586" y="5282838"/>
              <a:ext cx="59777" cy="59777"/>
            </a:xfrm>
            <a:prstGeom prst="ellipse">
              <a:avLst/>
            </a:prstGeom>
            <a:solidFill>
              <a:srgbClr val="595959">
                <a:alpha val="2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2" name="Google Shape;542;p36"/>
            <p:cNvSpPr txBox="1"/>
            <p:nvPr/>
          </p:nvSpPr>
          <p:spPr>
            <a:xfrm flipH="1">
              <a:off x="3982450" y="5162498"/>
              <a:ext cx="300458" cy="30045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43" name="Google Shape;543;p36"/>
            <p:cNvCxnSpPr/>
            <p:nvPr/>
          </p:nvCxnSpPr>
          <p:spPr>
            <a:xfrm>
              <a:off x="4070609" y="5312726"/>
              <a:ext cx="124140" cy="0"/>
            </a:xfrm>
            <a:prstGeom prst="straightConnector1">
              <a:avLst/>
            </a:prstGeom>
            <a:noFill/>
            <a:ln cap="flat" cmpd="sng" w="12700">
              <a:solidFill>
                <a:srgbClr val="FFFFFF"/>
              </a:solidFill>
              <a:prstDash val="solid"/>
              <a:miter lim="8000"/>
              <a:headEnd len="sm" w="sm" type="none"/>
              <a:tailEnd len="sm" w="sm" type="none"/>
            </a:ln>
          </p:spPr>
        </p:cxnSp>
        <p:sp>
          <p:nvSpPr>
            <p:cNvPr id="544" name="Google Shape;544;p36"/>
            <p:cNvSpPr/>
            <p:nvPr/>
          </p:nvSpPr>
          <p:spPr>
            <a:xfrm rot="-2700000">
              <a:off x="4099827" y="5269352"/>
              <a:ext cx="86749" cy="86749"/>
            </a:xfrm>
            <a:custGeom>
              <a:rect b="b" l="l" r="r" t="t"/>
              <a:pathLst>
                <a:path extrusionOk="0" h="252248" w="252248">
                  <a:moveTo>
                    <a:pt x="252248" y="0"/>
                  </a:moveTo>
                  <a:lnTo>
                    <a:pt x="252248" y="252248"/>
                  </a:lnTo>
                  <a:lnTo>
                    <a:pt x="0" y="252248"/>
                  </a:lnTo>
                </a:path>
              </a:pathLst>
            </a:custGeom>
            <a:noFill/>
            <a:ln cap="flat" cmpd="sng" w="12700">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5" name="Google Shape;545;p36"/>
            <p:cNvSpPr txBox="1"/>
            <p:nvPr/>
          </p:nvSpPr>
          <p:spPr>
            <a:xfrm>
              <a:off x="2603430" y="5162498"/>
              <a:ext cx="300458" cy="300458"/>
            </a:xfrm>
            <a:prstGeom prst="rect">
              <a:avLst/>
            </a:prstGeom>
            <a:solidFill>
              <a:srgbClr val="7F7F7F">
                <a:alpha val="14117"/>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46" name="Google Shape;546;p36"/>
            <p:cNvCxnSpPr/>
            <p:nvPr/>
          </p:nvCxnSpPr>
          <p:spPr>
            <a:xfrm rot="10800000">
              <a:off x="2691590" y="5312726"/>
              <a:ext cx="124140" cy="0"/>
            </a:xfrm>
            <a:prstGeom prst="straightConnector1">
              <a:avLst/>
            </a:prstGeom>
            <a:noFill/>
            <a:ln cap="flat" cmpd="sng" w="12700">
              <a:solidFill>
                <a:schemeClr val="dk1"/>
              </a:solidFill>
              <a:prstDash val="solid"/>
              <a:miter lim="8000"/>
              <a:headEnd len="sm" w="sm" type="none"/>
              <a:tailEnd len="sm" w="sm" type="none"/>
            </a:ln>
          </p:spPr>
        </p:cxnSp>
        <p:sp>
          <p:nvSpPr>
            <p:cNvPr id="547" name="Google Shape;547;p36"/>
            <p:cNvSpPr/>
            <p:nvPr/>
          </p:nvSpPr>
          <p:spPr>
            <a:xfrm flipH="1" rot="2700000">
              <a:off x="2699763" y="5269352"/>
              <a:ext cx="86749" cy="86749"/>
            </a:xfrm>
            <a:custGeom>
              <a:rect b="b" l="l" r="r" t="t"/>
              <a:pathLst>
                <a:path extrusionOk="0" h="252248" w="252248">
                  <a:moveTo>
                    <a:pt x="252248" y="0"/>
                  </a:moveTo>
                  <a:lnTo>
                    <a:pt x="252248" y="252248"/>
                  </a:lnTo>
                  <a:lnTo>
                    <a:pt x="0" y="252248"/>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g2d0c9c23082_0_8"/>
          <p:cNvSpPr txBox="1"/>
          <p:nvPr/>
        </p:nvSpPr>
        <p:spPr>
          <a:xfrm>
            <a:off x="780300" y="664142"/>
            <a:ext cx="10745700" cy="4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accent1"/>
                </a:solidFill>
                <a:latin typeface="Catamaran"/>
                <a:ea typeface="Catamaran"/>
                <a:cs typeface="Catamaran"/>
                <a:sym typeface="Catamaran"/>
              </a:rPr>
              <a:t>Results &amp; Discussion</a:t>
            </a:r>
            <a:endParaRPr b="1" i="0" sz="3600" u="none" cap="none" strike="noStrike">
              <a:solidFill>
                <a:schemeClr val="accent1"/>
              </a:solidFill>
              <a:latin typeface="Catamaran"/>
              <a:ea typeface="Catamaran"/>
              <a:cs typeface="Catamaran"/>
              <a:sym typeface="Catamaran"/>
            </a:endParaRPr>
          </a:p>
        </p:txBody>
      </p:sp>
      <p:sp>
        <p:nvSpPr>
          <p:cNvPr id="553" name="Google Shape;553;g2d0c9c23082_0_8"/>
          <p:cNvSpPr/>
          <p:nvPr/>
        </p:nvSpPr>
        <p:spPr>
          <a:xfrm>
            <a:off x="264152" y="277385"/>
            <a:ext cx="360094" cy="285770"/>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4" name="Google Shape;554;g2d0c9c23082_0_8"/>
          <p:cNvSpPr txBox="1"/>
          <p:nvPr/>
        </p:nvSpPr>
        <p:spPr>
          <a:xfrm>
            <a:off x="710350" y="1343175"/>
            <a:ext cx="10564800" cy="50112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1200"/>
              </a:spcBef>
              <a:spcAft>
                <a:spcPts val="0"/>
              </a:spcAft>
              <a:buClr>
                <a:schemeClr val="dk1"/>
              </a:buClr>
              <a:buSzPts val="1100"/>
              <a:buFont typeface="Arial"/>
              <a:buNone/>
            </a:pPr>
            <a:r>
              <a:rPr b="1" i="0" lang="en-US" sz="2000" u="none" cap="none" strike="noStrike">
                <a:solidFill>
                  <a:srgbClr val="0D0D0D"/>
                </a:solidFill>
                <a:highlight>
                  <a:srgbClr val="FFFFFF"/>
                </a:highlight>
                <a:latin typeface="Roboto"/>
                <a:ea typeface="Roboto"/>
                <a:cs typeface="Roboto"/>
                <a:sym typeface="Roboto"/>
              </a:rPr>
              <a:t>Overview of Model Performance</a:t>
            </a:r>
            <a:endParaRPr b="0" i="0" sz="2000" u="none" cap="none" strike="noStrike">
              <a:solidFill>
                <a:srgbClr val="0D0D0D"/>
              </a:solidFill>
              <a:highlight>
                <a:srgbClr val="FFFFFF"/>
              </a:highlight>
              <a:latin typeface="Roboto"/>
              <a:ea typeface="Roboto"/>
              <a:cs typeface="Roboto"/>
              <a:sym typeface="Roboto"/>
            </a:endParaRPr>
          </a:p>
          <a:p>
            <a:pPr indent="-355600" lvl="0" marL="457200" marR="0" rtl="0" algn="l">
              <a:lnSpc>
                <a:spcPct val="115000"/>
              </a:lnSpc>
              <a:spcBef>
                <a:spcPts val="200"/>
              </a:spcBef>
              <a:spcAft>
                <a:spcPts val="0"/>
              </a:spcAft>
              <a:buClr>
                <a:srgbClr val="0D0D0D"/>
              </a:buClr>
              <a:buSzPts val="2000"/>
              <a:buFont typeface="Roboto"/>
              <a:buChar char="●"/>
            </a:pPr>
            <a:r>
              <a:rPr b="0" i="0" lang="en-US" sz="2000" u="none" cap="none" strike="noStrike">
                <a:solidFill>
                  <a:srgbClr val="0D0D0D"/>
                </a:solidFill>
                <a:highlight>
                  <a:srgbClr val="FFFFFF"/>
                </a:highlight>
                <a:latin typeface="Roboto"/>
                <a:ea typeface="Roboto"/>
                <a:cs typeface="Roboto"/>
                <a:sym typeface="Roboto"/>
              </a:rPr>
              <a:t>Linear Regression: R² = 0.40, MSE = 6,281</a:t>
            </a:r>
            <a:endParaRPr b="0" i="0" sz="2000" u="none" cap="none" strike="noStrike">
              <a:solidFill>
                <a:srgbClr val="0D0D0D"/>
              </a:solidFill>
              <a:highlight>
                <a:srgbClr val="FFFFFF"/>
              </a:highlight>
              <a:latin typeface="Roboto"/>
              <a:ea typeface="Roboto"/>
              <a:cs typeface="Roboto"/>
              <a:sym typeface="Roboto"/>
            </a:endParaRPr>
          </a:p>
          <a:p>
            <a:pPr indent="-355600" lvl="0" marL="457200" marR="0" rtl="0" algn="l">
              <a:lnSpc>
                <a:spcPct val="115000"/>
              </a:lnSpc>
              <a:spcBef>
                <a:spcPts val="0"/>
              </a:spcBef>
              <a:spcAft>
                <a:spcPts val="0"/>
              </a:spcAft>
              <a:buClr>
                <a:srgbClr val="0D0D0D"/>
              </a:buClr>
              <a:buSzPts val="2000"/>
              <a:buFont typeface="Roboto"/>
              <a:buChar char="●"/>
            </a:pPr>
            <a:r>
              <a:rPr b="0" i="0" lang="en-US" sz="2000" u="none" cap="none" strike="noStrike">
                <a:solidFill>
                  <a:srgbClr val="0D0D0D"/>
                </a:solidFill>
                <a:highlight>
                  <a:srgbClr val="FFFFFF"/>
                </a:highlight>
                <a:latin typeface="Roboto"/>
                <a:ea typeface="Roboto"/>
                <a:cs typeface="Roboto"/>
                <a:sym typeface="Roboto"/>
              </a:rPr>
              <a:t>Random Forest: R² = 0.47, MSE = 5,576</a:t>
            </a:r>
            <a:endParaRPr b="0" i="0" sz="2000" u="none" cap="none" strike="noStrike">
              <a:solidFill>
                <a:srgbClr val="0D0D0D"/>
              </a:solidFill>
              <a:highlight>
                <a:srgbClr val="FFFFFF"/>
              </a:highlight>
              <a:latin typeface="Roboto"/>
              <a:ea typeface="Roboto"/>
              <a:cs typeface="Roboto"/>
              <a:sym typeface="Roboto"/>
            </a:endParaRPr>
          </a:p>
          <a:p>
            <a:pPr indent="-355600" lvl="0" marL="457200" marR="0" rtl="0" algn="l">
              <a:lnSpc>
                <a:spcPct val="115000"/>
              </a:lnSpc>
              <a:spcBef>
                <a:spcPts val="0"/>
              </a:spcBef>
              <a:spcAft>
                <a:spcPts val="0"/>
              </a:spcAft>
              <a:buClr>
                <a:srgbClr val="0D0D0D"/>
              </a:buClr>
              <a:buSzPts val="2000"/>
              <a:buFont typeface="Roboto"/>
              <a:buChar char="●"/>
            </a:pPr>
            <a:r>
              <a:rPr b="0" i="0" lang="en-US" sz="2000" u="none" cap="none" strike="noStrike">
                <a:solidFill>
                  <a:srgbClr val="0D0D0D"/>
                </a:solidFill>
                <a:highlight>
                  <a:srgbClr val="FFFFFF"/>
                </a:highlight>
                <a:latin typeface="Roboto"/>
                <a:ea typeface="Roboto"/>
                <a:cs typeface="Roboto"/>
                <a:sym typeface="Roboto"/>
              </a:rPr>
              <a:t>Gradient Boosting: Initial R² = 0.46, MSE = 5,707</a:t>
            </a:r>
            <a:endParaRPr b="0" i="0" sz="2000" u="none" cap="none" strike="noStrike">
              <a:solidFill>
                <a:srgbClr val="0D0D0D"/>
              </a:solidFill>
              <a:highlight>
                <a:srgbClr val="FFFFFF"/>
              </a:highlight>
              <a:latin typeface="Roboto"/>
              <a:ea typeface="Roboto"/>
              <a:cs typeface="Roboto"/>
              <a:sym typeface="Roboto"/>
            </a:endParaRPr>
          </a:p>
          <a:p>
            <a:pPr indent="-355600" lvl="0" marL="457200" marR="0" rtl="0" algn="l">
              <a:lnSpc>
                <a:spcPct val="115000"/>
              </a:lnSpc>
              <a:spcBef>
                <a:spcPts val="0"/>
              </a:spcBef>
              <a:spcAft>
                <a:spcPts val="0"/>
              </a:spcAft>
              <a:buClr>
                <a:srgbClr val="0D0D0D"/>
              </a:buClr>
              <a:buSzPts val="2000"/>
              <a:buFont typeface="Roboto"/>
              <a:buChar char="●"/>
            </a:pPr>
            <a:r>
              <a:rPr b="0" i="0" lang="en-US" sz="2000" u="none" cap="none" strike="noStrike">
                <a:solidFill>
                  <a:srgbClr val="0D0D0D"/>
                </a:solidFill>
                <a:highlight>
                  <a:srgbClr val="FFFFFF"/>
                </a:highlight>
                <a:latin typeface="Roboto"/>
                <a:ea typeface="Roboto"/>
                <a:cs typeface="Roboto"/>
                <a:sym typeface="Roboto"/>
              </a:rPr>
              <a:t>Improved Gradient Boosting with Hyperparameter Tuning: R² = 0.46, MSE = 5,692</a:t>
            </a:r>
            <a:endParaRPr b="0" i="0" sz="2000" u="none" cap="none" strike="noStrike">
              <a:solidFill>
                <a:srgbClr val="0D0D0D"/>
              </a:solidFill>
              <a:highlight>
                <a:srgbClr val="FFFFFF"/>
              </a:highlight>
              <a:latin typeface="Roboto"/>
              <a:ea typeface="Roboto"/>
              <a:cs typeface="Roboto"/>
              <a:sym typeface="Roboto"/>
            </a:endParaRPr>
          </a:p>
          <a:p>
            <a:pPr indent="-355600" lvl="0" marL="457200" marR="0" rtl="0" algn="l">
              <a:lnSpc>
                <a:spcPct val="115000"/>
              </a:lnSpc>
              <a:spcBef>
                <a:spcPts val="0"/>
              </a:spcBef>
              <a:spcAft>
                <a:spcPts val="0"/>
              </a:spcAft>
              <a:buClr>
                <a:srgbClr val="0D0D0D"/>
              </a:buClr>
              <a:buSzPts val="2000"/>
              <a:buFont typeface="Roboto"/>
              <a:buChar char="●"/>
            </a:pPr>
            <a:r>
              <a:rPr b="0" i="0" lang="en-US" sz="2000" u="none" cap="none" strike="noStrike">
                <a:solidFill>
                  <a:srgbClr val="0D0D0D"/>
                </a:solidFill>
                <a:highlight>
                  <a:srgbClr val="FFFFFF"/>
                </a:highlight>
                <a:latin typeface="Roboto"/>
                <a:ea typeface="Roboto"/>
                <a:cs typeface="Roboto"/>
                <a:sym typeface="Roboto"/>
              </a:rPr>
              <a:t>Advanced Gradient Boosting with Feature Engineering: R² = 0.48, MSE = 5,541</a:t>
            </a:r>
            <a:endParaRPr b="0" i="0" sz="2000" u="none" cap="none" strike="noStrike">
              <a:solidFill>
                <a:srgbClr val="0D0D0D"/>
              </a:solidFill>
              <a:highlight>
                <a:srgbClr val="FFFFFF"/>
              </a:highlight>
              <a:latin typeface="Roboto"/>
              <a:ea typeface="Roboto"/>
              <a:cs typeface="Roboto"/>
              <a:sym typeface="Roboto"/>
            </a:endParaRPr>
          </a:p>
          <a:p>
            <a:pPr indent="-342900" lvl="0" marL="457200" marR="0" rtl="0" algn="l">
              <a:lnSpc>
                <a:spcPct val="115000"/>
              </a:lnSpc>
              <a:spcBef>
                <a:spcPts val="0"/>
              </a:spcBef>
              <a:spcAft>
                <a:spcPts val="0"/>
              </a:spcAft>
              <a:buClr>
                <a:srgbClr val="0D0D0D"/>
              </a:buClr>
              <a:buSzPts val="1800"/>
              <a:buFont typeface="Roboto"/>
              <a:buChar char="●"/>
            </a:pPr>
            <a:r>
              <a:rPr b="0" i="0" lang="en-US" sz="2000" u="none" cap="none" strike="noStrike">
                <a:solidFill>
                  <a:srgbClr val="0D0D0D"/>
                </a:solidFill>
                <a:highlight>
                  <a:srgbClr val="FFFFFF"/>
                </a:highlight>
                <a:latin typeface="Roboto"/>
                <a:ea typeface="Roboto"/>
                <a:cs typeface="Roboto"/>
                <a:sym typeface="Roboto"/>
              </a:rPr>
              <a:t>GridSearchCV: R² = 0.51, MSE = 5,238</a:t>
            </a:r>
            <a:endParaRPr b="0" i="0" sz="2000" u="none" cap="none" strike="noStrike">
              <a:solidFill>
                <a:srgbClr val="0D0D0D"/>
              </a:solidFill>
              <a:highlight>
                <a:srgbClr val="FFFFFF"/>
              </a:highlight>
              <a:latin typeface="Roboto"/>
              <a:ea typeface="Roboto"/>
              <a:cs typeface="Roboto"/>
              <a:sym typeface="Roboto"/>
            </a:endParaRPr>
          </a:p>
          <a:p>
            <a:pPr indent="-355600" lvl="0" marL="457200" marR="0" rtl="0" algn="l">
              <a:lnSpc>
                <a:spcPct val="115000"/>
              </a:lnSpc>
              <a:spcBef>
                <a:spcPts val="0"/>
              </a:spcBef>
              <a:spcAft>
                <a:spcPts val="0"/>
              </a:spcAft>
              <a:buClr>
                <a:srgbClr val="0D0D0D"/>
              </a:buClr>
              <a:buSzPts val="2000"/>
              <a:buFont typeface="Roboto"/>
              <a:buChar char="●"/>
            </a:pPr>
            <a:r>
              <a:rPr b="0" i="0" lang="en-US" sz="2000" u="none" cap="none" strike="noStrike">
                <a:solidFill>
                  <a:srgbClr val="0D0D0D"/>
                </a:solidFill>
                <a:highlight>
                  <a:srgbClr val="FFFFFF"/>
                </a:highlight>
                <a:latin typeface="Roboto"/>
                <a:ea typeface="Roboto"/>
                <a:cs typeface="Roboto"/>
                <a:sym typeface="Roboto"/>
              </a:rPr>
              <a:t>Deep Learning Model: R² = 0.564, MSE = 2019</a:t>
            </a:r>
            <a:endParaRPr b="0" i="0" sz="2000" u="none" cap="none" strike="noStrike">
              <a:solidFill>
                <a:srgbClr val="0D0D0D"/>
              </a:solidFill>
              <a:highlight>
                <a:srgbClr val="FFFFFF"/>
              </a:highlight>
              <a:latin typeface="Roboto"/>
              <a:ea typeface="Roboto"/>
              <a:cs typeface="Roboto"/>
              <a:sym typeface="Roboto"/>
            </a:endParaRPr>
          </a:p>
          <a:p>
            <a:pPr indent="0" lvl="0" marL="0" marR="0" rtl="0" algn="l">
              <a:lnSpc>
                <a:spcPct val="115000"/>
              </a:lnSpc>
              <a:spcBef>
                <a:spcPts val="1200"/>
              </a:spcBef>
              <a:spcAft>
                <a:spcPts val="0"/>
              </a:spcAft>
              <a:buClr>
                <a:srgbClr val="000000"/>
              </a:buClr>
              <a:buSzPts val="1400"/>
              <a:buFont typeface="Arial"/>
              <a:buNone/>
            </a:pPr>
            <a:r>
              <a:t/>
            </a:r>
            <a:endParaRPr b="0" i="0" sz="1400" u="none" cap="none" strike="noStrike">
              <a:solidFill>
                <a:srgbClr val="0D0D0D"/>
              </a:solidFill>
              <a:highlight>
                <a:srgbClr val="FFFFFF"/>
              </a:highlight>
              <a:latin typeface="Roboto"/>
              <a:ea typeface="Roboto"/>
              <a:cs typeface="Roboto"/>
              <a:sym typeface="Roboto"/>
            </a:endParaRPr>
          </a:p>
          <a:p>
            <a:pPr indent="0" lvl="0" marL="0" marR="0" rtl="0" algn="l">
              <a:lnSpc>
                <a:spcPct val="115000"/>
              </a:lnSpc>
              <a:spcBef>
                <a:spcPts val="1200"/>
              </a:spcBef>
              <a:spcAft>
                <a:spcPts val="0"/>
              </a:spcAft>
              <a:buClr>
                <a:srgbClr val="000000"/>
              </a:buClr>
              <a:buSzPts val="1200"/>
              <a:buFont typeface="Arial"/>
              <a:buNone/>
            </a:pPr>
            <a:r>
              <a:t/>
            </a:r>
            <a:endParaRPr b="0" i="0" sz="1200" u="none" cap="none" strike="noStrike">
              <a:solidFill>
                <a:srgbClr val="0D0D0D"/>
              </a:solidFill>
              <a:highlight>
                <a:srgbClr val="FFFFFF"/>
              </a:highlight>
              <a:latin typeface="Roboto"/>
              <a:ea typeface="Roboto"/>
              <a:cs typeface="Roboto"/>
              <a:sym typeface="Roboto"/>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4313"/>
          </a:schemeClr>
        </a:solidFill>
      </p:bgPr>
    </p:bg>
    <p:spTree>
      <p:nvGrpSpPr>
        <p:cNvPr id="558" name="Shape 558"/>
        <p:cNvGrpSpPr/>
        <p:nvPr/>
      </p:nvGrpSpPr>
      <p:grpSpPr>
        <a:xfrm>
          <a:off x="0" y="0"/>
          <a:ext cx="0" cy="0"/>
          <a:chOff x="0" y="0"/>
          <a:chExt cx="0" cy="0"/>
        </a:xfrm>
      </p:grpSpPr>
      <p:sp>
        <p:nvSpPr>
          <p:cNvPr id="559" name="Google Shape;559;g2d0c9c23082_0_13"/>
          <p:cNvSpPr txBox="1"/>
          <p:nvPr/>
        </p:nvSpPr>
        <p:spPr>
          <a:xfrm>
            <a:off x="0" y="0"/>
            <a:ext cx="12306300" cy="6997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60" name="Google Shape;560;g2d0c9c23082_0_13"/>
          <p:cNvPicPr preferRelativeResize="0"/>
          <p:nvPr/>
        </p:nvPicPr>
        <p:blipFill rotWithShape="1">
          <a:blip r:embed="rId3">
            <a:alphaModFix amt="15000"/>
          </a:blip>
          <a:srcRect b="0" l="0" r="0" t="20070"/>
          <a:stretch/>
        </p:blipFill>
        <p:spPr>
          <a:xfrm>
            <a:off x="-381000" y="-214312"/>
            <a:ext cx="12954000" cy="7286625"/>
          </a:xfrm>
          <a:prstGeom prst="rect">
            <a:avLst/>
          </a:prstGeom>
          <a:noFill/>
          <a:ln>
            <a:noFill/>
          </a:ln>
        </p:spPr>
      </p:pic>
      <p:grpSp>
        <p:nvGrpSpPr>
          <p:cNvPr id="561" name="Google Shape;561;g2d0c9c23082_0_13"/>
          <p:cNvGrpSpPr/>
          <p:nvPr/>
        </p:nvGrpSpPr>
        <p:grpSpPr>
          <a:xfrm>
            <a:off x="5797026" y="6550320"/>
            <a:ext cx="597900" cy="615300"/>
            <a:chOff x="5797026" y="6550320"/>
            <a:chExt cx="597900" cy="615300"/>
          </a:xfrm>
        </p:grpSpPr>
        <p:sp>
          <p:nvSpPr>
            <p:cNvPr id="562" name="Google Shape;562;g2d0c9c23082_0_13"/>
            <p:cNvSpPr txBox="1"/>
            <p:nvPr/>
          </p:nvSpPr>
          <p:spPr>
            <a:xfrm rot="5400000">
              <a:off x="5788326" y="6559020"/>
              <a:ext cx="615300" cy="5979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3" name="Google Shape;563;g2d0c9c23082_0_13"/>
            <p:cNvSpPr/>
            <p:nvPr/>
          </p:nvSpPr>
          <p:spPr>
            <a:xfrm>
              <a:off x="5988050" y="6647010"/>
              <a:ext cx="216000" cy="11430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64" name="Google Shape;564;g2d0c9c23082_0_13"/>
          <p:cNvSpPr/>
          <p:nvPr/>
        </p:nvSpPr>
        <p:spPr>
          <a:xfrm>
            <a:off x="624150" y="1320550"/>
            <a:ext cx="6047700" cy="5040900"/>
          </a:xfrm>
          <a:prstGeom prst="roundRect">
            <a:avLst>
              <a:gd fmla="val 2603" name="adj"/>
            </a:avLst>
          </a:prstGeom>
          <a:solidFill>
            <a:schemeClr val="lt1"/>
          </a:solidFill>
          <a:ln>
            <a:noFill/>
          </a:ln>
          <a:effectLst>
            <a:outerShdw blurRad="342900" sx="102000" rotWithShape="0" algn="ctr" sy="102000">
              <a:srgbClr val="000000">
                <a:alpha val="705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5" name="Google Shape;565;g2d0c9c23082_0_13"/>
          <p:cNvSpPr txBox="1"/>
          <p:nvPr/>
        </p:nvSpPr>
        <p:spPr>
          <a:xfrm>
            <a:off x="930625" y="2057075"/>
            <a:ext cx="4452600" cy="2583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6" name="Google Shape;566;g2d0c9c23082_0_13"/>
          <p:cNvSpPr/>
          <p:nvPr/>
        </p:nvSpPr>
        <p:spPr>
          <a:xfrm>
            <a:off x="1695765" y="1320548"/>
            <a:ext cx="826500" cy="523800"/>
          </a:xfrm>
          <a:prstGeom prst="round2DiagRect">
            <a:avLst>
              <a:gd fmla="val 28766" name="adj1"/>
              <a:gd fmla="val 0" name="adj2"/>
            </a:avLst>
          </a:prstGeom>
          <a:gradFill>
            <a:gsLst>
              <a:gs pos="0">
                <a:srgbClr val="4ABC96"/>
              </a:gs>
              <a:gs pos="85000">
                <a:schemeClr val="accent1"/>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7" name="Google Shape;567;g2d0c9c23082_0_13"/>
          <p:cNvSpPr/>
          <p:nvPr/>
        </p:nvSpPr>
        <p:spPr>
          <a:xfrm rot="10800000">
            <a:off x="10103825" y="4579658"/>
            <a:ext cx="257516" cy="244893"/>
          </a:xfrm>
          <a:custGeom>
            <a:rect b="b" l="l" r="r" t="t"/>
            <a:pathLst>
              <a:path extrusionOk="0" h="1009867" w="1009867">
                <a:moveTo>
                  <a:pt x="504933" y="1009867"/>
                </a:moveTo>
                <a:lnTo>
                  <a:pt x="504934" y="1009866"/>
                </a:lnTo>
                <a:cubicBezTo>
                  <a:pt x="432312" y="1009866"/>
                  <a:pt x="373440" y="950994"/>
                  <a:pt x="373440" y="878372"/>
                </a:cubicBezTo>
                <a:lnTo>
                  <a:pt x="373440" y="636427"/>
                </a:lnTo>
                <a:lnTo>
                  <a:pt x="131494" y="636427"/>
                </a:lnTo>
                <a:cubicBezTo>
                  <a:pt x="58872" y="636427"/>
                  <a:pt x="0" y="577555"/>
                  <a:pt x="0" y="504933"/>
                </a:cubicBezTo>
                <a:cubicBezTo>
                  <a:pt x="0" y="432311"/>
                  <a:pt x="58872" y="373439"/>
                  <a:pt x="131494" y="373439"/>
                </a:cubicBezTo>
                <a:lnTo>
                  <a:pt x="373440" y="373439"/>
                </a:lnTo>
                <a:lnTo>
                  <a:pt x="373440" y="131494"/>
                </a:lnTo>
                <a:cubicBezTo>
                  <a:pt x="373440" y="58872"/>
                  <a:pt x="432312" y="0"/>
                  <a:pt x="504934" y="0"/>
                </a:cubicBezTo>
                <a:cubicBezTo>
                  <a:pt x="577556" y="0"/>
                  <a:pt x="636428" y="58872"/>
                  <a:pt x="636428" y="131494"/>
                </a:cubicBezTo>
                <a:lnTo>
                  <a:pt x="636428" y="373439"/>
                </a:lnTo>
                <a:lnTo>
                  <a:pt x="878373" y="373440"/>
                </a:lnTo>
                <a:cubicBezTo>
                  <a:pt x="950995" y="373440"/>
                  <a:pt x="1009867" y="432312"/>
                  <a:pt x="1009867" y="504934"/>
                </a:cubicBezTo>
                <a:lnTo>
                  <a:pt x="1009866" y="504933"/>
                </a:lnTo>
                <a:cubicBezTo>
                  <a:pt x="1009866" y="577555"/>
                  <a:pt x="950994" y="636427"/>
                  <a:pt x="878372" y="636427"/>
                </a:cubicBezTo>
                <a:lnTo>
                  <a:pt x="636428" y="636427"/>
                </a:lnTo>
                <a:lnTo>
                  <a:pt x="636427" y="878373"/>
                </a:lnTo>
                <a:cubicBezTo>
                  <a:pt x="636427" y="950995"/>
                  <a:pt x="577555" y="1009867"/>
                  <a:pt x="504933" y="1009867"/>
                </a:cubicBezTo>
                <a:close/>
              </a:path>
            </a:pathLst>
          </a:custGeom>
          <a:solidFill>
            <a:srgbClr val="C1E9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8" name="Google Shape;568;g2d0c9c23082_0_13"/>
          <p:cNvSpPr txBox="1"/>
          <p:nvPr/>
        </p:nvSpPr>
        <p:spPr>
          <a:xfrm>
            <a:off x="1957572" y="1413143"/>
            <a:ext cx="701700" cy="33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Catamaran"/>
              <a:ea typeface="Catamaran"/>
              <a:cs typeface="Catamaran"/>
              <a:sym typeface="Catamaran"/>
            </a:endParaRPr>
          </a:p>
        </p:txBody>
      </p:sp>
      <p:sp>
        <p:nvSpPr>
          <p:cNvPr id="569" name="Google Shape;569;g2d0c9c23082_0_13"/>
          <p:cNvSpPr/>
          <p:nvPr/>
        </p:nvSpPr>
        <p:spPr>
          <a:xfrm>
            <a:off x="264152" y="277385"/>
            <a:ext cx="360094" cy="285770"/>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0" name="Google Shape;570;g2d0c9c23082_0_13"/>
          <p:cNvSpPr txBox="1"/>
          <p:nvPr/>
        </p:nvSpPr>
        <p:spPr>
          <a:xfrm>
            <a:off x="780300" y="664142"/>
            <a:ext cx="10745700" cy="432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00000"/>
              </a:buClr>
              <a:buSzPts val="1100"/>
              <a:buFont typeface="Arial"/>
              <a:buNone/>
            </a:pPr>
            <a:r>
              <a:rPr b="0" i="0" lang="en-US" sz="2500" u="none" cap="none" strike="noStrike">
                <a:solidFill>
                  <a:schemeClr val="dk1"/>
                </a:solidFill>
                <a:latin typeface="Advent Pro"/>
                <a:ea typeface="Advent Pro"/>
                <a:cs typeface="Advent Pro"/>
                <a:sym typeface="Advent Pro"/>
              </a:rPr>
              <a:t>Overfitting vs. Underfitting:</a:t>
            </a:r>
            <a:endParaRPr b="1" i="0" sz="5100" u="none" cap="none" strike="noStrike">
              <a:solidFill>
                <a:schemeClr val="accent1"/>
              </a:solidFill>
              <a:latin typeface="Advent Pro"/>
              <a:ea typeface="Advent Pro"/>
              <a:cs typeface="Advent Pro"/>
              <a:sym typeface="Advent Pro"/>
            </a:endParaRPr>
          </a:p>
        </p:txBody>
      </p:sp>
      <p:sp>
        <p:nvSpPr>
          <p:cNvPr id="571" name="Google Shape;571;g2d0c9c23082_0_13"/>
          <p:cNvSpPr txBox="1"/>
          <p:nvPr/>
        </p:nvSpPr>
        <p:spPr>
          <a:xfrm>
            <a:off x="1456475" y="1968450"/>
            <a:ext cx="565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g2d0c9c23082_0_13"/>
          <p:cNvSpPr txBox="1"/>
          <p:nvPr/>
        </p:nvSpPr>
        <p:spPr>
          <a:xfrm>
            <a:off x="907675" y="1858575"/>
            <a:ext cx="5330700" cy="39744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Overfitting</a:t>
            </a:r>
            <a:r>
              <a:rPr b="0" i="0" lang="en-US" sz="1800" u="none" cap="none" strike="noStrike">
                <a:solidFill>
                  <a:schemeClr val="dk1"/>
                </a:solidFill>
                <a:latin typeface="Arial"/>
                <a:ea typeface="Arial"/>
                <a:cs typeface="Arial"/>
                <a:sym typeface="Arial"/>
              </a:rPr>
              <a:t>: If any model had a considerably higher performance on training data compared to test data, it might be overfitting.</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Underfitting</a:t>
            </a:r>
            <a:r>
              <a:rPr b="0" i="0" lang="en-US" sz="1800" u="none" cap="none" strike="noStrike">
                <a:solidFill>
                  <a:schemeClr val="dk1"/>
                </a:solidFill>
                <a:latin typeface="Arial"/>
                <a:ea typeface="Arial"/>
                <a:cs typeface="Arial"/>
                <a:sym typeface="Arial"/>
              </a:rPr>
              <a:t>: Conversely, if models are too simple to capture the data complexity, they might underfit, leading to low R² values across both training and testing phases.</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Model Assumptions: </a:t>
            </a:r>
            <a:r>
              <a:rPr b="0" i="0" lang="en-US" sz="1800" u="none" cap="none" strike="noStrike">
                <a:solidFill>
                  <a:schemeClr val="dk1"/>
                </a:solidFill>
                <a:latin typeface="Arial"/>
                <a:ea typeface="Arial"/>
                <a:cs typeface="Arial"/>
                <a:sym typeface="Arial"/>
              </a:rPr>
              <a:t>For instance, linear regression assumes a linear relationship between features and the target variable. If this assumption doesn't hold (which is common in real-world data), the model will likely underperform.</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chemeClr val="accent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2d0c9c23082_2_74"/>
          <p:cNvSpPr txBox="1"/>
          <p:nvPr/>
        </p:nvSpPr>
        <p:spPr>
          <a:xfrm>
            <a:off x="618775" y="635950"/>
            <a:ext cx="10641300" cy="520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accent1"/>
                </a:solidFill>
                <a:latin typeface="Catamaran"/>
                <a:ea typeface="Catamaran"/>
                <a:cs typeface="Catamaran"/>
                <a:sym typeface="Catamaran"/>
              </a:rPr>
              <a:t>Discussion on Low R² Value</a:t>
            </a:r>
            <a:endParaRPr b="1" i="0" sz="3600" u="none" cap="none" strike="noStrike">
              <a:solidFill>
                <a:schemeClr val="accent1"/>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accent1"/>
              </a:solidFill>
              <a:latin typeface="Catamaran"/>
              <a:ea typeface="Catamaran"/>
              <a:cs typeface="Catamaran"/>
              <a:sym typeface="Catamaran"/>
            </a:endParaRPr>
          </a:p>
          <a:p>
            <a:pPr indent="-349250" lvl="0" marL="457200" marR="0" rtl="0" algn="l">
              <a:lnSpc>
                <a:spcPct val="115000"/>
              </a:lnSpc>
              <a:spcBef>
                <a:spcPts val="0"/>
              </a:spcBef>
              <a:spcAft>
                <a:spcPts val="0"/>
              </a:spcAft>
              <a:buClr>
                <a:srgbClr val="0D0D0D"/>
              </a:buClr>
              <a:buSzPts val="1900"/>
              <a:buFont typeface="Roboto"/>
              <a:buAutoNum type="arabicPeriod"/>
            </a:pPr>
            <a:r>
              <a:rPr b="0" i="0" lang="en-US" sz="1900" u="none" cap="none" strike="noStrike">
                <a:solidFill>
                  <a:srgbClr val="0D0D0D"/>
                </a:solidFill>
                <a:highlight>
                  <a:srgbClr val="FFFFFF"/>
                </a:highlight>
                <a:latin typeface="Roboto"/>
                <a:ea typeface="Roboto"/>
                <a:cs typeface="Roboto"/>
                <a:sym typeface="Roboto"/>
              </a:rPr>
              <a:t>Complexity of the Dataset: The dataset might have a high level of inherent variability that simple or even complex models struggle to capture fully. Features in the dataset may not provide enough information to predict outcomes accurately.</a:t>
            </a:r>
            <a:endParaRPr b="0" i="0" sz="1900" u="none" cap="none" strike="noStrike">
              <a:solidFill>
                <a:srgbClr val="0D0D0D"/>
              </a:solidFill>
              <a:highlight>
                <a:srgbClr val="FFFFFF"/>
              </a:highlight>
              <a:latin typeface="Roboto"/>
              <a:ea typeface="Roboto"/>
              <a:cs typeface="Roboto"/>
              <a:sym typeface="Roboto"/>
            </a:endParaRPr>
          </a:p>
          <a:p>
            <a:pPr indent="-349250" lvl="0" marL="457200" marR="0" rtl="0" algn="l">
              <a:lnSpc>
                <a:spcPct val="115000"/>
              </a:lnSpc>
              <a:spcBef>
                <a:spcPts val="0"/>
              </a:spcBef>
              <a:spcAft>
                <a:spcPts val="0"/>
              </a:spcAft>
              <a:buClr>
                <a:srgbClr val="0D0D0D"/>
              </a:buClr>
              <a:buSzPts val="1900"/>
              <a:buFont typeface="Roboto"/>
              <a:buAutoNum type="arabicPeriod"/>
            </a:pPr>
            <a:r>
              <a:rPr b="0" i="0" lang="en-US" sz="1900" u="none" cap="none" strike="noStrike">
                <a:solidFill>
                  <a:srgbClr val="0D0D0D"/>
                </a:solidFill>
                <a:highlight>
                  <a:srgbClr val="FFFFFF"/>
                </a:highlight>
                <a:latin typeface="Roboto"/>
                <a:ea typeface="Roboto"/>
                <a:cs typeface="Roboto"/>
                <a:sym typeface="Roboto"/>
              </a:rPr>
              <a:t>Quality and Quantity of Data: If the data has issues like missing values, insufficient records, or noisy data, models may not learn effectively. </a:t>
            </a:r>
            <a:endParaRPr b="0" i="0" sz="1900" u="none" cap="none" strike="noStrike">
              <a:solidFill>
                <a:srgbClr val="0D0D0D"/>
              </a:solidFill>
              <a:highlight>
                <a:srgbClr val="FFFFFF"/>
              </a:highlight>
              <a:latin typeface="Roboto"/>
              <a:ea typeface="Roboto"/>
              <a:cs typeface="Roboto"/>
              <a:sym typeface="Roboto"/>
            </a:endParaRPr>
          </a:p>
          <a:p>
            <a:pPr indent="-349250" lvl="0" marL="457200" marR="0" rtl="0" algn="l">
              <a:lnSpc>
                <a:spcPct val="115000"/>
              </a:lnSpc>
              <a:spcBef>
                <a:spcPts val="0"/>
              </a:spcBef>
              <a:spcAft>
                <a:spcPts val="0"/>
              </a:spcAft>
              <a:buClr>
                <a:srgbClr val="0D0D0D"/>
              </a:buClr>
              <a:buSzPts val="1900"/>
              <a:buFont typeface="Roboto"/>
              <a:buAutoNum type="arabicPeriod"/>
            </a:pPr>
            <a:r>
              <a:rPr b="0" i="0" lang="en-US" sz="1900" u="none" cap="none" strike="noStrike">
                <a:solidFill>
                  <a:srgbClr val="0D0D0D"/>
                </a:solidFill>
                <a:highlight>
                  <a:srgbClr val="FFFFFF"/>
                </a:highlight>
                <a:latin typeface="Roboto"/>
                <a:ea typeface="Roboto"/>
                <a:cs typeface="Roboto"/>
                <a:sym typeface="Roboto"/>
              </a:rPr>
              <a:t>Feature Relevance: The features used may not have a strong predictive relationship with the target variable. This can be a limitation if the dataset lacks fields that are significant predictors of the outcome.</a:t>
            </a:r>
            <a:endParaRPr b="0" i="0" sz="1900" u="none" cap="none" strike="noStrike">
              <a:solidFill>
                <a:srgbClr val="0D0D0D"/>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accent1">
            <a:alpha val="3921"/>
          </a:schemeClr>
        </a:solidFill>
      </p:bgPr>
    </p:bg>
    <p:spTree>
      <p:nvGrpSpPr>
        <p:cNvPr id="581" name="Shape 581"/>
        <p:cNvGrpSpPr/>
        <p:nvPr/>
      </p:nvGrpSpPr>
      <p:grpSpPr>
        <a:xfrm>
          <a:off x="0" y="0"/>
          <a:ext cx="0" cy="0"/>
          <a:chOff x="0" y="0"/>
          <a:chExt cx="0" cy="0"/>
        </a:xfrm>
      </p:grpSpPr>
      <p:sp>
        <p:nvSpPr>
          <p:cNvPr id="582" name="Google Shape;582;p15"/>
          <p:cNvSpPr txBox="1"/>
          <p:nvPr/>
        </p:nvSpPr>
        <p:spPr>
          <a:xfrm>
            <a:off x="0" y="0"/>
            <a:ext cx="12306300" cy="699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83" name="Google Shape;583;p15"/>
          <p:cNvPicPr preferRelativeResize="0"/>
          <p:nvPr/>
        </p:nvPicPr>
        <p:blipFill rotWithShape="1">
          <a:blip r:embed="rId4">
            <a:alphaModFix amt="15000"/>
          </a:blip>
          <a:srcRect b="-1" l="0" r="0" t="20071"/>
          <a:stretch/>
        </p:blipFill>
        <p:spPr>
          <a:xfrm>
            <a:off x="-381000" y="-214312"/>
            <a:ext cx="12954000" cy="7286625"/>
          </a:xfrm>
          <a:prstGeom prst="rect">
            <a:avLst/>
          </a:prstGeom>
          <a:noFill/>
          <a:ln>
            <a:noFill/>
          </a:ln>
        </p:spPr>
      </p:pic>
      <p:grpSp>
        <p:nvGrpSpPr>
          <p:cNvPr id="584" name="Google Shape;584;p15"/>
          <p:cNvGrpSpPr/>
          <p:nvPr/>
        </p:nvGrpSpPr>
        <p:grpSpPr>
          <a:xfrm>
            <a:off x="5797074" y="6550320"/>
            <a:ext cx="597852" cy="615360"/>
            <a:chOff x="5797074" y="6550320"/>
            <a:chExt cx="597852" cy="615360"/>
          </a:xfrm>
        </p:grpSpPr>
        <p:sp>
          <p:nvSpPr>
            <p:cNvPr id="585" name="Google Shape;585;p15"/>
            <p:cNvSpPr txBox="1"/>
            <p:nvPr/>
          </p:nvSpPr>
          <p:spPr>
            <a:xfrm rot="5400000">
              <a:off x="5788320" y="6559074"/>
              <a:ext cx="615360" cy="597852"/>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6" name="Google Shape;586;p15"/>
            <p:cNvSpPr/>
            <p:nvPr/>
          </p:nvSpPr>
          <p:spPr>
            <a:xfrm>
              <a:off x="5988050" y="6647010"/>
              <a:ext cx="215900" cy="11430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7" name="Google Shape;587;p15"/>
          <p:cNvSpPr/>
          <p:nvPr/>
        </p:nvSpPr>
        <p:spPr>
          <a:xfrm rot="8100000">
            <a:off x="1744880" y="2499271"/>
            <a:ext cx="1239673" cy="1239360"/>
          </a:xfrm>
          <a:prstGeom prst="teardrop">
            <a:avLst>
              <a:gd fmla="val 100000" name="adj"/>
            </a:avLst>
          </a:prstGeom>
          <a:gradFill>
            <a:gsLst>
              <a:gs pos="0">
                <a:schemeClr val="accent1"/>
              </a:gs>
              <a:gs pos="1000">
                <a:schemeClr val="accent1"/>
              </a:gs>
              <a:gs pos="100000">
                <a:srgbClr val="4ABC96"/>
              </a:gs>
            </a:gsLst>
            <a:lin ang="2700000" scaled="0"/>
          </a:gradFill>
          <a:ln>
            <a:noFill/>
          </a:ln>
          <a:effectLst>
            <a:outerShdw blurRad="330200" sx="90000" rotWithShape="0" algn="t" dir="5400000" dist="190500" sy="90000">
              <a:srgbClr val="14362A">
                <a:alpha val="23921"/>
              </a:srgbClr>
            </a:outerShdw>
          </a:effectLst>
        </p:spPr>
        <p:txBody>
          <a:bodyPr anchorCtr="0" anchor="ctr" bIns="22850" lIns="45700" spcFirstLastPara="1" rIns="45700" wrap="square" tIns="2285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 name="Google Shape;588;p15"/>
          <p:cNvSpPr/>
          <p:nvPr/>
        </p:nvSpPr>
        <p:spPr>
          <a:xfrm rot="8100000">
            <a:off x="1890159" y="2281280"/>
            <a:ext cx="949115" cy="948778"/>
          </a:xfrm>
          <a:custGeom>
            <a:rect b="b" l="l" r="r" t="t"/>
            <a:pathLst>
              <a:path extrusionOk="0" h="675205" w="675445">
                <a:moveTo>
                  <a:pt x="142119" y="533122"/>
                </a:moveTo>
                <a:cubicBezTo>
                  <a:pt x="54310" y="445336"/>
                  <a:pt x="0" y="324061"/>
                  <a:pt x="0" y="190105"/>
                </a:cubicBezTo>
                <a:lnTo>
                  <a:pt x="1" y="190105"/>
                </a:lnTo>
                <a:cubicBezTo>
                  <a:pt x="1" y="123127"/>
                  <a:pt x="13579" y="59319"/>
                  <a:pt x="38132" y="1282"/>
                </a:cubicBezTo>
                <a:lnTo>
                  <a:pt x="38828" y="0"/>
                </a:lnTo>
                <a:lnTo>
                  <a:pt x="28173" y="34318"/>
                </a:lnTo>
                <a:cubicBezTo>
                  <a:pt x="21261" y="68085"/>
                  <a:pt x="17632" y="103047"/>
                  <a:pt x="17632" y="138856"/>
                </a:cubicBezTo>
                <a:cubicBezTo>
                  <a:pt x="17632" y="425332"/>
                  <a:pt x="249925" y="657566"/>
                  <a:pt x="536473" y="657566"/>
                </a:cubicBezTo>
                <a:cubicBezTo>
                  <a:pt x="572291" y="657566"/>
                  <a:pt x="607262" y="653938"/>
                  <a:pt x="641037" y="647028"/>
                </a:cubicBezTo>
                <a:lnTo>
                  <a:pt x="675445" y="636350"/>
                </a:lnTo>
                <a:lnTo>
                  <a:pt x="674094" y="637083"/>
                </a:lnTo>
                <a:cubicBezTo>
                  <a:pt x="616042" y="661631"/>
                  <a:pt x="552218" y="675205"/>
                  <a:pt x="485223" y="675205"/>
                </a:cubicBezTo>
                <a:cubicBezTo>
                  <a:pt x="351232" y="675205"/>
                  <a:pt x="229927" y="620908"/>
                  <a:pt x="142119" y="53312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9" name="Google Shape;589;p15"/>
          <p:cNvSpPr txBox="1"/>
          <p:nvPr/>
        </p:nvSpPr>
        <p:spPr>
          <a:xfrm>
            <a:off x="3310620" y="2204380"/>
            <a:ext cx="7200000" cy="74987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sng" cap="none" strike="noStrike">
                <a:solidFill>
                  <a:schemeClr val="dk1"/>
                </a:solidFill>
                <a:latin typeface="Arial"/>
                <a:ea typeface="Arial"/>
                <a:cs typeface="Arial"/>
                <a:sym typeface="Arial"/>
              </a:rPr>
              <a:t>Model Limitations:</a:t>
            </a:r>
            <a:endParaRPr b="0" i="0" sz="1800" u="sng" cap="none" strike="noStrike">
              <a:solidFill>
                <a:srgbClr val="000000"/>
              </a:solidFill>
              <a:latin typeface="Arial"/>
              <a:ea typeface="Arial"/>
              <a:cs typeface="Arial"/>
              <a:sym typeface="Arial"/>
            </a:endParaRPr>
          </a:p>
        </p:txBody>
      </p:sp>
      <p:sp>
        <p:nvSpPr>
          <p:cNvPr id="590" name="Google Shape;590;p15"/>
          <p:cNvSpPr txBox="1"/>
          <p:nvPr/>
        </p:nvSpPr>
        <p:spPr>
          <a:xfrm>
            <a:off x="3310620" y="3086314"/>
            <a:ext cx="7200000" cy="14573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i="0" lang="en-US" sz="2200" u="none" cap="none" strike="noStrike">
                <a:solidFill>
                  <a:schemeClr val="accent3"/>
                </a:solidFill>
                <a:latin typeface="Montserrat"/>
                <a:ea typeface="Montserrat"/>
                <a:cs typeface="Montserrat"/>
                <a:sym typeface="Montserrat"/>
              </a:rPr>
              <a:t>Linear regression:</a:t>
            </a:r>
            <a:endParaRPr b="1" i="0" sz="2200" u="none" cap="none" strike="noStrike">
              <a:solidFill>
                <a:schemeClr val="accent3"/>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US" sz="2200" u="none" cap="none" strike="noStrike">
                <a:solidFill>
                  <a:schemeClr val="dk1"/>
                </a:solidFill>
                <a:latin typeface="Montserrat"/>
                <a:ea typeface="Montserrat"/>
                <a:cs typeface="Montserrat"/>
                <a:sym typeface="Montserrat"/>
              </a:rPr>
              <a:t>- Sensitive to outliers.</a:t>
            </a:r>
            <a:endParaRPr b="0" i="0" sz="2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US" sz="2200" u="none" cap="none" strike="noStrike">
                <a:solidFill>
                  <a:schemeClr val="dk1"/>
                </a:solidFill>
                <a:latin typeface="Montserrat"/>
                <a:ea typeface="Montserrat"/>
                <a:cs typeface="Montserrat"/>
                <a:sym typeface="Montserrat"/>
              </a:rPr>
              <a:t>- Assumes a linear relationship between features and targets, which may not always hold</a:t>
            </a:r>
            <a:r>
              <a:rPr b="0" i="0" lang="en-US" sz="1400" u="none" cap="none" strike="noStrike">
                <a:solidFill>
                  <a:schemeClr val="dk1"/>
                </a:solidFill>
                <a:latin typeface="Montserrat"/>
                <a:ea typeface="Montserrat"/>
                <a:cs typeface="Montserrat"/>
                <a:sym typeface="Montserrat"/>
              </a:rPr>
              <a:t>.</a:t>
            </a:r>
            <a:endParaRPr b="0" i="0" sz="1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91" name="Google Shape;591;p15"/>
          <p:cNvSpPr/>
          <p:nvPr/>
        </p:nvSpPr>
        <p:spPr>
          <a:xfrm>
            <a:off x="2127038" y="2862995"/>
            <a:ext cx="475356" cy="542874"/>
          </a:xfrm>
          <a:custGeom>
            <a:rect b="b" l="l" r="r" t="t"/>
            <a:pathLst>
              <a:path extrusionOk="0" h="720001" w="630455">
                <a:moveTo>
                  <a:pt x="361901" y="82589"/>
                </a:moveTo>
                <a:lnTo>
                  <a:pt x="361901" y="203034"/>
                </a:lnTo>
                <a:cubicBezTo>
                  <a:pt x="361901" y="239030"/>
                  <a:pt x="391183" y="268312"/>
                  <a:pt x="427179" y="268312"/>
                </a:cubicBezTo>
                <a:lnTo>
                  <a:pt x="547624" y="268312"/>
                </a:lnTo>
                <a:close/>
                <a:moveTo>
                  <a:pt x="113812" y="0"/>
                </a:moveTo>
                <a:lnTo>
                  <a:pt x="338847" y="0"/>
                </a:lnTo>
                <a:cubicBezTo>
                  <a:pt x="339414" y="81"/>
                  <a:pt x="339899" y="81"/>
                  <a:pt x="340465" y="162"/>
                </a:cubicBezTo>
                <a:lnTo>
                  <a:pt x="340789" y="162"/>
                </a:lnTo>
                <a:cubicBezTo>
                  <a:pt x="341922" y="324"/>
                  <a:pt x="343054" y="485"/>
                  <a:pt x="344106" y="809"/>
                </a:cubicBezTo>
                <a:lnTo>
                  <a:pt x="344186" y="809"/>
                </a:lnTo>
                <a:cubicBezTo>
                  <a:pt x="345238" y="1052"/>
                  <a:pt x="346371" y="1456"/>
                  <a:pt x="347422" y="1942"/>
                </a:cubicBezTo>
                <a:lnTo>
                  <a:pt x="347503" y="1942"/>
                </a:lnTo>
                <a:cubicBezTo>
                  <a:pt x="348069" y="2184"/>
                  <a:pt x="348555" y="2427"/>
                  <a:pt x="349040" y="2670"/>
                </a:cubicBezTo>
                <a:lnTo>
                  <a:pt x="349121" y="2670"/>
                </a:lnTo>
                <a:cubicBezTo>
                  <a:pt x="349606" y="2912"/>
                  <a:pt x="350091" y="3155"/>
                  <a:pt x="350576" y="3479"/>
                </a:cubicBezTo>
                <a:cubicBezTo>
                  <a:pt x="350657" y="3560"/>
                  <a:pt x="350739" y="3560"/>
                  <a:pt x="350819" y="3640"/>
                </a:cubicBezTo>
                <a:cubicBezTo>
                  <a:pt x="351224" y="3883"/>
                  <a:pt x="351628" y="4126"/>
                  <a:pt x="352033" y="4449"/>
                </a:cubicBezTo>
                <a:cubicBezTo>
                  <a:pt x="352113" y="4449"/>
                  <a:pt x="352113" y="4530"/>
                  <a:pt x="352194" y="4530"/>
                </a:cubicBezTo>
                <a:lnTo>
                  <a:pt x="353408" y="5501"/>
                </a:lnTo>
                <a:lnTo>
                  <a:pt x="353651" y="5743"/>
                </a:lnTo>
                <a:cubicBezTo>
                  <a:pt x="354055" y="6148"/>
                  <a:pt x="354459" y="6472"/>
                  <a:pt x="354864" y="6876"/>
                </a:cubicBezTo>
                <a:lnTo>
                  <a:pt x="623418" y="275430"/>
                </a:lnTo>
                <a:cubicBezTo>
                  <a:pt x="623822" y="275835"/>
                  <a:pt x="624227" y="276239"/>
                  <a:pt x="624551" y="276643"/>
                </a:cubicBezTo>
                <a:lnTo>
                  <a:pt x="624793" y="276886"/>
                </a:lnTo>
                <a:cubicBezTo>
                  <a:pt x="625117" y="277291"/>
                  <a:pt x="625440" y="277776"/>
                  <a:pt x="625764" y="278180"/>
                </a:cubicBezTo>
                <a:cubicBezTo>
                  <a:pt x="625764" y="278261"/>
                  <a:pt x="625845" y="278342"/>
                  <a:pt x="625845" y="278342"/>
                </a:cubicBezTo>
                <a:cubicBezTo>
                  <a:pt x="626168" y="278747"/>
                  <a:pt x="626491" y="279232"/>
                  <a:pt x="626734" y="279637"/>
                </a:cubicBezTo>
                <a:cubicBezTo>
                  <a:pt x="626815" y="279637"/>
                  <a:pt x="626815" y="279717"/>
                  <a:pt x="626896" y="279798"/>
                </a:cubicBezTo>
                <a:cubicBezTo>
                  <a:pt x="627139" y="280284"/>
                  <a:pt x="627462" y="280769"/>
                  <a:pt x="627705" y="281254"/>
                </a:cubicBezTo>
                <a:cubicBezTo>
                  <a:pt x="627948" y="281739"/>
                  <a:pt x="628190" y="282225"/>
                  <a:pt x="628433" y="282791"/>
                </a:cubicBezTo>
                <a:cubicBezTo>
                  <a:pt x="628918" y="283843"/>
                  <a:pt x="629323" y="284975"/>
                  <a:pt x="629646" y="286107"/>
                </a:cubicBezTo>
                <a:cubicBezTo>
                  <a:pt x="629889" y="287159"/>
                  <a:pt x="630132" y="288291"/>
                  <a:pt x="630293" y="289424"/>
                </a:cubicBezTo>
                <a:lnTo>
                  <a:pt x="630293" y="289667"/>
                </a:lnTo>
                <a:cubicBezTo>
                  <a:pt x="630374" y="290152"/>
                  <a:pt x="630455" y="290718"/>
                  <a:pt x="630455" y="291285"/>
                </a:cubicBezTo>
                <a:lnTo>
                  <a:pt x="630455" y="292579"/>
                </a:lnTo>
                <a:lnTo>
                  <a:pt x="630455" y="606189"/>
                </a:lnTo>
                <a:cubicBezTo>
                  <a:pt x="630455" y="668959"/>
                  <a:pt x="579414" y="720001"/>
                  <a:pt x="516644" y="720001"/>
                </a:cubicBezTo>
                <a:lnTo>
                  <a:pt x="113812" y="720001"/>
                </a:lnTo>
                <a:cubicBezTo>
                  <a:pt x="51042" y="720001"/>
                  <a:pt x="0" y="668959"/>
                  <a:pt x="0" y="606189"/>
                </a:cubicBezTo>
                <a:lnTo>
                  <a:pt x="0" y="113812"/>
                </a:lnTo>
                <a:cubicBezTo>
                  <a:pt x="0" y="51042"/>
                  <a:pt x="51042" y="0"/>
                  <a:pt x="113812" y="0"/>
                </a:cubicBezTo>
                <a:close/>
              </a:path>
            </a:pathLst>
          </a:custGeom>
          <a:solidFill>
            <a:schemeClr val="l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2" name="Google Shape;592;p15"/>
          <p:cNvSpPr/>
          <p:nvPr/>
        </p:nvSpPr>
        <p:spPr>
          <a:xfrm>
            <a:off x="264152" y="277385"/>
            <a:ext cx="360000" cy="285696"/>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3" name="Google Shape;593;p15"/>
          <p:cNvSpPr txBox="1"/>
          <p:nvPr/>
        </p:nvSpPr>
        <p:spPr>
          <a:xfrm>
            <a:off x="780300" y="664156"/>
            <a:ext cx="10745700" cy="7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accent1"/>
                </a:solidFill>
                <a:latin typeface="Catamaran"/>
                <a:ea typeface="Catamaran"/>
                <a:cs typeface="Catamaran"/>
                <a:sym typeface="Catamaran"/>
              </a:rPr>
              <a:t>Limitation of this Project</a:t>
            </a:r>
            <a:endParaRPr b="1" i="0" sz="3600" u="none" cap="none" strike="noStrike">
              <a:solidFill>
                <a:schemeClr val="accent1"/>
              </a:solidFill>
              <a:latin typeface="Catamaran"/>
              <a:ea typeface="Catamaran"/>
              <a:cs typeface="Catamaran"/>
              <a:sym typeface="Catamar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3921"/>
          </a:schemeClr>
        </a:solidFill>
      </p:bgPr>
    </p:bg>
    <p:spTree>
      <p:nvGrpSpPr>
        <p:cNvPr id="597" name="Shape 597"/>
        <p:cNvGrpSpPr/>
        <p:nvPr/>
      </p:nvGrpSpPr>
      <p:grpSpPr>
        <a:xfrm>
          <a:off x="0" y="0"/>
          <a:ext cx="0" cy="0"/>
          <a:chOff x="0" y="0"/>
          <a:chExt cx="0" cy="0"/>
        </a:xfrm>
      </p:grpSpPr>
      <p:sp>
        <p:nvSpPr>
          <p:cNvPr id="598" name="Google Shape;598;p33"/>
          <p:cNvSpPr txBox="1"/>
          <p:nvPr/>
        </p:nvSpPr>
        <p:spPr>
          <a:xfrm>
            <a:off x="0" y="0"/>
            <a:ext cx="12306300" cy="699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99" name="Google Shape;599;p33"/>
          <p:cNvPicPr preferRelativeResize="0"/>
          <p:nvPr/>
        </p:nvPicPr>
        <p:blipFill rotWithShape="1">
          <a:blip r:embed="rId3">
            <a:alphaModFix amt="15000"/>
          </a:blip>
          <a:srcRect b="-1" l="0" r="0" t="20071"/>
          <a:stretch/>
        </p:blipFill>
        <p:spPr>
          <a:xfrm>
            <a:off x="-381000" y="-214312"/>
            <a:ext cx="12954000" cy="7286625"/>
          </a:xfrm>
          <a:prstGeom prst="rect">
            <a:avLst/>
          </a:prstGeom>
          <a:noFill/>
          <a:ln>
            <a:noFill/>
          </a:ln>
        </p:spPr>
      </p:pic>
      <p:grpSp>
        <p:nvGrpSpPr>
          <p:cNvPr id="600" name="Google Shape;600;p33"/>
          <p:cNvGrpSpPr/>
          <p:nvPr/>
        </p:nvGrpSpPr>
        <p:grpSpPr>
          <a:xfrm>
            <a:off x="5797074" y="6550320"/>
            <a:ext cx="597852" cy="615360"/>
            <a:chOff x="5797074" y="6550320"/>
            <a:chExt cx="597852" cy="615360"/>
          </a:xfrm>
        </p:grpSpPr>
        <p:sp>
          <p:nvSpPr>
            <p:cNvPr id="601" name="Google Shape;601;p33"/>
            <p:cNvSpPr txBox="1"/>
            <p:nvPr/>
          </p:nvSpPr>
          <p:spPr>
            <a:xfrm rot="5400000">
              <a:off x="5788320" y="6559074"/>
              <a:ext cx="615360" cy="597852"/>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2" name="Google Shape;602;p33"/>
            <p:cNvSpPr/>
            <p:nvPr/>
          </p:nvSpPr>
          <p:spPr>
            <a:xfrm>
              <a:off x="5988050" y="6647010"/>
              <a:ext cx="215900" cy="11430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03" name="Google Shape;603;p33"/>
          <p:cNvSpPr/>
          <p:nvPr/>
        </p:nvSpPr>
        <p:spPr>
          <a:xfrm>
            <a:off x="624150" y="1320550"/>
            <a:ext cx="6047700" cy="5040900"/>
          </a:xfrm>
          <a:prstGeom prst="roundRect">
            <a:avLst>
              <a:gd fmla="val 2603" name="adj"/>
            </a:avLst>
          </a:prstGeom>
          <a:solidFill>
            <a:schemeClr val="lt1"/>
          </a:solidFill>
          <a:ln>
            <a:noFill/>
          </a:ln>
          <a:effectLst>
            <a:outerShdw blurRad="342900" sx="102000" rotWithShape="0" algn="ctr" sy="102000">
              <a:srgbClr val="000000">
                <a:alpha val="705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4" name="Google Shape;604;p33"/>
          <p:cNvSpPr txBox="1"/>
          <p:nvPr/>
        </p:nvSpPr>
        <p:spPr>
          <a:xfrm>
            <a:off x="930625" y="2057075"/>
            <a:ext cx="4452600" cy="2583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5" name="Google Shape;605;p33"/>
          <p:cNvSpPr/>
          <p:nvPr/>
        </p:nvSpPr>
        <p:spPr>
          <a:xfrm>
            <a:off x="1695765" y="1320548"/>
            <a:ext cx="826455" cy="523745"/>
          </a:xfrm>
          <a:prstGeom prst="round2DiagRect">
            <a:avLst>
              <a:gd fmla="val 28766" name="adj1"/>
              <a:gd fmla="val 0" name="adj2"/>
            </a:avLst>
          </a:prstGeom>
          <a:gradFill>
            <a:gsLst>
              <a:gs pos="0">
                <a:srgbClr val="4ABC96"/>
              </a:gs>
              <a:gs pos="85000">
                <a:schemeClr val="accent1"/>
              </a:gs>
              <a:gs pos="100000">
                <a:schemeClr val="accen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6" name="Google Shape;606;p33"/>
          <p:cNvSpPr/>
          <p:nvPr/>
        </p:nvSpPr>
        <p:spPr>
          <a:xfrm rot="10800000">
            <a:off x="10104549" y="4580528"/>
            <a:ext cx="256792" cy="244023"/>
          </a:xfrm>
          <a:custGeom>
            <a:rect b="b" l="l" r="r" t="t"/>
            <a:pathLst>
              <a:path extrusionOk="0" h="1009867" w="1009867">
                <a:moveTo>
                  <a:pt x="504933" y="1009867"/>
                </a:moveTo>
                <a:lnTo>
                  <a:pt x="504934" y="1009866"/>
                </a:lnTo>
                <a:cubicBezTo>
                  <a:pt x="432312" y="1009866"/>
                  <a:pt x="373440" y="950994"/>
                  <a:pt x="373440" y="878372"/>
                </a:cubicBezTo>
                <a:lnTo>
                  <a:pt x="373440" y="636427"/>
                </a:lnTo>
                <a:lnTo>
                  <a:pt x="131494" y="636427"/>
                </a:lnTo>
                <a:cubicBezTo>
                  <a:pt x="58872" y="636427"/>
                  <a:pt x="0" y="577555"/>
                  <a:pt x="0" y="504933"/>
                </a:cubicBezTo>
                <a:cubicBezTo>
                  <a:pt x="0" y="432311"/>
                  <a:pt x="58872" y="373439"/>
                  <a:pt x="131494" y="373439"/>
                </a:cubicBezTo>
                <a:lnTo>
                  <a:pt x="373440" y="373439"/>
                </a:lnTo>
                <a:lnTo>
                  <a:pt x="373440" y="131494"/>
                </a:lnTo>
                <a:cubicBezTo>
                  <a:pt x="373440" y="58872"/>
                  <a:pt x="432312" y="0"/>
                  <a:pt x="504934" y="0"/>
                </a:cubicBezTo>
                <a:cubicBezTo>
                  <a:pt x="577556" y="0"/>
                  <a:pt x="636428" y="58872"/>
                  <a:pt x="636428" y="131494"/>
                </a:cubicBezTo>
                <a:lnTo>
                  <a:pt x="636428" y="373439"/>
                </a:lnTo>
                <a:lnTo>
                  <a:pt x="878373" y="373440"/>
                </a:lnTo>
                <a:cubicBezTo>
                  <a:pt x="950995" y="373440"/>
                  <a:pt x="1009867" y="432312"/>
                  <a:pt x="1009867" y="504934"/>
                </a:cubicBezTo>
                <a:lnTo>
                  <a:pt x="1009866" y="504933"/>
                </a:lnTo>
                <a:cubicBezTo>
                  <a:pt x="1009866" y="577555"/>
                  <a:pt x="950994" y="636427"/>
                  <a:pt x="878372" y="636427"/>
                </a:cubicBezTo>
                <a:lnTo>
                  <a:pt x="636428" y="636427"/>
                </a:lnTo>
                <a:lnTo>
                  <a:pt x="636427" y="878373"/>
                </a:lnTo>
                <a:cubicBezTo>
                  <a:pt x="636427" y="950995"/>
                  <a:pt x="577555" y="1009867"/>
                  <a:pt x="504933" y="1009867"/>
                </a:cubicBezTo>
                <a:close/>
              </a:path>
            </a:pathLst>
          </a:custGeom>
          <a:solidFill>
            <a:srgbClr val="C1E9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7" name="Google Shape;607;p33"/>
          <p:cNvSpPr txBox="1"/>
          <p:nvPr/>
        </p:nvSpPr>
        <p:spPr>
          <a:xfrm>
            <a:off x="1957572" y="1413143"/>
            <a:ext cx="701808" cy="33855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Catamaran"/>
              <a:ea typeface="Catamaran"/>
              <a:cs typeface="Catamaran"/>
              <a:sym typeface="Catamaran"/>
            </a:endParaRPr>
          </a:p>
        </p:txBody>
      </p:sp>
      <p:sp>
        <p:nvSpPr>
          <p:cNvPr id="608" name="Google Shape;608;p33"/>
          <p:cNvSpPr/>
          <p:nvPr/>
        </p:nvSpPr>
        <p:spPr>
          <a:xfrm>
            <a:off x="264152" y="277385"/>
            <a:ext cx="360000" cy="285696"/>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9" name="Google Shape;609;p33"/>
          <p:cNvSpPr txBox="1"/>
          <p:nvPr/>
        </p:nvSpPr>
        <p:spPr>
          <a:xfrm>
            <a:off x="780300" y="664142"/>
            <a:ext cx="10745700" cy="4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accent1"/>
                </a:solidFill>
                <a:latin typeface="Catamaran"/>
                <a:ea typeface="Catamaran"/>
                <a:cs typeface="Catamaran"/>
                <a:sym typeface="Catamaran"/>
              </a:rPr>
              <a:t>Compare &amp; Analysis</a:t>
            </a:r>
            <a:endParaRPr b="1" i="0" sz="3600" u="none" cap="none" strike="noStrike">
              <a:solidFill>
                <a:schemeClr val="accent1"/>
              </a:solidFill>
              <a:latin typeface="Catamaran"/>
              <a:ea typeface="Catamaran"/>
              <a:cs typeface="Catamaran"/>
              <a:sym typeface="Catamaran"/>
            </a:endParaRPr>
          </a:p>
        </p:txBody>
      </p:sp>
      <p:sp>
        <p:nvSpPr>
          <p:cNvPr id="610" name="Google Shape;610;p33"/>
          <p:cNvSpPr txBox="1"/>
          <p:nvPr/>
        </p:nvSpPr>
        <p:spPr>
          <a:xfrm>
            <a:off x="1456475" y="1968450"/>
            <a:ext cx="5655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33"/>
          <p:cNvSpPr txBox="1"/>
          <p:nvPr/>
        </p:nvSpPr>
        <p:spPr>
          <a:xfrm>
            <a:off x="907675" y="1858575"/>
            <a:ext cx="5330700" cy="397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1700" u="none" cap="none" strike="noStrike">
                <a:solidFill>
                  <a:schemeClr val="accent3"/>
                </a:solidFill>
                <a:latin typeface="Arial"/>
                <a:ea typeface="Arial"/>
                <a:cs typeface="Arial"/>
                <a:sym typeface="Arial"/>
              </a:rPr>
              <a:t>Compare and analyze:</a:t>
            </a:r>
            <a:endParaRPr b="1" i="0" sz="1700" u="none" cap="none" strike="noStrike">
              <a:solidFill>
                <a:schemeClr val="accent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700" u="none" cap="none" strike="noStrike">
                <a:solidFill>
                  <a:srgbClr val="000000"/>
                </a:solidFill>
                <a:latin typeface="Arial"/>
                <a:ea typeface="Arial"/>
                <a:cs typeface="Arial"/>
                <a:sym typeface="Arial"/>
              </a:rPr>
              <a:t>- PERFORMANCE: The gradient boosted regression tree outperforms linear regression on all metrics, showing lower MAE and RMSE, and higher R² values.</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700" u="none" cap="none" strike="noStrike">
                <a:solidFill>
                  <a:srgbClr val="000000"/>
                </a:solidFill>
                <a:latin typeface="Arial"/>
                <a:ea typeface="Arial"/>
                <a:cs typeface="Arial"/>
                <a:sym typeface="Arial"/>
              </a:rPr>
              <a:t>- Model Complexity: Gradient boosted regression trees are more complex than linear regression, requiring more computational resources and time for training and tuning.</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700" u="none" cap="none" strike="noStrike">
                <a:solidFill>
                  <a:srgbClr val="000000"/>
                </a:solidFill>
                <a:latin typeface="Arial"/>
                <a:ea typeface="Arial"/>
                <a:cs typeface="Arial"/>
                <a:sym typeface="Arial"/>
              </a:rPr>
              <a:t>- Interpretability: Linear regression models are usually easier to interpret because they provide direct coefficients to describe the relationship between features and targets. Gradient boosted regression trees, on the other hand, are more difficult to interpret because they are integrated models based on a large number of decision trees.</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12" name="Google Shape;612;p33"/>
          <p:cNvPicPr preferRelativeResize="0"/>
          <p:nvPr/>
        </p:nvPicPr>
        <p:blipFill rotWithShape="1">
          <a:blip r:embed="rId4">
            <a:alphaModFix/>
          </a:blip>
          <a:srcRect b="0" l="34413" r="16101" t="0"/>
          <a:stretch/>
        </p:blipFill>
        <p:spPr>
          <a:xfrm>
            <a:off x="8010600" y="1521900"/>
            <a:ext cx="3299326" cy="44481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4313"/>
          </a:schemeClr>
        </a:solidFill>
      </p:bgPr>
    </p:bg>
    <p:spTree>
      <p:nvGrpSpPr>
        <p:cNvPr id="616" name="Shape 616"/>
        <p:cNvGrpSpPr/>
        <p:nvPr/>
      </p:nvGrpSpPr>
      <p:grpSpPr>
        <a:xfrm>
          <a:off x="0" y="0"/>
          <a:ext cx="0" cy="0"/>
          <a:chOff x="0" y="0"/>
          <a:chExt cx="0" cy="0"/>
        </a:xfrm>
      </p:grpSpPr>
      <p:sp>
        <p:nvSpPr>
          <p:cNvPr id="617" name="Google Shape;617;g2d0c9c23082_4_85"/>
          <p:cNvSpPr txBox="1"/>
          <p:nvPr/>
        </p:nvSpPr>
        <p:spPr>
          <a:xfrm>
            <a:off x="0" y="0"/>
            <a:ext cx="12306300" cy="6997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18" name="Google Shape;618;g2d0c9c23082_4_85"/>
          <p:cNvPicPr preferRelativeResize="0"/>
          <p:nvPr/>
        </p:nvPicPr>
        <p:blipFill rotWithShape="1">
          <a:blip r:embed="rId3">
            <a:alphaModFix amt="15000"/>
          </a:blip>
          <a:srcRect b="0" l="0" r="0" t="20070"/>
          <a:stretch/>
        </p:blipFill>
        <p:spPr>
          <a:xfrm>
            <a:off x="-381000" y="-214312"/>
            <a:ext cx="12954000" cy="7286625"/>
          </a:xfrm>
          <a:prstGeom prst="rect">
            <a:avLst/>
          </a:prstGeom>
          <a:noFill/>
          <a:ln>
            <a:noFill/>
          </a:ln>
        </p:spPr>
      </p:pic>
      <p:grpSp>
        <p:nvGrpSpPr>
          <p:cNvPr id="619" name="Google Shape;619;g2d0c9c23082_4_85"/>
          <p:cNvGrpSpPr/>
          <p:nvPr/>
        </p:nvGrpSpPr>
        <p:grpSpPr>
          <a:xfrm>
            <a:off x="5797026" y="6550320"/>
            <a:ext cx="597900" cy="615300"/>
            <a:chOff x="5797026" y="6550320"/>
            <a:chExt cx="597900" cy="615300"/>
          </a:xfrm>
        </p:grpSpPr>
        <p:sp>
          <p:nvSpPr>
            <p:cNvPr id="620" name="Google Shape;620;g2d0c9c23082_4_85"/>
            <p:cNvSpPr txBox="1"/>
            <p:nvPr/>
          </p:nvSpPr>
          <p:spPr>
            <a:xfrm rot="5400000">
              <a:off x="5788326" y="6559020"/>
              <a:ext cx="615300" cy="5979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1" name="Google Shape;621;g2d0c9c23082_4_85"/>
            <p:cNvSpPr/>
            <p:nvPr/>
          </p:nvSpPr>
          <p:spPr>
            <a:xfrm>
              <a:off x="5988050" y="6647010"/>
              <a:ext cx="216000" cy="11430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22" name="Google Shape;622;g2d0c9c23082_4_85"/>
          <p:cNvSpPr/>
          <p:nvPr/>
        </p:nvSpPr>
        <p:spPr>
          <a:xfrm>
            <a:off x="660400" y="3866530"/>
            <a:ext cx="3348000" cy="2267700"/>
          </a:xfrm>
          <a:prstGeom prst="roundRect">
            <a:avLst>
              <a:gd fmla="val 8000" name="adj"/>
            </a:avLst>
          </a:prstGeom>
          <a:solidFill>
            <a:schemeClr val="accent1"/>
          </a:solidFill>
          <a:ln>
            <a:noFill/>
          </a:ln>
          <a:effectLst>
            <a:outerShdw blurRad="254000" rotWithShape="0" algn="tl" dir="2700000" dist="127000">
              <a:schemeClr val="accent1">
                <a:alpha val="40000"/>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3" name="Google Shape;623;g2d0c9c23082_4_85"/>
          <p:cNvSpPr/>
          <p:nvPr/>
        </p:nvSpPr>
        <p:spPr>
          <a:xfrm>
            <a:off x="1118228" y="1724025"/>
            <a:ext cx="3911100" cy="3972600"/>
          </a:xfrm>
          <a:prstGeom prst="roundRect">
            <a:avLst>
              <a:gd fmla="val 4834" name="adj"/>
            </a:avLst>
          </a:prstGeom>
          <a:blipFill rotWithShape="1">
            <a:blip r:embed="rId4">
              <a:alphaModFix/>
            </a:blip>
            <a:stretch>
              <a:fillRect b="0" l="0" r="-72562" t="-15065"/>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4" name="Google Shape;624;g2d0c9c23082_4_85"/>
          <p:cNvSpPr txBox="1"/>
          <p:nvPr/>
        </p:nvSpPr>
        <p:spPr>
          <a:xfrm>
            <a:off x="5537468" y="1168651"/>
            <a:ext cx="5885400" cy="2939400"/>
          </a:xfrm>
          <a:prstGeom prst="rect">
            <a:avLst/>
          </a:prstGeom>
          <a:noFill/>
          <a:ln>
            <a:noFill/>
          </a:ln>
        </p:spPr>
        <p:txBody>
          <a:bodyPr anchorCtr="0" anchor="t" bIns="0" lIns="0" spcFirstLastPara="1" rIns="0" wrap="square" tIns="0">
            <a:noAutofit/>
          </a:bodyPr>
          <a:lstStyle/>
          <a:p>
            <a:pPr indent="-355600" lvl="0" marL="457200" marR="0" rtl="0" algn="l">
              <a:lnSpc>
                <a:spcPct val="100000"/>
              </a:lnSpc>
              <a:spcBef>
                <a:spcPts val="0"/>
              </a:spcBef>
              <a:spcAft>
                <a:spcPts val="0"/>
              </a:spcAft>
              <a:buClr>
                <a:srgbClr val="38761D"/>
              </a:buClr>
              <a:buSzPts val="2000"/>
              <a:buFont typeface="Arial"/>
              <a:buChar char="●"/>
            </a:pPr>
            <a:r>
              <a:rPr b="1" i="0" lang="en-US" sz="2000" u="none" cap="none" strike="noStrike">
                <a:solidFill>
                  <a:srgbClr val="38761D"/>
                </a:solidFill>
                <a:latin typeface="Arial"/>
                <a:ea typeface="Arial"/>
                <a:cs typeface="Arial"/>
                <a:sym typeface="Arial"/>
              </a:rPr>
              <a:t>Improve the Feature Engineering</a:t>
            </a:r>
            <a:endParaRPr b="1" i="0" sz="2000" u="none" cap="none" strike="noStrike">
              <a:solidFill>
                <a:srgbClr val="38761D"/>
              </a:solidFill>
              <a:latin typeface="Arial"/>
              <a:ea typeface="Arial"/>
              <a:cs typeface="Arial"/>
              <a:sym typeface="Arial"/>
            </a:endParaRPr>
          </a:p>
          <a:p>
            <a:pPr indent="-355600" lvl="1" marL="914400" marR="0" rtl="0" algn="l">
              <a:lnSpc>
                <a:spcPct val="100000"/>
              </a:lnSpc>
              <a:spcBef>
                <a:spcPts val="0"/>
              </a:spcBef>
              <a:spcAft>
                <a:spcPts val="0"/>
              </a:spcAft>
              <a:buClr>
                <a:srgbClr val="3F3F3F"/>
              </a:buClr>
              <a:buSzPts val="2000"/>
              <a:buFont typeface="Arial"/>
              <a:buChar char="○"/>
            </a:pPr>
            <a:r>
              <a:rPr b="0" i="0" lang="en-US" sz="2000" u="none" cap="none" strike="noStrike">
                <a:solidFill>
                  <a:srgbClr val="3F3F3F"/>
                </a:solidFill>
                <a:latin typeface="Arial"/>
                <a:ea typeface="Arial"/>
                <a:cs typeface="Arial"/>
                <a:sym typeface="Arial"/>
              </a:rPr>
              <a:t>Creating more meaningful features from existing dataset </a:t>
            </a:r>
            <a:endParaRPr b="0" i="0" sz="2000" u="none" cap="none" strike="noStrike">
              <a:solidFill>
                <a:srgbClr val="3F3F3F"/>
              </a:solidFill>
              <a:latin typeface="Arial"/>
              <a:ea typeface="Arial"/>
              <a:cs typeface="Arial"/>
              <a:sym typeface="Arial"/>
            </a:endParaRPr>
          </a:p>
          <a:p>
            <a:pPr indent="-355600" lvl="1" marL="914400" marR="0" rtl="0" algn="l">
              <a:lnSpc>
                <a:spcPct val="100000"/>
              </a:lnSpc>
              <a:spcBef>
                <a:spcPts val="0"/>
              </a:spcBef>
              <a:spcAft>
                <a:spcPts val="0"/>
              </a:spcAft>
              <a:buClr>
                <a:srgbClr val="3F3F3F"/>
              </a:buClr>
              <a:buSzPts val="2000"/>
              <a:buFont typeface="Arial"/>
              <a:buChar char="○"/>
            </a:pPr>
            <a:r>
              <a:rPr b="0" i="0" lang="en-US" sz="2000" u="none" cap="none" strike="noStrike">
                <a:solidFill>
                  <a:srgbClr val="3F3F3F"/>
                </a:solidFill>
                <a:latin typeface="Arial"/>
                <a:ea typeface="Arial"/>
                <a:cs typeface="Arial"/>
                <a:sym typeface="Arial"/>
              </a:rPr>
              <a:t>Obtaining additional data from other resources</a:t>
            </a:r>
            <a:endParaRPr b="0" i="0" sz="2000" u="none" cap="none" strike="noStrike">
              <a:solidFill>
                <a:srgbClr val="3F3F3F"/>
              </a:solidFill>
              <a:latin typeface="Arial"/>
              <a:ea typeface="Arial"/>
              <a:cs typeface="Arial"/>
              <a:sym typeface="Arial"/>
            </a:endParaRPr>
          </a:p>
          <a:p>
            <a:pPr indent="-355600" lvl="0" marL="457200" marR="0" rtl="0" algn="l">
              <a:lnSpc>
                <a:spcPct val="115000"/>
              </a:lnSpc>
              <a:spcBef>
                <a:spcPts val="0"/>
              </a:spcBef>
              <a:spcAft>
                <a:spcPts val="0"/>
              </a:spcAft>
              <a:buClr>
                <a:srgbClr val="38761D"/>
              </a:buClr>
              <a:buSzPts val="2000"/>
              <a:buFont typeface="Arial"/>
              <a:buChar char="●"/>
            </a:pPr>
            <a:r>
              <a:rPr b="1" i="0" lang="en-US" sz="2000" u="none" cap="none" strike="noStrike">
                <a:solidFill>
                  <a:srgbClr val="38761D"/>
                </a:solidFill>
                <a:latin typeface="Arial"/>
                <a:ea typeface="Arial"/>
                <a:cs typeface="Arial"/>
                <a:sym typeface="Arial"/>
              </a:rPr>
              <a:t>Increased Data Collection: </a:t>
            </a:r>
            <a:endParaRPr b="1" i="0" sz="2000" u="none" cap="none" strike="noStrike">
              <a:solidFill>
                <a:srgbClr val="38761D"/>
              </a:solidFill>
              <a:latin typeface="Arial"/>
              <a:ea typeface="Arial"/>
              <a:cs typeface="Arial"/>
              <a:sym typeface="Arial"/>
            </a:endParaRPr>
          </a:p>
          <a:p>
            <a:pPr indent="-355600" lvl="1" marL="914400" marR="0" rtl="0" algn="l">
              <a:lnSpc>
                <a:spcPct val="115000"/>
              </a:lnSpc>
              <a:spcBef>
                <a:spcPts val="0"/>
              </a:spcBef>
              <a:spcAft>
                <a:spcPts val="0"/>
              </a:spcAft>
              <a:buClr>
                <a:srgbClr val="3F3F3F"/>
              </a:buClr>
              <a:buSzPts val="2000"/>
              <a:buFont typeface="Arial"/>
              <a:buChar char="○"/>
            </a:pPr>
            <a:r>
              <a:rPr b="0" i="0" lang="en-US" sz="2000" u="none" cap="none" strike="noStrike">
                <a:solidFill>
                  <a:schemeClr val="dk1"/>
                </a:solidFill>
                <a:latin typeface="Arial"/>
                <a:ea typeface="Arial"/>
                <a:cs typeface="Arial"/>
                <a:sym typeface="Arial"/>
              </a:rPr>
              <a:t>collect more comprehensive or higher-quality data that could improve the model’s learning capability.</a:t>
            </a: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rgbClr val="38761D"/>
              </a:buClr>
              <a:buSzPts val="2000"/>
              <a:buFont typeface="Arial"/>
              <a:buChar char="●"/>
            </a:pPr>
            <a:r>
              <a:rPr b="1" i="0" lang="en-US" sz="2000" u="none" cap="none" strike="noStrike">
                <a:solidFill>
                  <a:srgbClr val="38761D"/>
                </a:solidFill>
                <a:latin typeface="Arial"/>
                <a:ea typeface="Arial"/>
                <a:cs typeface="Arial"/>
                <a:sym typeface="Arial"/>
              </a:rPr>
              <a:t>Experimentation with Non-linear Models: </a:t>
            </a:r>
            <a:endParaRPr b="1" i="0" sz="2000" u="none" cap="none" strike="noStrike">
              <a:solidFill>
                <a:srgbClr val="38761D"/>
              </a:solidFill>
              <a:latin typeface="Arial"/>
              <a:ea typeface="Arial"/>
              <a:cs typeface="Arial"/>
              <a:sym typeface="Arial"/>
            </a:endParaRPr>
          </a:p>
          <a:p>
            <a:pPr indent="-355600" lvl="1" marL="914400" marR="0" rtl="0" algn="l">
              <a:lnSpc>
                <a:spcPct val="115000"/>
              </a:lnSpc>
              <a:spcBef>
                <a:spcPts val="0"/>
              </a:spcBef>
              <a:spcAft>
                <a:spcPts val="0"/>
              </a:spcAft>
              <a:buClr>
                <a:srgbClr val="3F3F3F"/>
              </a:buClr>
              <a:buSzPts val="2000"/>
              <a:buFont typeface="Arial"/>
              <a:buChar char="○"/>
            </a:pPr>
            <a:r>
              <a:rPr b="0" i="0" lang="en-US" sz="2000" u="none" cap="none" strike="noStrike">
                <a:solidFill>
                  <a:schemeClr val="dk1"/>
                </a:solidFill>
                <a:latin typeface="Arial"/>
                <a:ea typeface="Arial"/>
                <a:cs typeface="Arial"/>
                <a:sym typeface="Arial"/>
              </a:rPr>
              <a:t>Since traditional models have limitations, experimenting with non-linear models or neural networks might yield better results.</a:t>
            </a:r>
            <a:endParaRPr b="0" i="0" sz="20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F3F3F"/>
              </a:solidFill>
              <a:latin typeface="Arial"/>
              <a:ea typeface="Arial"/>
              <a:cs typeface="Arial"/>
              <a:sym typeface="Arial"/>
            </a:endParaRPr>
          </a:p>
        </p:txBody>
      </p:sp>
      <p:sp>
        <p:nvSpPr>
          <p:cNvPr id="625" name="Google Shape;625;g2d0c9c23082_4_85"/>
          <p:cNvSpPr/>
          <p:nvPr/>
        </p:nvSpPr>
        <p:spPr>
          <a:xfrm>
            <a:off x="264152" y="277385"/>
            <a:ext cx="360094" cy="285770"/>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6" name="Google Shape;626;g2d0c9c23082_4_85"/>
          <p:cNvSpPr txBox="1"/>
          <p:nvPr/>
        </p:nvSpPr>
        <p:spPr>
          <a:xfrm>
            <a:off x="780300" y="664142"/>
            <a:ext cx="10745700" cy="4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accent1"/>
                </a:solidFill>
                <a:latin typeface="Catamaran"/>
                <a:ea typeface="Catamaran"/>
                <a:cs typeface="Catamaran"/>
                <a:sym typeface="Catamaran"/>
              </a:rPr>
              <a:t>Potential Areas of Improvement</a:t>
            </a:r>
            <a:endParaRPr b="1" i="0" sz="3600" u="none" cap="none" strike="noStrike">
              <a:solidFill>
                <a:schemeClr val="accent1"/>
              </a:solidFill>
              <a:latin typeface="Catamaran"/>
              <a:ea typeface="Catamaran"/>
              <a:cs typeface="Catamaran"/>
              <a:sym typeface="Catamar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3921"/>
          </a:schemeClr>
        </a:solidFill>
      </p:bgPr>
    </p:bg>
    <p:spTree>
      <p:nvGrpSpPr>
        <p:cNvPr id="630" name="Shape 630"/>
        <p:cNvGrpSpPr/>
        <p:nvPr/>
      </p:nvGrpSpPr>
      <p:grpSpPr>
        <a:xfrm>
          <a:off x="0" y="0"/>
          <a:ext cx="0" cy="0"/>
          <a:chOff x="0" y="0"/>
          <a:chExt cx="0" cy="0"/>
        </a:xfrm>
      </p:grpSpPr>
      <p:sp>
        <p:nvSpPr>
          <p:cNvPr id="631" name="Google Shape;631;p20"/>
          <p:cNvSpPr txBox="1"/>
          <p:nvPr/>
        </p:nvSpPr>
        <p:spPr>
          <a:xfrm>
            <a:off x="0" y="0"/>
            <a:ext cx="12306300" cy="6997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32" name="Google Shape;632;p20"/>
          <p:cNvPicPr preferRelativeResize="0"/>
          <p:nvPr/>
        </p:nvPicPr>
        <p:blipFill rotWithShape="1">
          <a:blip r:embed="rId3">
            <a:alphaModFix amt="15000"/>
          </a:blip>
          <a:srcRect b="-1" l="0" r="0" t="20071"/>
          <a:stretch/>
        </p:blipFill>
        <p:spPr>
          <a:xfrm>
            <a:off x="-381000" y="-214312"/>
            <a:ext cx="12954000" cy="7286625"/>
          </a:xfrm>
          <a:prstGeom prst="rect">
            <a:avLst/>
          </a:prstGeom>
          <a:noFill/>
          <a:ln>
            <a:noFill/>
          </a:ln>
        </p:spPr>
      </p:pic>
      <p:grpSp>
        <p:nvGrpSpPr>
          <p:cNvPr id="633" name="Google Shape;633;p20"/>
          <p:cNvGrpSpPr/>
          <p:nvPr/>
        </p:nvGrpSpPr>
        <p:grpSpPr>
          <a:xfrm>
            <a:off x="5797074" y="6550320"/>
            <a:ext cx="597852" cy="615360"/>
            <a:chOff x="5797074" y="6550320"/>
            <a:chExt cx="597852" cy="615360"/>
          </a:xfrm>
        </p:grpSpPr>
        <p:sp>
          <p:nvSpPr>
            <p:cNvPr id="634" name="Google Shape;634;p20"/>
            <p:cNvSpPr txBox="1"/>
            <p:nvPr/>
          </p:nvSpPr>
          <p:spPr>
            <a:xfrm rot="5400000">
              <a:off x="5788320" y="6559074"/>
              <a:ext cx="615360" cy="597852"/>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5" name="Google Shape;635;p20"/>
            <p:cNvSpPr/>
            <p:nvPr/>
          </p:nvSpPr>
          <p:spPr>
            <a:xfrm>
              <a:off x="5988050" y="6647010"/>
              <a:ext cx="215900" cy="11430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36" name="Google Shape;636;p20"/>
          <p:cNvSpPr/>
          <p:nvPr/>
        </p:nvSpPr>
        <p:spPr>
          <a:xfrm>
            <a:off x="2377433" y="1552137"/>
            <a:ext cx="9141468" cy="4160126"/>
          </a:xfrm>
          <a:prstGeom prst="roundRect">
            <a:avLst>
              <a:gd fmla="val 8851" name="adj"/>
            </a:avLst>
          </a:prstGeom>
          <a:gradFill>
            <a:gsLst>
              <a:gs pos="0">
                <a:srgbClr val="14362A"/>
              </a:gs>
              <a:gs pos="80000">
                <a:schemeClr val="accent1"/>
              </a:gs>
              <a:gs pos="100000">
                <a:schemeClr val="accent1"/>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7" name="Google Shape;637;p20"/>
          <p:cNvSpPr txBox="1"/>
          <p:nvPr/>
        </p:nvSpPr>
        <p:spPr>
          <a:xfrm>
            <a:off x="5095704" y="2289176"/>
            <a:ext cx="6120000" cy="8199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8" name="Google Shape;638;p20"/>
          <p:cNvSpPr txBox="1"/>
          <p:nvPr/>
        </p:nvSpPr>
        <p:spPr>
          <a:xfrm>
            <a:off x="5095700" y="2105726"/>
            <a:ext cx="5953200" cy="2869500"/>
          </a:xfrm>
          <a:prstGeom prst="rect">
            <a:avLst/>
          </a:prstGeom>
          <a:noFill/>
          <a:ln>
            <a:noFill/>
          </a:ln>
        </p:spPr>
        <p:txBody>
          <a:bodyPr anchorCtr="0" anchor="t" bIns="0" lIns="0" spcFirstLastPara="1" rIns="0" wrap="square" tIns="0">
            <a:noAutofit/>
          </a:bodyPr>
          <a:lstStyle/>
          <a:p>
            <a:pPr indent="-349250" lvl="0" marL="457200" marR="0" rtl="0" algn="l">
              <a:lnSpc>
                <a:spcPct val="100000"/>
              </a:lnSpc>
              <a:spcBef>
                <a:spcPts val="0"/>
              </a:spcBef>
              <a:spcAft>
                <a:spcPts val="0"/>
              </a:spcAft>
              <a:buClr>
                <a:schemeClr val="lt1"/>
              </a:buClr>
              <a:buSzPts val="1900"/>
              <a:buFont typeface="Arial"/>
              <a:buChar char="●"/>
            </a:pPr>
            <a:r>
              <a:rPr b="0" i="0" lang="en-US" sz="1900" u="none" cap="none" strike="noStrike">
                <a:solidFill>
                  <a:schemeClr val="lt1"/>
                </a:solidFill>
                <a:latin typeface="Arial"/>
                <a:ea typeface="Arial"/>
                <a:cs typeface="Arial"/>
                <a:sym typeface="Arial"/>
              </a:rPr>
              <a:t>We will consider to improve our accurate rate at the summer</a:t>
            </a:r>
            <a:endParaRPr b="0" i="0" sz="19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a:p>
            <a:pPr indent="-349250" lvl="0" marL="457200" marR="0" rtl="0" algn="l">
              <a:lnSpc>
                <a:spcPct val="100000"/>
              </a:lnSpc>
              <a:spcBef>
                <a:spcPts val="0"/>
              </a:spcBef>
              <a:spcAft>
                <a:spcPts val="0"/>
              </a:spcAft>
              <a:buClr>
                <a:schemeClr val="lt1"/>
              </a:buClr>
              <a:buSzPts val="1900"/>
              <a:buFont typeface="Arial"/>
              <a:buChar char="●"/>
            </a:pPr>
            <a:r>
              <a:rPr b="0" i="0" lang="en-US" sz="1900" u="none" cap="none" strike="noStrike">
                <a:solidFill>
                  <a:schemeClr val="lt1"/>
                </a:solidFill>
                <a:latin typeface="Arial"/>
                <a:ea typeface="Arial"/>
                <a:cs typeface="Arial"/>
                <a:sym typeface="Arial"/>
              </a:rPr>
              <a:t>Edit base on peer &amp; professor‘s recommendation</a:t>
            </a:r>
            <a:endParaRPr b="0" i="0" sz="19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639" name="Google Shape;639;p20"/>
          <p:cNvSpPr/>
          <p:nvPr/>
        </p:nvSpPr>
        <p:spPr>
          <a:xfrm>
            <a:off x="264152" y="277385"/>
            <a:ext cx="360000" cy="285696"/>
          </a:xfrm>
          <a:custGeom>
            <a:rect b="b" l="l" r="r" t="t"/>
            <a:pathLst>
              <a:path extrusionOk="0" h="342240" w="43125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40" name="Google Shape;640;p20"/>
          <p:cNvPicPr preferRelativeResize="0"/>
          <p:nvPr/>
        </p:nvPicPr>
        <p:blipFill rotWithShape="1">
          <a:blip r:embed="rId4">
            <a:alphaModFix/>
          </a:blip>
          <a:srcRect b="0" l="0" r="0" t="0"/>
          <a:stretch/>
        </p:blipFill>
        <p:spPr>
          <a:xfrm>
            <a:off x="522125" y="2064099"/>
            <a:ext cx="4295700" cy="2869500"/>
          </a:xfrm>
          <a:prstGeom prst="roundRect">
            <a:avLst>
              <a:gd fmla="val 16667" name="adj"/>
            </a:avLst>
          </a:prstGeom>
          <a:noFill/>
          <a:ln>
            <a:noFill/>
          </a:ln>
        </p:spPr>
      </p:pic>
      <p:sp>
        <p:nvSpPr>
          <p:cNvPr id="641" name="Google Shape;641;p20"/>
          <p:cNvSpPr txBox="1"/>
          <p:nvPr/>
        </p:nvSpPr>
        <p:spPr>
          <a:xfrm>
            <a:off x="780300" y="664156"/>
            <a:ext cx="10745700" cy="73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accent1"/>
                </a:solidFill>
                <a:latin typeface="Catamaran"/>
                <a:ea typeface="Catamaran"/>
                <a:cs typeface="Catamaran"/>
                <a:sym typeface="Catamaran"/>
              </a:rPr>
              <a:t>Next Step：Future</a:t>
            </a:r>
            <a:endParaRPr b="1" i="0" sz="3600" u="none" cap="none" strike="noStrike">
              <a:solidFill>
                <a:schemeClr val="accent1"/>
              </a:solidFill>
              <a:latin typeface="Catamaran"/>
              <a:ea typeface="Catamaran"/>
              <a:cs typeface="Catamaran"/>
              <a:sym typeface="Catamar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g2d0c9c23082_2_79"/>
          <p:cNvSpPr txBox="1"/>
          <p:nvPr/>
        </p:nvSpPr>
        <p:spPr>
          <a:xfrm>
            <a:off x="897600" y="762000"/>
            <a:ext cx="10396800" cy="56697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1200"/>
              </a:spcBef>
              <a:spcAft>
                <a:spcPts val="0"/>
              </a:spcAft>
              <a:buClr>
                <a:schemeClr val="dk1"/>
              </a:buClr>
              <a:buSzPts val="1100"/>
              <a:buFont typeface="Arial"/>
              <a:buNone/>
            </a:pPr>
            <a:r>
              <a:rPr b="1" i="0" lang="en-US" sz="1800" u="none" cap="none" strike="noStrike">
                <a:solidFill>
                  <a:srgbClr val="0D0D0D"/>
                </a:solidFill>
                <a:highlight>
                  <a:srgbClr val="FFFFFF"/>
                </a:highlight>
                <a:latin typeface="Roboto"/>
                <a:ea typeface="Roboto"/>
                <a:cs typeface="Roboto"/>
                <a:sym typeface="Roboto"/>
              </a:rPr>
              <a:t>Improvement Strategies</a:t>
            </a:r>
            <a:endParaRPr b="1" i="0" sz="1800" u="none" cap="none" strike="noStrike">
              <a:solidFill>
                <a:srgbClr val="0D0D0D"/>
              </a:solidFill>
              <a:highlight>
                <a:srgbClr val="FFFFFF"/>
              </a:highlight>
              <a:latin typeface="Roboto"/>
              <a:ea typeface="Roboto"/>
              <a:cs typeface="Roboto"/>
              <a:sym typeface="Roboto"/>
            </a:endParaRPr>
          </a:p>
          <a:p>
            <a:pPr indent="-355600" lvl="0" marL="457200" marR="0" rtl="0" algn="l">
              <a:lnSpc>
                <a:spcPct val="115000"/>
              </a:lnSpc>
              <a:spcBef>
                <a:spcPts val="200"/>
              </a:spcBef>
              <a:spcAft>
                <a:spcPts val="0"/>
              </a:spcAft>
              <a:buClr>
                <a:srgbClr val="0D0D0D"/>
              </a:buClr>
              <a:buSzPts val="2000"/>
              <a:buFont typeface="Roboto"/>
              <a:buChar char="●"/>
            </a:pPr>
            <a:r>
              <a:rPr b="0" i="0" lang="en-US" sz="2000" u="none" cap="none" strike="noStrike">
                <a:solidFill>
                  <a:srgbClr val="0D0D0D"/>
                </a:solidFill>
                <a:highlight>
                  <a:srgbClr val="FFFFFF"/>
                </a:highlight>
                <a:latin typeface="Roboto"/>
                <a:ea typeface="Roboto"/>
                <a:cs typeface="Roboto"/>
                <a:sym typeface="Roboto"/>
              </a:rPr>
              <a:t>Feature Engineering: Potential for creating more meaningful features from the existing data, or obtaining additional data that could help improve model accuracy.</a:t>
            </a:r>
            <a:endParaRPr b="0" i="0" sz="2000" u="none" cap="none" strike="noStrike">
              <a:solidFill>
                <a:srgbClr val="0D0D0D"/>
              </a:solidFill>
              <a:highlight>
                <a:srgbClr val="FFFFFF"/>
              </a:highlight>
              <a:latin typeface="Roboto"/>
              <a:ea typeface="Roboto"/>
              <a:cs typeface="Roboto"/>
              <a:sym typeface="Roboto"/>
            </a:endParaRPr>
          </a:p>
          <a:p>
            <a:pPr indent="-355600" lvl="0" marL="457200" marR="0" rtl="0" algn="l">
              <a:lnSpc>
                <a:spcPct val="115000"/>
              </a:lnSpc>
              <a:spcBef>
                <a:spcPts val="0"/>
              </a:spcBef>
              <a:spcAft>
                <a:spcPts val="0"/>
              </a:spcAft>
              <a:buClr>
                <a:srgbClr val="0D0D0D"/>
              </a:buClr>
              <a:buSzPts val="2000"/>
              <a:buFont typeface="Roboto"/>
              <a:buChar char="●"/>
            </a:pPr>
            <a:r>
              <a:rPr b="0" i="0" lang="en-US" sz="2000" u="none" cap="none" strike="noStrike">
                <a:solidFill>
                  <a:srgbClr val="0D0D0D"/>
                </a:solidFill>
                <a:highlight>
                  <a:srgbClr val="FFFFFF"/>
                </a:highlight>
                <a:latin typeface="Roboto"/>
                <a:ea typeface="Roboto"/>
                <a:cs typeface="Roboto"/>
                <a:sym typeface="Roboto"/>
              </a:rPr>
              <a:t>Advanced Modeling Techniques: Consider whether more sophisticated models or ensemble methods might capture the complexity of the data better.</a:t>
            </a:r>
            <a:endParaRPr b="0" i="0" sz="2000" u="none" cap="none" strike="noStrike">
              <a:solidFill>
                <a:srgbClr val="0D0D0D"/>
              </a:solidFill>
              <a:highlight>
                <a:srgbClr val="FFFFFF"/>
              </a:highlight>
              <a:latin typeface="Roboto"/>
              <a:ea typeface="Roboto"/>
              <a:cs typeface="Roboto"/>
              <a:sym typeface="Roboto"/>
            </a:endParaRPr>
          </a:p>
          <a:p>
            <a:pPr indent="-355600" lvl="0" marL="457200" marR="0" rtl="0" algn="l">
              <a:lnSpc>
                <a:spcPct val="115000"/>
              </a:lnSpc>
              <a:spcBef>
                <a:spcPts val="0"/>
              </a:spcBef>
              <a:spcAft>
                <a:spcPts val="0"/>
              </a:spcAft>
              <a:buClr>
                <a:srgbClr val="0D0D0D"/>
              </a:buClr>
              <a:buSzPts val="2000"/>
              <a:buFont typeface="Roboto"/>
              <a:buChar char="●"/>
            </a:pPr>
            <a:r>
              <a:rPr b="0" i="0" lang="en-US" sz="2000" u="none" cap="none" strike="noStrike">
                <a:solidFill>
                  <a:srgbClr val="0D0D0D"/>
                </a:solidFill>
                <a:highlight>
                  <a:srgbClr val="FFFFFF"/>
                </a:highlight>
                <a:latin typeface="Roboto"/>
                <a:ea typeface="Roboto"/>
                <a:cs typeface="Roboto"/>
                <a:sym typeface="Roboto"/>
              </a:rPr>
              <a:t>Increased Data Collection: Suggest ways to collect more comprehensive or higher-quality data that could enhance the model’s learning capability.</a:t>
            </a:r>
            <a:endParaRPr b="0" i="0" sz="2000" u="none" cap="none" strike="noStrike">
              <a:solidFill>
                <a:srgbClr val="0D0D0D"/>
              </a:solidFill>
              <a:highlight>
                <a:srgbClr val="FFFFFF"/>
              </a:highlight>
              <a:latin typeface="Roboto"/>
              <a:ea typeface="Roboto"/>
              <a:cs typeface="Roboto"/>
              <a:sym typeface="Roboto"/>
            </a:endParaRPr>
          </a:p>
          <a:p>
            <a:pPr indent="-355600" lvl="0" marL="457200" marR="0" rtl="0" algn="l">
              <a:lnSpc>
                <a:spcPct val="115000"/>
              </a:lnSpc>
              <a:spcBef>
                <a:spcPts val="0"/>
              </a:spcBef>
              <a:spcAft>
                <a:spcPts val="0"/>
              </a:spcAft>
              <a:buClr>
                <a:srgbClr val="0D0D0D"/>
              </a:buClr>
              <a:buSzPts val="2000"/>
              <a:buFont typeface="Roboto"/>
              <a:buChar char="●"/>
            </a:pPr>
            <a:r>
              <a:rPr b="0" i="0" lang="en-US" sz="2000" u="none" cap="none" strike="noStrike">
                <a:solidFill>
                  <a:srgbClr val="0D0D0D"/>
                </a:solidFill>
                <a:highlight>
                  <a:srgbClr val="FFFFFF"/>
                </a:highlight>
                <a:latin typeface="Roboto"/>
                <a:ea typeface="Roboto"/>
                <a:cs typeface="Roboto"/>
                <a:sym typeface="Roboto"/>
              </a:rPr>
              <a:t>Experimentation with Non-linear Models: Since traditional models have limitations, experimenting with non-linear models or neural networks might yield better results.</a:t>
            </a:r>
            <a:endParaRPr b="0" i="0" sz="2000" u="none" cap="none" strike="noStrike">
              <a:solidFill>
                <a:srgbClr val="0D0D0D"/>
              </a:solidFill>
              <a:highlight>
                <a:srgbClr val="FFFFFF"/>
              </a:highlight>
              <a:latin typeface="Roboto"/>
              <a:ea typeface="Roboto"/>
              <a:cs typeface="Roboto"/>
              <a:sym typeface="Roboto"/>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0" name="Shape 650"/>
        <p:cNvGrpSpPr/>
        <p:nvPr/>
      </p:nvGrpSpPr>
      <p:grpSpPr>
        <a:xfrm>
          <a:off x="0" y="0"/>
          <a:ext cx="0" cy="0"/>
          <a:chOff x="0" y="0"/>
          <a:chExt cx="0" cy="0"/>
        </a:xfrm>
      </p:grpSpPr>
      <p:sp>
        <p:nvSpPr>
          <p:cNvPr id="651" name="Google Shape;651;g2c7d3caa74f_0_25"/>
          <p:cNvSpPr txBox="1"/>
          <p:nvPr/>
        </p:nvSpPr>
        <p:spPr>
          <a:xfrm>
            <a:off x="501100" y="558375"/>
            <a:ext cx="8118000" cy="95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a:p>
            <a:pPr indent="-12700" lvl="0" marL="355600" marR="0" rtl="0" algn="l">
              <a:lnSpc>
                <a:spcPct val="115000"/>
              </a:lnSpc>
              <a:spcBef>
                <a:spcPts val="1200"/>
              </a:spcBef>
              <a:spcAft>
                <a:spcPts val="0"/>
              </a:spcAft>
              <a:buClr>
                <a:schemeClr val="dk1"/>
              </a:buClr>
              <a:buSzPts val="1100"/>
              <a:buFont typeface="Arial"/>
              <a:buNone/>
            </a:pPr>
            <a:r>
              <a:rPr b="0" i="0" lang="en-US" sz="1400" u="none" cap="none" strike="noStrike">
                <a:solidFill>
                  <a:schemeClr val="dk1"/>
                </a:solidFill>
                <a:latin typeface="Catamaran"/>
                <a:ea typeface="Catamaran"/>
                <a:cs typeface="Catamaran"/>
                <a:sym typeface="Catamaran"/>
              </a:rPr>
              <a:t>Aydin, Rebecca. “How 3 Guys Turned Renting Air Mattresses in Their Apartment into a $31 Billion Company, Airbnb.” </a:t>
            </a:r>
            <a:r>
              <a:rPr b="0" i="1" lang="en-US" sz="1400" u="none" cap="none" strike="noStrike">
                <a:solidFill>
                  <a:schemeClr val="dk1"/>
                </a:solidFill>
                <a:latin typeface="Catamaran"/>
                <a:ea typeface="Catamaran"/>
                <a:cs typeface="Catamaran"/>
                <a:sym typeface="Catamaran"/>
              </a:rPr>
              <a:t>Business Insider</a:t>
            </a:r>
            <a:r>
              <a:rPr b="0" i="0" lang="en-US" sz="1400" u="none" cap="none" strike="noStrike">
                <a:solidFill>
                  <a:schemeClr val="dk1"/>
                </a:solidFill>
                <a:latin typeface="Catamaran"/>
                <a:ea typeface="Catamaran"/>
                <a:cs typeface="Catamaran"/>
                <a:sym typeface="Catamaran"/>
              </a:rPr>
              <a:t>, www.businessinsider.com/how-airbnb-was-founded-a-visual-history-2016-2. Accessed 30 Mar. 2024. </a:t>
            </a:r>
            <a:endParaRPr b="0" i="0" sz="1400" u="none" cap="none" strike="noStrike">
              <a:solidFill>
                <a:schemeClr val="dk1"/>
              </a:solidFill>
              <a:latin typeface="Catamaran"/>
              <a:ea typeface="Catamaran"/>
              <a:cs typeface="Catamaran"/>
              <a:sym typeface="Catamaran"/>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Catamaran"/>
              <a:ea typeface="Catamaran"/>
              <a:cs typeface="Catamaran"/>
              <a:sym typeface="Catamaran"/>
            </a:endParaRPr>
          </a:p>
        </p:txBody>
      </p:sp>
      <p:sp>
        <p:nvSpPr>
          <p:cNvPr id="652" name="Google Shape;652;g2c7d3caa74f_0_25"/>
          <p:cNvSpPr/>
          <p:nvPr/>
        </p:nvSpPr>
        <p:spPr>
          <a:xfrm>
            <a:off x="10502900" y="1732930"/>
            <a:ext cx="782700" cy="530100"/>
          </a:xfrm>
          <a:prstGeom prst="roundRect">
            <a:avLst>
              <a:gd fmla="val 8000" name="adj"/>
            </a:avLst>
          </a:prstGeom>
          <a:solidFill>
            <a:schemeClr val="accent1"/>
          </a:solidFill>
          <a:ln>
            <a:noFill/>
          </a:ln>
          <a:effectLst>
            <a:outerShdw blurRad="254000" rotWithShape="0" algn="tl" dir="2700000" dist="127000">
              <a:schemeClr val="accent1">
                <a:alpha val="40000"/>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3" name="Google Shape;653;g2c7d3caa74f_0_25"/>
          <p:cNvSpPr txBox="1"/>
          <p:nvPr/>
        </p:nvSpPr>
        <p:spPr>
          <a:xfrm>
            <a:off x="780300" y="664142"/>
            <a:ext cx="10745700" cy="4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accent1"/>
                </a:solidFill>
                <a:latin typeface="Catamaran"/>
                <a:ea typeface="Catamaran"/>
                <a:cs typeface="Catamaran"/>
                <a:sym typeface="Catamaran"/>
              </a:rPr>
              <a:t>Works Cited</a:t>
            </a:r>
            <a:endParaRPr b="1" i="0" sz="3600" u="none" cap="none" strike="noStrike">
              <a:solidFill>
                <a:schemeClr val="accent1"/>
              </a:solidFill>
              <a:latin typeface="Catamaran"/>
              <a:ea typeface="Catamaran"/>
              <a:cs typeface="Catamaran"/>
              <a:sym typeface="Catamar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A66AC"/>
      </a:dk2>
      <a:lt2>
        <a:srgbClr val="E0EBF6"/>
      </a:lt2>
      <a:accent1>
        <a:srgbClr val="1B4939"/>
      </a:accent1>
      <a:accent2>
        <a:srgbClr val="346253"/>
      </a:accent2>
      <a:accent3>
        <a:srgbClr val="5693A8"/>
      </a:accent3>
      <a:accent4>
        <a:srgbClr val="4CC19F"/>
      </a:accent4>
      <a:accent5>
        <a:srgbClr val="9EEEF7"/>
      </a:accent5>
      <a:accent6>
        <a:srgbClr val="BDE9E8"/>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